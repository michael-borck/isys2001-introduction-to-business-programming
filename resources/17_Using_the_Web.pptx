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76" r:id="rId5"/>
    <p:sldId id="277" r:id="rId6"/>
    <p:sldId id="278" r:id="rId7"/>
    <p:sldId id="280" r:id="rId8"/>
    <p:sldId id="279" r:id="rId9"/>
    <p:sldId id="281" r:id="rId10"/>
    <p:sldId id="269" r:id="rId11"/>
    <p:sldId id="268" r:id="rId12"/>
    <p:sldId id="270" r:id="rId13"/>
    <p:sldId id="271" r:id="rId14"/>
    <p:sldId id="272" r:id="rId15"/>
    <p:sldId id="273" r:id="rId16"/>
    <p:sldId id="274" r:id="rId17"/>
    <p:sldId id="275" r:id="rId18"/>
    <p:sldId id="283" r:id="rId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16"/>
    <p:restoredTop sz="81549"/>
  </p:normalViewPr>
  <p:slideViewPr>
    <p:cSldViewPr snapToGrid="0" snapToObjects="1">
      <p:cViewPr varScale="1">
        <p:scale>
          <a:sx n="99" d="100"/>
          <a:sy n="99" d="100"/>
        </p:scale>
        <p:origin x="2520" y="184"/>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python.org/dev/library/urllib.html"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docs.python.org/3/library/urllib.request.html#legacy-interface" TargetMode="External"/><Relationship Id="rId4" Type="http://schemas.openxmlformats.org/officeDocument/2006/relationships/hyperlink" Target="http://www.google.com/"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equests.readthedocs.io/en/master/"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ypi.org/project/wge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Python’s </a:t>
            </a:r>
            <a:r>
              <a:rPr lang="en-AU" sz="1200" b="0" i="0" u="sng" dirty="0">
                <a:effectLst/>
                <a:latin typeface="+mj-lt"/>
                <a:ea typeface="+mj-ea"/>
                <a:cs typeface="+mj-cs"/>
                <a:sym typeface="Arial"/>
                <a:hlinkClick r:id="rId3"/>
              </a:rPr>
              <a:t>urllib library</a:t>
            </a:r>
            <a:r>
              <a:rPr lang="en-AU" sz="1200" b="0" i="0" dirty="0">
                <a:effectLst/>
                <a:latin typeface="+mj-lt"/>
                <a:ea typeface="+mj-ea"/>
                <a:cs typeface="+mj-cs"/>
                <a:sym typeface="Arial"/>
              </a:rPr>
              <a:t> offers a range of functions designed to handle common URL-related tasks. This includes parsing, requesting, and — you guessed it — downloading files. Let’s consider a basic example of downloading the </a:t>
            </a:r>
            <a:r>
              <a:rPr lang="en-AU" dirty="0" err="1"/>
              <a:t>robots.txt</a:t>
            </a:r>
            <a:r>
              <a:rPr lang="en-AU" sz="1200" b="0" i="0" dirty="0">
                <a:effectLst/>
                <a:latin typeface="+mj-lt"/>
                <a:ea typeface="+mj-ea"/>
                <a:cs typeface="+mj-cs"/>
                <a:sym typeface="Arial"/>
              </a:rPr>
              <a:t> file from </a:t>
            </a:r>
            <a:r>
              <a:rPr lang="en-AU" sz="1200" b="0" i="0" u="sng" dirty="0">
                <a:effectLst/>
                <a:latin typeface="+mj-lt"/>
                <a:ea typeface="+mj-ea"/>
                <a:cs typeface="+mj-cs"/>
                <a:sym typeface="Arial"/>
                <a:hlinkClick r:id="rId4"/>
              </a:rPr>
              <a:t>www.google.com</a:t>
            </a:r>
            <a:endParaRPr lang="en-AU" sz="1200" b="0" i="0" u="sng" dirty="0">
              <a:effectLst/>
              <a:latin typeface="+mj-lt"/>
              <a:ea typeface="+mj-ea"/>
              <a:cs typeface="+mj-cs"/>
              <a:sym typeface="Arial"/>
            </a:endParaRPr>
          </a:p>
          <a:p>
            <a:endParaRPr lang="en-AU" sz="1200" b="0" i="0" u="sng" dirty="0">
              <a:effectLst/>
              <a:latin typeface="+mj-lt"/>
              <a:ea typeface="+mj-ea"/>
              <a:cs typeface="+mj-cs"/>
              <a:sym typeface="Arial"/>
            </a:endParaRPr>
          </a:p>
          <a:p>
            <a:r>
              <a:rPr lang="en-AU" sz="1200" b="0" i="1" dirty="0">
                <a:effectLst/>
                <a:latin typeface="+mj-lt"/>
                <a:ea typeface="+mj-ea"/>
                <a:cs typeface="+mj-cs"/>
                <a:sym typeface="Arial"/>
              </a:rPr>
              <a:t>Note: </a:t>
            </a:r>
            <a:r>
              <a:rPr lang="en-AU" sz="1200" b="0" i="1" dirty="0" err="1">
                <a:effectLst/>
                <a:latin typeface="+mj-lt"/>
                <a:ea typeface="+mj-ea"/>
                <a:cs typeface="+mj-cs"/>
                <a:sym typeface="Arial"/>
              </a:rPr>
              <a:t>urllib’s</a:t>
            </a:r>
            <a:r>
              <a:rPr lang="en-AU" sz="1200" b="0" i="1" dirty="0">
                <a:effectLst/>
                <a:latin typeface="+mj-lt"/>
                <a:ea typeface="+mj-ea"/>
                <a:cs typeface="+mj-cs"/>
                <a:sym typeface="Arial"/>
              </a:rPr>
              <a:t> </a:t>
            </a:r>
            <a:r>
              <a:rPr lang="en-AU" dirty="0" err="1"/>
              <a:t>urlretrieve</a:t>
            </a:r>
            <a:r>
              <a:rPr lang="en-AU" i="1" dirty="0">
                <a:effectLst/>
              </a:rPr>
              <a:t> </a:t>
            </a:r>
            <a:r>
              <a:rPr lang="en-AU" sz="1200" b="0" i="1" dirty="0">
                <a:effectLst/>
                <a:latin typeface="+mj-lt"/>
                <a:ea typeface="+mj-ea"/>
                <a:cs typeface="+mj-cs"/>
                <a:sym typeface="Arial"/>
              </a:rPr>
              <a:t>is considered “legacy” from Python 2 and, in the </a:t>
            </a:r>
            <a:r>
              <a:rPr lang="en-AU" sz="1200" b="0" i="1" u="sng" dirty="0">
                <a:effectLst/>
                <a:latin typeface="+mj-lt"/>
                <a:ea typeface="+mj-ea"/>
                <a:cs typeface="+mj-cs"/>
                <a:sym typeface="Arial"/>
                <a:hlinkClick r:id="rId5"/>
              </a:rPr>
              <a:t>words of the Python documentation</a:t>
            </a:r>
            <a:r>
              <a:rPr lang="en-AU" sz="1200" b="0" i="1" dirty="0">
                <a:effectLst/>
                <a:latin typeface="+mj-lt"/>
                <a:ea typeface="+mj-ea"/>
                <a:cs typeface="+mj-cs"/>
                <a:sym typeface="Arial"/>
              </a:rPr>
              <a:t>, “might become deprecated at some point in the future.” In my opinion, there’s a big divide between “might” become deprecated and “will” become deprecated. In other words, this is probably a safe approach for the foreseeable future.</a:t>
            </a:r>
            <a:endParaRPr lang="en-AU" dirty="0"/>
          </a:p>
        </p:txBody>
      </p:sp>
    </p:spTree>
    <p:extLst>
      <p:ext uri="{BB962C8B-B14F-4D97-AF65-F5344CB8AC3E}">
        <p14:creationId xmlns:p14="http://schemas.microsoft.com/office/powerpoint/2010/main" val="459743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The </a:t>
            </a:r>
            <a:r>
              <a:rPr lang="en-AU" sz="1200" b="0" i="0" u="sng" dirty="0">
                <a:effectLst/>
                <a:latin typeface="+mj-lt"/>
                <a:ea typeface="+mj-ea"/>
                <a:cs typeface="+mj-cs"/>
                <a:sym typeface="Arial"/>
                <a:hlinkClick r:id="rId3"/>
              </a:rPr>
              <a:t>Python Requests module</a:t>
            </a:r>
            <a:r>
              <a:rPr lang="en-AU" sz="1200" b="0" i="0" dirty="0">
                <a:effectLst/>
                <a:latin typeface="+mj-lt"/>
                <a:ea typeface="+mj-ea"/>
                <a:cs typeface="+mj-cs"/>
                <a:sym typeface="Arial"/>
              </a:rPr>
              <a:t> is a super</a:t>
            </a:r>
            <a:r>
              <a:rPr lang="en-AU" sz="1200" b="0" i="1" dirty="0">
                <a:effectLst/>
                <a:latin typeface="+mj-lt"/>
                <a:ea typeface="+mj-ea"/>
                <a:cs typeface="+mj-cs"/>
                <a:sym typeface="Arial"/>
              </a:rPr>
              <a:t>-</a:t>
            </a:r>
            <a:r>
              <a:rPr lang="en-AU" sz="1200" b="0" i="0" dirty="0">
                <a:effectLst/>
                <a:latin typeface="+mj-lt"/>
                <a:ea typeface="+mj-ea"/>
                <a:cs typeface="+mj-cs"/>
                <a:sym typeface="Arial"/>
              </a:rPr>
              <a:t>friendly library billed as “HTTP for humans.” Offering </a:t>
            </a:r>
            <a:r>
              <a:rPr lang="en-AU" sz="1200" b="0" i="1" dirty="0">
                <a:effectLst/>
                <a:latin typeface="+mj-lt"/>
                <a:ea typeface="+mj-ea"/>
                <a:cs typeface="+mj-cs"/>
                <a:sym typeface="Arial"/>
              </a:rPr>
              <a:t>very</a:t>
            </a:r>
            <a:r>
              <a:rPr lang="en-AU" sz="1200" b="0" i="0" dirty="0">
                <a:effectLst/>
                <a:latin typeface="+mj-lt"/>
                <a:ea typeface="+mj-ea"/>
                <a:cs typeface="+mj-cs"/>
                <a:sym typeface="Arial"/>
              </a:rPr>
              <a:t> simplified APIs, Requests lives up to its motto for even high-throughput HTTP-related demands. However, it doesn’t feature a one-liner for downloading files. Instead, one must manually save streamed file data as follows.</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There are some important aspects of this approach to keep in mind — most notably the binary format of data transfer. When a web browser loads a page (or file), it encodes it using the specified encoding from the host.</a:t>
            </a:r>
          </a:p>
          <a:p>
            <a:r>
              <a:rPr lang="en-AU" sz="1200" b="0" i="0" dirty="0">
                <a:effectLst/>
                <a:latin typeface="+mj-lt"/>
                <a:ea typeface="+mj-ea"/>
                <a:cs typeface="+mj-cs"/>
                <a:sym typeface="Arial"/>
              </a:rPr>
              <a:t>Common encodings include UTF-8 and Latin-1. This is a directive aimed at web browsers that are receiving </a:t>
            </a:r>
            <a:r>
              <a:rPr lang="en-AU" sz="1200" b="0" i="1" dirty="0">
                <a:effectLst/>
                <a:latin typeface="+mj-lt"/>
                <a:ea typeface="+mj-ea"/>
                <a:cs typeface="+mj-cs"/>
                <a:sym typeface="Arial"/>
              </a:rPr>
              <a:t>and</a:t>
            </a:r>
            <a:r>
              <a:rPr lang="en-AU" sz="1200" b="0" i="0" dirty="0">
                <a:effectLst/>
                <a:latin typeface="+mj-lt"/>
                <a:ea typeface="+mj-ea"/>
                <a:cs typeface="+mj-cs"/>
                <a:sym typeface="Arial"/>
              </a:rPr>
              <a:t> displaying data that isn’t immediately applicable to downloading files.</a:t>
            </a:r>
          </a:p>
          <a:p>
            <a:endParaRPr lang="en-AU" sz="1200" b="0" i="1" dirty="0">
              <a:effectLst/>
              <a:latin typeface="+mj-lt"/>
              <a:ea typeface="+mj-ea"/>
              <a:cs typeface="+mj-cs"/>
              <a:sym typeface="Arial"/>
            </a:endParaRPr>
          </a:p>
          <a:p>
            <a:r>
              <a:rPr lang="en-AU" sz="1200" b="0" i="1" dirty="0">
                <a:effectLst/>
                <a:latin typeface="+mj-lt"/>
                <a:ea typeface="+mj-ea"/>
                <a:cs typeface="+mj-cs"/>
                <a:sym typeface="Arial"/>
              </a:rPr>
              <a:t>Note: Downloaded files may require encoding in order to display properly.  But focus on csv/txt files.</a:t>
            </a:r>
            <a:endParaRPr lang="en-AU" sz="1200" b="0" i="0" dirty="0">
              <a:effectLst/>
              <a:latin typeface="+mj-lt"/>
              <a:ea typeface="+mj-ea"/>
              <a:cs typeface="+mj-cs"/>
              <a:sym typeface="Arial"/>
            </a:endParaRPr>
          </a:p>
          <a:p>
            <a:endParaRPr lang="en-AU" dirty="0"/>
          </a:p>
        </p:txBody>
      </p:sp>
    </p:spTree>
    <p:extLst>
      <p:ext uri="{BB962C8B-B14F-4D97-AF65-F5344CB8AC3E}">
        <p14:creationId xmlns:p14="http://schemas.microsoft.com/office/powerpoint/2010/main" val="2962985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The </a:t>
            </a:r>
            <a:r>
              <a:rPr lang="en-AU" sz="1200" b="0" i="0" u="sng" dirty="0">
                <a:effectLst/>
                <a:latin typeface="+mj-lt"/>
                <a:ea typeface="+mj-ea"/>
                <a:cs typeface="+mj-cs"/>
                <a:sym typeface="Arial"/>
                <a:hlinkClick r:id="rId3"/>
              </a:rPr>
              <a:t>wget Python library</a:t>
            </a:r>
            <a:r>
              <a:rPr lang="en-AU" sz="1200" b="0" i="0" dirty="0">
                <a:effectLst/>
                <a:latin typeface="+mj-lt"/>
                <a:ea typeface="+mj-ea"/>
                <a:cs typeface="+mj-cs"/>
                <a:sym typeface="Arial"/>
              </a:rPr>
              <a:t> offers a method similar to </a:t>
            </a:r>
            <a:r>
              <a:rPr lang="en-AU" sz="1200" b="0" i="0" dirty="0" err="1">
                <a:effectLst/>
                <a:latin typeface="+mj-lt"/>
                <a:ea typeface="+mj-ea"/>
                <a:cs typeface="+mj-cs"/>
                <a:sym typeface="Arial"/>
              </a:rPr>
              <a:t>urllib</a:t>
            </a:r>
            <a:r>
              <a:rPr lang="en-AU" sz="1200" b="0" i="0" dirty="0">
                <a:effectLst/>
                <a:latin typeface="+mj-lt"/>
                <a:ea typeface="+mj-ea"/>
                <a:cs typeface="+mj-cs"/>
                <a:sym typeface="Arial"/>
              </a:rPr>
              <a:t> and attracts a lot of attention due to its name being identical to the Linux </a:t>
            </a:r>
            <a:r>
              <a:rPr lang="en-AU" sz="1200" b="0" i="0" dirty="0" err="1">
                <a:effectLst/>
                <a:latin typeface="+mj-lt"/>
                <a:ea typeface="+mj-ea"/>
                <a:cs typeface="+mj-cs"/>
                <a:sym typeface="Arial"/>
              </a:rPr>
              <a:t>wget</a:t>
            </a:r>
            <a:r>
              <a:rPr lang="en-AU" sz="1200" b="0" i="0" dirty="0">
                <a:effectLst/>
                <a:latin typeface="+mj-lt"/>
                <a:ea typeface="+mj-ea"/>
                <a:cs typeface="+mj-cs"/>
                <a:sym typeface="Arial"/>
              </a:rPr>
              <a:t> command. This module was last updated in 2015.</a:t>
            </a:r>
          </a:p>
          <a:p>
            <a:br>
              <a:rPr lang="en-AU" dirty="0">
                <a:effectLst/>
              </a:rPr>
            </a:br>
            <a:endParaRPr lang="en-AU" dirty="0">
              <a:effectLst/>
            </a:endParaRPr>
          </a:p>
          <a:p>
            <a:r>
              <a:rPr lang="en-AU" sz="1200" b="0" i="1" dirty="0">
                <a:effectLst/>
                <a:latin typeface="+mj-lt"/>
                <a:ea typeface="+mj-ea"/>
                <a:cs typeface="+mj-cs"/>
                <a:sym typeface="Arial"/>
              </a:rPr>
              <a:t>Note: The </a:t>
            </a:r>
            <a:r>
              <a:rPr lang="en-AU" sz="1200" b="0" i="1" dirty="0" err="1">
                <a:effectLst/>
                <a:latin typeface="+mj-lt"/>
                <a:ea typeface="+mj-ea"/>
                <a:cs typeface="+mj-cs"/>
                <a:sym typeface="Arial"/>
              </a:rPr>
              <a:t>wget.download</a:t>
            </a:r>
            <a:r>
              <a:rPr lang="en-AU" sz="1200" b="0" i="1" dirty="0">
                <a:effectLst/>
                <a:latin typeface="+mj-lt"/>
                <a:ea typeface="+mj-ea"/>
                <a:cs typeface="+mj-cs"/>
                <a:sym typeface="Arial"/>
              </a:rPr>
              <a:t> function uses a combination of </a:t>
            </a:r>
            <a:r>
              <a:rPr lang="en-AU" sz="1200" b="0" i="1" dirty="0" err="1">
                <a:effectLst/>
                <a:latin typeface="+mj-lt"/>
                <a:ea typeface="+mj-ea"/>
                <a:cs typeface="+mj-cs"/>
                <a:sym typeface="Arial"/>
              </a:rPr>
              <a:t>urllib</a:t>
            </a:r>
            <a:r>
              <a:rPr lang="en-AU" sz="1200" b="0" i="1" dirty="0">
                <a:effectLst/>
                <a:latin typeface="+mj-lt"/>
                <a:ea typeface="+mj-ea"/>
                <a:cs typeface="+mj-cs"/>
                <a:sym typeface="Arial"/>
              </a:rPr>
              <a:t>, </a:t>
            </a:r>
            <a:r>
              <a:rPr lang="en-AU" sz="1200" b="0" i="1" dirty="0" err="1">
                <a:effectLst/>
                <a:latin typeface="+mj-lt"/>
                <a:ea typeface="+mj-ea"/>
                <a:cs typeface="+mj-cs"/>
                <a:sym typeface="Arial"/>
              </a:rPr>
              <a:t>tempfile</a:t>
            </a:r>
            <a:r>
              <a:rPr lang="en-AU" sz="1200" b="0" i="1" dirty="0">
                <a:effectLst/>
                <a:latin typeface="+mj-lt"/>
                <a:ea typeface="+mj-ea"/>
                <a:cs typeface="+mj-cs"/>
                <a:sym typeface="Arial"/>
              </a:rPr>
              <a:t>, and </a:t>
            </a:r>
            <a:r>
              <a:rPr lang="en-AU" sz="1200" b="0" i="1" dirty="0" err="1">
                <a:effectLst/>
                <a:latin typeface="+mj-lt"/>
                <a:ea typeface="+mj-ea"/>
                <a:cs typeface="+mj-cs"/>
                <a:sym typeface="Arial"/>
              </a:rPr>
              <a:t>shutil</a:t>
            </a:r>
            <a:r>
              <a:rPr lang="en-AU" sz="1200" b="0" i="1" dirty="0">
                <a:effectLst/>
                <a:latin typeface="+mj-lt"/>
                <a:ea typeface="+mj-ea"/>
                <a:cs typeface="+mj-cs"/>
                <a:sym typeface="Arial"/>
              </a:rPr>
              <a:t> to retrieve the downloaded data, save to a temporary file, and then move that file (and rename it) to the specified location.</a:t>
            </a:r>
            <a:endParaRPr lang="en-AU" sz="1200" b="0" i="0" dirty="0">
              <a:effectLst/>
              <a:latin typeface="+mj-lt"/>
              <a:ea typeface="+mj-ea"/>
              <a:cs typeface="+mj-cs"/>
              <a:sym typeface="Arial"/>
            </a:endParaRPr>
          </a:p>
          <a:p>
            <a:br>
              <a:rPr lang="en-AU" dirty="0">
                <a:effectLst/>
              </a:rPr>
            </a:br>
            <a:endParaRPr lang="en-AU" dirty="0">
              <a:effectLst/>
            </a:endParaRPr>
          </a:p>
          <a:p>
            <a:endParaRPr lang="en-AU" dirty="0"/>
          </a:p>
        </p:txBody>
      </p:sp>
    </p:spTree>
    <p:extLst>
      <p:ext uri="{BB962C8B-B14F-4D97-AF65-F5344CB8AC3E}">
        <p14:creationId xmlns:p14="http://schemas.microsoft.com/office/powerpoint/2010/main" val="2444636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Two popular frameworks.</a:t>
            </a:r>
          </a:p>
          <a:p>
            <a:endParaRPr lang="en-AU" dirty="0"/>
          </a:p>
          <a:p>
            <a:r>
              <a:rPr lang="en-AU" dirty="0"/>
              <a:t>Discuss for completeness.  Not assessable.</a:t>
            </a:r>
          </a:p>
        </p:txBody>
      </p:sp>
    </p:spTree>
    <p:extLst>
      <p:ext uri="{BB962C8B-B14F-4D97-AF65-F5344CB8AC3E}">
        <p14:creationId xmlns:p14="http://schemas.microsoft.com/office/powerpoint/2010/main" val="95545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Simple ‘hello world’.  Just for reference.</a:t>
            </a:r>
          </a:p>
        </p:txBody>
      </p:sp>
    </p:spTree>
    <p:extLst>
      <p:ext uri="{BB962C8B-B14F-4D97-AF65-F5344CB8AC3E}">
        <p14:creationId xmlns:p14="http://schemas.microsoft.com/office/powerpoint/2010/main" val="569716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Web scraping is an automated method used to extract large amounts of data from websites. The data on the websites are unstructured. Web scraping helps collect these unstructured data and store it in a structured form. There are different ways to scrape websites such as online Services, APIs or writing your own code. In this article, we’ll see how to implement web scraping with python. </a:t>
            </a:r>
            <a:endParaRPr lang="en-AU" dirty="0"/>
          </a:p>
        </p:txBody>
      </p:sp>
    </p:spTree>
    <p:extLst>
      <p:ext uri="{BB962C8B-B14F-4D97-AF65-F5344CB8AC3E}">
        <p14:creationId xmlns:p14="http://schemas.microsoft.com/office/powerpoint/2010/main" val="1888370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8967629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635063"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S5002 </a:t>
            </a:r>
            <a:r>
              <a:rPr lang="en-AU" sz="1000" dirty="0"/>
              <a:t>– Using the Web</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ISYS5002,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Using the Web</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F1B-0AF7-7F4E-9175-DF56B1289355}"/>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CB17CEA4-7A87-6C43-97E8-9E4E608E6AF3}"/>
              </a:ext>
            </a:extLst>
          </p:cNvPr>
          <p:cNvSpPr>
            <a:spLocks noGrp="1"/>
          </p:cNvSpPr>
          <p:nvPr>
            <p:ph type="body" idx="1"/>
          </p:nvPr>
        </p:nvSpPr>
        <p:spPr/>
        <p:txBody>
          <a:bodyPr/>
          <a:lstStyle/>
          <a:p>
            <a:r>
              <a:rPr lang="en-AU" dirty="0"/>
              <a:t>Accessing/Download Data</a:t>
            </a:r>
          </a:p>
          <a:p>
            <a:pPr lvl="1"/>
            <a:r>
              <a:rPr lang="en-AU" dirty="0"/>
              <a:t>3 methods in Python</a:t>
            </a:r>
          </a:p>
          <a:p>
            <a:r>
              <a:rPr lang="en-AU" dirty="0"/>
              <a:t>Create Webpage</a:t>
            </a:r>
          </a:p>
          <a:p>
            <a:r>
              <a:rPr lang="en-AU" dirty="0"/>
              <a:t>Web Scraping</a:t>
            </a:r>
          </a:p>
          <a:p>
            <a:endParaRPr lang="en-AU" dirty="0"/>
          </a:p>
        </p:txBody>
      </p:sp>
    </p:spTree>
    <p:extLst>
      <p:ext uri="{BB962C8B-B14F-4D97-AF65-F5344CB8AC3E}">
        <p14:creationId xmlns:p14="http://schemas.microsoft.com/office/powerpoint/2010/main" val="298206413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5E6B-E309-E64D-A54E-80E170373A4D}"/>
              </a:ext>
            </a:extLst>
          </p:cNvPr>
          <p:cNvSpPr>
            <a:spLocks noGrp="1"/>
          </p:cNvSpPr>
          <p:nvPr>
            <p:ph type="title"/>
          </p:nvPr>
        </p:nvSpPr>
        <p:spPr/>
        <p:txBody>
          <a:bodyPr/>
          <a:lstStyle/>
          <a:p>
            <a:r>
              <a:rPr lang="en-AU" b="1" dirty="0" err="1"/>
              <a:t>urllib.request.urlretrieve</a:t>
            </a:r>
            <a:br>
              <a:rPr lang="en-AU" b="1" dirty="0"/>
            </a:br>
            <a:endParaRPr lang="en-AU" dirty="0"/>
          </a:p>
        </p:txBody>
      </p:sp>
      <p:sp>
        <p:nvSpPr>
          <p:cNvPr id="3" name="Text Placeholder 2">
            <a:extLst>
              <a:ext uri="{FF2B5EF4-FFF2-40B4-BE49-F238E27FC236}">
                <a16:creationId xmlns:a16="http://schemas.microsoft.com/office/drawing/2014/main" id="{3FA05629-AFC1-534A-ABED-DE1C267D2919}"/>
              </a:ext>
            </a:extLst>
          </p:cNvPr>
          <p:cNvSpPr>
            <a:spLocks noGrp="1"/>
          </p:cNvSpPr>
          <p:nvPr>
            <p:ph type="body" idx="1"/>
          </p:nvPr>
        </p:nvSpPr>
        <p:spPr/>
        <p:txBody>
          <a:bodyPr>
            <a:normAutofit/>
          </a:bodyPr>
          <a:lstStyle/>
          <a:p>
            <a:pPr marL="0" indent="0">
              <a:buNone/>
            </a:pPr>
            <a:r>
              <a:rPr lang="en-AU" sz="1600" dirty="0">
                <a:latin typeface="Courier" pitchFamily="2" charset="0"/>
              </a:rPr>
              <a:t>from </a:t>
            </a:r>
            <a:r>
              <a:rPr lang="en-AU" sz="1600" dirty="0" err="1">
                <a:latin typeface="Courier" pitchFamily="2" charset="0"/>
              </a:rPr>
              <a:t>urllib</a:t>
            </a:r>
            <a:r>
              <a:rPr lang="en-AU" sz="1600" dirty="0">
                <a:latin typeface="Courier" pitchFamily="2" charset="0"/>
              </a:rPr>
              <a:t> import request </a:t>
            </a:r>
          </a:p>
          <a:p>
            <a:pPr marL="0" indent="0">
              <a:buNone/>
            </a:pPr>
            <a:endParaRPr lang="en-AU" sz="1600" dirty="0">
              <a:latin typeface="Courier" pitchFamily="2" charset="0"/>
            </a:endParaRPr>
          </a:p>
          <a:p>
            <a:pPr marL="0" indent="0">
              <a:buNone/>
            </a:pPr>
            <a:r>
              <a:rPr lang="en-AU" sz="1600" dirty="0">
                <a:latin typeface="Courier" pitchFamily="2" charset="0"/>
              </a:rPr>
              <a:t># Define the remote file to retrieve </a:t>
            </a:r>
          </a:p>
          <a:p>
            <a:pPr marL="0" indent="0">
              <a:buNone/>
            </a:pPr>
            <a:r>
              <a:rPr lang="en-AU" sz="1600" dirty="0" err="1">
                <a:latin typeface="Courier" pitchFamily="2" charset="0"/>
              </a:rPr>
              <a:t>remote_url</a:t>
            </a:r>
            <a:r>
              <a:rPr lang="en-AU" sz="1600" dirty="0">
                <a:latin typeface="Courier" pitchFamily="2" charset="0"/>
              </a:rPr>
              <a:t> = 'https://</a:t>
            </a:r>
            <a:r>
              <a:rPr lang="en-AU" sz="1600" dirty="0" err="1">
                <a:latin typeface="Courier" pitchFamily="2" charset="0"/>
              </a:rPr>
              <a:t>www.google.com</a:t>
            </a:r>
            <a:r>
              <a:rPr lang="en-AU" sz="1600" dirty="0">
                <a:latin typeface="Courier" pitchFamily="2" charset="0"/>
              </a:rPr>
              <a:t>/</a:t>
            </a:r>
            <a:r>
              <a:rPr lang="en-AU" sz="1600" dirty="0" err="1">
                <a:latin typeface="Courier" pitchFamily="2" charset="0"/>
              </a:rPr>
              <a:t>robots.txt</a:t>
            </a:r>
            <a:r>
              <a:rPr lang="en-AU" sz="1600" dirty="0">
                <a:latin typeface="Courier" pitchFamily="2" charset="0"/>
              </a:rPr>
              <a:t>’ </a:t>
            </a:r>
          </a:p>
          <a:p>
            <a:pPr marL="0" indent="0">
              <a:buNone/>
            </a:pPr>
            <a:endParaRPr lang="en-AU" sz="1600" dirty="0">
              <a:latin typeface="Courier" pitchFamily="2" charset="0"/>
            </a:endParaRPr>
          </a:p>
          <a:p>
            <a:pPr marL="0" indent="0">
              <a:buNone/>
            </a:pPr>
            <a:r>
              <a:rPr lang="en-AU" sz="1600" dirty="0">
                <a:latin typeface="Courier" pitchFamily="2" charset="0"/>
              </a:rPr>
              <a:t># Define the local filename to save data </a:t>
            </a:r>
          </a:p>
          <a:p>
            <a:pPr marL="0" indent="0">
              <a:buNone/>
            </a:pPr>
            <a:r>
              <a:rPr lang="en-AU" sz="1600" dirty="0" err="1">
                <a:latin typeface="Courier" pitchFamily="2" charset="0"/>
              </a:rPr>
              <a:t>local_file</a:t>
            </a:r>
            <a:r>
              <a:rPr lang="en-AU" sz="1600" dirty="0">
                <a:latin typeface="Courier" pitchFamily="2" charset="0"/>
              </a:rPr>
              <a:t> = '</a:t>
            </a:r>
            <a:r>
              <a:rPr lang="en-AU" sz="1600" dirty="0" err="1">
                <a:latin typeface="Courier" pitchFamily="2" charset="0"/>
              </a:rPr>
              <a:t>local_copy.txt</a:t>
            </a:r>
            <a:r>
              <a:rPr lang="en-AU" sz="1600" dirty="0">
                <a:latin typeface="Courier" pitchFamily="2" charset="0"/>
              </a:rPr>
              <a:t>’ </a:t>
            </a:r>
          </a:p>
          <a:p>
            <a:pPr marL="0" indent="0">
              <a:buNone/>
            </a:pPr>
            <a:endParaRPr lang="en-AU" sz="1600" dirty="0">
              <a:latin typeface="Courier" pitchFamily="2" charset="0"/>
            </a:endParaRPr>
          </a:p>
          <a:p>
            <a:pPr marL="0" indent="0">
              <a:buNone/>
            </a:pPr>
            <a:r>
              <a:rPr lang="en-AU" sz="1600" dirty="0">
                <a:latin typeface="Courier" pitchFamily="2" charset="0"/>
              </a:rPr>
              <a:t># Download remote and save locally </a:t>
            </a:r>
          </a:p>
          <a:p>
            <a:pPr marL="0" indent="0">
              <a:buNone/>
            </a:pPr>
            <a:r>
              <a:rPr lang="en-AU" sz="1600" dirty="0" err="1">
                <a:latin typeface="Courier" pitchFamily="2" charset="0"/>
              </a:rPr>
              <a:t>request.urlretrieve</a:t>
            </a:r>
            <a:r>
              <a:rPr lang="en-AU" sz="1600" dirty="0">
                <a:latin typeface="Courier" pitchFamily="2" charset="0"/>
              </a:rPr>
              <a:t>(</a:t>
            </a:r>
            <a:r>
              <a:rPr lang="en-AU" sz="1600" dirty="0" err="1">
                <a:latin typeface="Courier" pitchFamily="2" charset="0"/>
              </a:rPr>
              <a:t>remote_url</a:t>
            </a:r>
            <a:r>
              <a:rPr lang="en-AU" sz="1600" dirty="0">
                <a:latin typeface="Courier" pitchFamily="2" charset="0"/>
              </a:rPr>
              <a:t>, </a:t>
            </a:r>
            <a:r>
              <a:rPr lang="en-AU" sz="1600" dirty="0" err="1">
                <a:latin typeface="Courier" pitchFamily="2" charset="0"/>
              </a:rPr>
              <a:t>local_file</a:t>
            </a:r>
            <a:r>
              <a:rPr lang="en-AU" sz="1600" dirty="0">
                <a:latin typeface="Courier" pitchFamily="2" charset="0"/>
              </a:rPr>
              <a:t>)</a:t>
            </a:r>
          </a:p>
        </p:txBody>
      </p:sp>
    </p:spTree>
    <p:extLst>
      <p:ext uri="{BB962C8B-B14F-4D97-AF65-F5344CB8AC3E}">
        <p14:creationId xmlns:p14="http://schemas.microsoft.com/office/powerpoint/2010/main" val="203036877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69B9-09C1-6843-8E40-9D33FCF583BA}"/>
              </a:ext>
            </a:extLst>
          </p:cNvPr>
          <p:cNvSpPr>
            <a:spLocks noGrp="1"/>
          </p:cNvSpPr>
          <p:nvPr>
            <p:ph type="title"/>
          </p:nvPr>
        </p:nvSpPr>
        <p:spPr/>
        <p:txBody>
          <a:bodyPr/>
          <a:lstStyle/>
          <a:p>
            <a:r>
              <a:rPr lang="en-AU" b="1" dirty="0" err="1"/>
              <a:t>requests.get</a:t>
            </a:r>
            <a:r>
              <a:rPr lang="en-AU" b="1" dirty="0"/>
              <a:t> + manual save</a:t>
            </a:r>
            <a:br>
              <a:rPr lang="en-AU" b="1" dirty="0"/>
            </a:br>
            <a:endParaRPr lang="en-AU" dirty="0"/>
          </a:p>
        </p:txBody>
      </p:sp>
      <p:sp>
        <p:nvSpPr>
          <p:cNvPr id="3" name="Text Placeholder 2">
            <a:extLst>
              <a:ext uri="{FF2B5EF4-FFF2-40B4-BE49-F238E27FC236}">
                <a16:creationId xmlns:a16="http://schemas.microsoft.com/office/drawing/2014/main" id="{040F1544-513F-4C4E-8755-FACCE0566AD1}"/>
              </a:ext>
            </a:extLst>
          </p:cNvPr>
          <p:cNvSpPr>
            <a:spLocks noGrp="1"/>
          </p:cNvSpPr>
          <p:nvPr>
            <p:ph type="body" idx="1"/>
          </p:nvPr>
        </p:nvSpPr>
        <p:spPr>
          <a:xfrm>
            <a:off x="457200" y="1600199"/>
            <a:ext cx="8229600" cy="4697413"/>
          </a:xfrm>
        </p:spPr>
        <p:txBody>
          <a:bodyPr>
            <a:normAutofit fontScale="92500" lnSpcReduction="20000"/>
          </a:bodyPr>
          <a:lstStyle/>
          <a:p>
            <a:pPr marL="0" indent="0">
              <a:buNone/>
            </a:pPr>
            <a:r>
              <a:rPr lang="en-AU" dirty="0">
                <a:latin typeface="Courier" pitchFamily="2" charset="0"/>
              </a:rPr>
              <a:t>import requests </a:t>
            </a:r>
          </a:p>
          <a:p>
            <a:pPr marL="0" indent="0">
              <a:buNone/>
            </a:pPr>
            <a:r>
              <a:rPr lang="en-AU" sz="2000" dirty="0">
                <a:latin typeface="Courier" pitchFamily="2" charset="0"/>
              </a:rPr>
              <a:t># Define the remote file to retrieve </a:t>
            </a:r>
            <a:r>
              <a:rPr lang="en-AU" sz="2000" dirty="0" err="1">
                <a:latin typeface="Courier" pitchFamily="2" charset="0"/>
              </a:rPr>
              <a:t>remote_url</a:t>
            </a:r>
            <a:r>
              <a:rPr lang="en-AU" sz="2000" dirty="0">
                <a:latin typeface="Courier" pitchFamily="2" charset="0"/>
              </a:rPr>
              <a:t> = 'https://</a:t>
            </a:r>
            <a:r>
              <a:rPr lang="en-AU" sz="2000" dirty="0" err="1">
                <a:latin typeface="Courier" pitchFamily="2" charset="0"/>
              </a:rPr>
              <a:t>www.google.com</a:t>
            </a:r>
            <a:r>
              <a:rPr lang="en-AU" sz="2000" dirty="0">
                <a:latin typeface="Courier" pitchFamily="2" charset="0"/>
              </a:rPr>
              <a:t>/</a:t>
            </a:r>
            <a:r>
              <a:rPr lang="en-AU" sz="2000" dirty="0" err="1">
                <a:latin typeface="Courier" pitchFamily="2" charset="0"/>
              </a:rPr>
              <a:t>robots.txt</a:t>
            </a:r>
            <a:r>
              <a:rPr lang="en-AU" sz="2000" dirty="0">
                <a:latin typeface="Courier" pitchFamily="2" charset="0"/>
              </a:rPr>
              <a:t>’ </a:t>
            </a:r>
          </a:p>
          <a:p>
            <a:pPr marL="0" indent="0">
              <a:buNone/>
            </a:pPr>
            <a:endParaRPr lang="en-AU" sz="2000" dirty="0">
              <a:latin typeface="Courier" pitchFamily="2" charset="0"/>
            </a:endParaRPr>
          </a:p>
          <a:p>
            <a:pPr marL="0" indent="0">
              <a:buNone/>
            </a:pPr>
            <a:r>
              <a:rPr lang="en-AU" sz="2000" dirty="0">
                <a:latin typeface="Courier" pitchFamily="2" charset="0"/>
              </a:rPr>
              <a:t># Define the local filename to save data </a:t>
            </a:r>
          </a:p>
          <a:p>
            <a:pPr marL="0" indent="0">
              <a:buNone/>
            </a:pPr>
            <a:r>
              <a:rPr lang="en-AU" sz="2000" dirty="0" err="1">
                <a:latin typeface="Courier" pitchFamily="2" charset="0"/>
              </a:rPr>
              <a:t>local_file</a:t>
            </a:r>
            <a:r>
              <a:rPr lang="en-AU" sz="2000" dirty="0">
                <a:latin typeface="Courier" pitchFamily="2" charset="0"/>
              </a:rPr>
              <a:t> = '</a:t>
            </a:r>
            <a:r>
              <a:rPr lang="en-AU" sz="2000" dirty="0" err="1">
                <a:latin typeface="Courier" pitchFamily="2" charset="0"/>
              </a:rPr>
              <a:t>local_copy.txt</a:t>
            </a:r>
            <a:r>
              <a:rPr lang="en-AU" sz="2000" dirty="0">
                <a:latin typeface="Courier" pitchFamily="2" charset="0"/>
              </a:rPr>
              <a:t>’ </a:t>
            </a:r>
          </a:p>
          <a:p>
            <a:pPr marL="0" indent="0">
              <a:buNone/>
            </a:pPr>
            <a:endParaRPr lang="en-AU" sz="2000" dirty="0">
              <a:latin typeface="Courier" pitchFamily="2" charset="0"/>
            </a:endParaRPr>
          </a:p>
          <a:p>
            <a:pPr marL="0" indent="0">
              <a:buNone/>
            </a:pPr>
            <a:r>
              <a:rPr lang="en-AU" sz="2000" dirty="0">
                <a:latin typeface="Courier" pitchFamily="2" charset="0"/>
              </a:rPr>
              <a:t># Make http request for remote file data </a:t>
            </a:r>
          </a:p>
          <a:p>
            <a:pPr marL="0" indent="0">
              <a:buNone/>
            </a:pPr>
            <a:r>
              <a:rPr lang="en-AU" sz="2000" dirty="0">
                <a:latin typeface="Courier" pitchFamily="2" charset="0"/>
              </a:rPr>
              <a:t>data = </a:t>
            </a:r>
            <a:r>
              <a:rPr lang="en-AU" sz="2000" dirty="0" err="1">
                <a:latin typeface="Courier" pitchFamily="2" charset="0"/>
              </a:rPr>
              <a:t>requests.get</a:t>
            </a:r>
            <a:r>
              <a:rPr lang="en-AU" sz="2000" dirty="0">
                <a:latin typeface="Courier" pitchFamily="2" charset="0"/>
              </a:rPr>
              <a:t>(</a:t>
            </a:r>
            <a:r>
              <a:rPr lang="en-AU" sz="2000" dirty="0" err="1">
                <a:latin typeface="Courier" pitchFamily="2" charset="0"/>
              </a:rPr>
              <a:t>remote_url</a:t>
            </a:r>
            <a:r>
              <a:rPr lang="en-AU" sz="2000" dirty="0">
                <a:latin typeface="Courier" pitchFamily="2" charset="0"/>
              </a:rPr>
              <a:t>) </a:t>
            </a:r>
          </a:p>
          <a:p>
            <a:pPr marL="0" indent="0">
              <a:buNone/>
            </a:pPr>
            <a:endParaRPr lang="en-AU" sz="2000" dirty="0">
              <a:latin typeface="Courier" pitchFamily="2" charset="0"/>
            </a:endParaRPr>
          </a:p>
          <a:p>
            <a:pPr marL="0" indent="0">
              <a:buNone/>
            </a:pPr>
            <a:r>
              <a:rPr lang="en-AU" sz="2000" dirty="0">
                <a:latin typeface="Courier" pitchFamily="2" charset="0"/>
              </a:rPr>
              <a:t># Save file data to local copy </a:t>
            </a:r>
          </a:p>
          <a:p>
            <a:pPr marL="0" indent="0">
              <a:buNone/>
            </a:pPr>
            <a:r>
              <a:rPr lang="en-AU" sz="2000" dirty="0">
                <a:latin typeface="Courier" pitchFamily="2" charset="0"/>
              </a:rPr>
              <a:t>with open(</a:t>
            </a:r>
            <a:r>
              <a:rPr lang="en-AU" sz="2000" dirty="0" err="1">
                <a:latin typeface="Courier" pitchFamily="2" charset="0"/>
              </a:rPr>
              <a:t>local_file</a:t>
            </a:r>
            <a:r>
              <a:rPr lang="en-AU" sz="2000" dirty="0">
                <a:latin typeface="Courier" pitchFamily="2" charset="0"/>
              </a:rPr>
              <a:t>, '</a:t>
            </a:r>
            <a:r>
              <a:rPr lang="en-AU" sz="2000" dirty="0" err="1">
                <a:latin typeface="Courier" pitchFamily="2" charset="0"/>
              </a:rPr>
              <a:t>wb</a:t>
            </a:r>
            <a:r>
              <a:rPr lang="en-AU" sz="2000" dirty="0">
                <a:latin typeface="Courier" pitchFamily="2" charset="0"/>
              </a:rPr>
              <a:t>')as file:</a:t>
            </a:r>
          </a:p>
          <a:p>
            <a:pPr marL="0" indent="0">
              <a:buNone/>
            </a:pPr>
            <a:r>
              <a:rPr lang="en-AU" sz="2000" dirty="0">
                <a:latin typeface="Courier" pitchFamily="2" charset="0"/>
              </a:rPr>
              <a:t>   </a:t>
            </a:r>
            <a:r>
              <a:rPr lang="en-AU" sz="2000" dirty="0" err="1">
                <a:latin typeface="Courier" pitchFamily="2" charset="0"/>
              </a:rPr>
              <a:t>file.write</a:t>
            </a:r>
            <a:r>
              <a:rPr lang="en-AU" sz="2000" dirty="0">
                <a:latin typeface="Courier" pitchFamily="2" charset="0"/>
              </a:rPr>
              <a:t>(</a:t>
            </a:r>
            <a:r>
              <a:rPr lang="en-AU" sz="2000" dirty="0" err="1">
                <a:latin typeface="Courier" pitchFamily="2" charset="0"/>
              </a:rPr>
              <a:t>data.content</a:t>
            </a:r>
            <a:r>
              <a:rPr lang="en-AU" sz="2000" dirty="0">
                <a:latin typeface="Courier" pitchFamily="2" charset="0"/>
              </a:rPr>
              <a:t>)</a:t>
            </a:r>
          </a:p>
        </p:txBody>
      </p:sp>
    </p:spTree>
    <p:extLst>
      <p:ext uri="{BB962C8B-B14F-4D97-AF65-F5344CB8AC3E}">
        <p14:creationId xmlns:p14="http://schemas.microsoft.com/office/powerpoint/2010/main" val="410135934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8F83-892F-9D48-9536-7006EABD51D3}"/>
              </a:ext>
            </a:extLst>
          </p:cNvPr>
          <p:cNvSpPr>
            <a:spLocks noGrp="1"/>
          </p:cNvSpPr>
          <p:nvPr>
            <p:ph type="title"/>
          </p:nvPr>
        </p:nvSpPr>
        <p:spPr/>
        <p:txBody>
          <a:bodyPr/>
          <a:lstStyle/>
          <a:p>
            <a:r>
              <a:rPr lang="en-AU" b="1" dirty="0" err="1"/>
              <a:t>wget.download</a:t>
            </a:r>
            <a:br>
              <a:rPr lang="en-AU" b="1" dirty="0"/>
            </a:br>
            <a:endParaRPr lang="en-AU" dirty="0"/>
          </a:p>
        </p:txBody>
      </p:sp>
      <p:sp>
        <p:nvSpPr>
          <p:cNvPr id="3" name="Text Placeholder 2">
            <a:extLst>
              <a:ext uri="{FF2B5EF4-FFF2-40B4-BE49-F238E27FC236}">
                <a16:creationId xmlns:a16="http://schemas.microsoft.com/office/drawing/2014/main" id="{75F8CDD5-CD83-BD46-A171-D5D94B2C8AD8}"/>
              </a:ext>
            </a:extLst>
          </p:cNvPr>
          <p:cNvSpPr>
            <a:spLocks noGrp="1"/>
          </p:cNvSpPr>
          <p:nvPr>
            <p:ph type="body" idx="1"/>
          </p:nvPr>
        </p:nvSpPr>
        <p:spPr/>
        <p:txBody>
          <a:bodyPr>
            <a:normAutofit/>
          </a:bodyPr>
          <a:lstStyle/>
          <a:p>
            <a:pPr marL="0" indent="0">
              <a:buNone/>
            </a:pPr>
            <a:r>
              <a:rPr lang="en-AU" sz="2000" dirty="0">
                <a:latin typeface="Courier" pitchFamily="2" charset="0"/>
              </a:rPr>
              <a:t>import </a:t>
            </a:r>
            <a:r>
              <a:rPr lang="en-AU" sz="2000" dirty="0" err="1">
                <a:latin typeface="Courier" pitchFamily="2" charset="0"/>
              </a:rPr>
              <a:t>wget</a:t>
            </a:r>
            <a:r>
              <a:rPr lang="en-AU" sz="2000" dirty="0">
                <a:latin typeface="Courier" pitchFamily="2" charset="0"/>
              </a:rPr>
              <a:t> </a:t>
            </a:r>
          </a:p>
          <a:p>
            <a:pPr marL="0" indent="0">
              <a:buNone/>
            </a:pPr>
            <a:r>
              <a:rPr lang="en-AU" sz="2000" dirty="0">
                <a:latin typeface="Courier" pitchFamily="2" charset="0"/>
              </a:rPr>
              <a:t># Define the remote file to retrieve </a:t>
            </a:r>
          </a:p>
          <a:p>
            <a:pPr marL="0" indent="0">
              <a:buNone/>
            </a:pPr>
            <a:r>
              <a:rPr lang="en-AU" sz="2000" dirty="0" err="1">
                <a:latin typeface="Courier" pitchFamily="2" charset="0"/>
              </a:rPr>
              <a:t>remote_url</a:t>
            </a:r>
            <a:r>
              <a:rPr lang="en-AU" sz="2000" dirty="0">
                <a:latin typeface="Courier" pitchFamily="2" charset="0"/>
              </a:rPr>
              <a:t> = 'https://</a:t>
            </a:r>
            <a:r>
              <a:rPr lang="en-AU" sz="2000" dirty="0" err="1">
                <a:latin typeface="Courier" pitchFamily="2" charset="0"/>
              </a:rPr>
              <a:t>www.google.com</a:t>
            </a:r>
            <a:r>
              <a:rPr lang="en-AU" sz="2000" dirty="0">
                <a:latin typeface="Courier" pitchFamily="2" charset="0"/>
              </a:rPr>
              <a:t>/</a:t>
            </a:r>
            <a:r>
              <a:rPr lang="en-AU" sz="2000" dirty="0" err="1">
                <a:latin typeface="Courier" pitchFamily="2" charset="0"/>
              </a:rPr>
              <a:t>robots.txt</a:t>
            </a:r>
            <a:r>
              <a:rPr lang="en-AU" sz="2000" dirty="0">
                <a:latin typeface="Courier" pitchFamily="2" charset="0"/>
              </a:rPr>
              <a:t>’ </a:t>
            </a:r>
          </a:p>
          <a:p>
            <a:pPr marL="0" indent="0">
              <a:buNone/>
            </a:pPr>
            <a:endParaRPr lang="en-AU" sz="2000" dirty="0">
              <a:latin typeface="Courier" pitchFamily="2" charset="0"/>
            </a:endParaRPr>
          </a:p>
          <a:p>
            <a:pPr marL="0" indent="0">
              <a:buNone/>
            </a:pPr>
            <a:r>
              <a:rPr lang="en-AU" sz="2000" dirty="0">
                <a:latin typeface="Courier" pitchFamily="2" charset="0"/>
              </a:rPr>
              <a:t># Define the local filename to save data </a:t>
            </a:r>
          </a:p>
          <a:p>
            <a:pPr marL="0" indent="0">
              <a:buNone/>
            </a:pPr>
            <a:r>
              <a:rPr lang="en-AU" sz="2000" dirty="0" err="1">
                <a:latin typeface="Courier" pitchFamily="2" charset="0"/>
              </a:rPr>
              <a:t>local_file</a:t>
            </a:r>
            <a:r>
              <a:rPr lang="en-AU" sz="2000" dirty="0">
                <a:latin typeface="Courier" pitchFamily="2" charset="0"/>
              </a:rPr>
              <a:t> = '</a:t>
            </a:r>
            <a:r>
              <a:rPr lang="en-AU" sz="2000" dirty="0" err="1">
                <a:latin typeface="Courier" pitchFamily="2" charset="0"/>
              </a:rPr>
              <a:t>local_copy.txt</a:t>
            </a:r>
            <a:r>
              <a:rPr lang="en-AU" sz="2000" dirty="0">
                <a:latin typeface="Courier" pitchFamily="2" charset="0"/>
              </a:rPr>
              <a:t>’ </a:t>
            </a:r>
          </a:p>
          <a:p>
            <a:pPr marL="0" indent="0">
              <a:buNone/>
            </a:pPr>
            <a:endParaRPr lang="en-AU" sz="2000" dirty="0">
              <a:latin typeface="Courier" pitchFamily="2" charset="0"/>
            </a:endParaRPr>
          </a:p>
          <a:p>
            <a:pPr marL="0" indent="0">
              <a:buNone/>
            </a:pPr>
            <a:r>
              <a:rPr lang="en-AU" sz="2000" dirty="0">
                <a:latin typeface="Courier" pitchFamily="2" charset="0"/>
              </a:rPr>
              <a:t># Make http request for remote file data </a:t>
            </a:r>
            <a:r>
              <a:rPr lang="en-AU" sz="2000" dirty="0" err="1">
                <a:latin typeface="Courier" pitchFamily="2" charset="0"/>
              </a:rPr>
              <a:t>wget.download</a:t>
            </a:r>
            <a:r>
              <a:rPr lang="en-AU" sz="2000" dirty="0">
                <a:latin typeface="Courier" pitchFamily="2" charset="0"/>
              </a:rPr>
              <a:t>(</a:t>
            </a:r>
            <a:r>
              <a:rPr lang="en-AU" sz="2000" dirty="0" err="1">
                <a:latin typeface="Courier" pitchFamily="2" charset="0"/>
              </a:rPr>
              <a:t>remote_url</a:t>
            </a:r>
            <a:r>
              <a:rPr lang="en-AU" sz="2000" dirty="0">
                <a:latin typeface="Courier" pitchFamily="2" charset="0"/>
              </a:rPr>
              <a:t>, </a:t>
            </a:r>
            <a:r>
              <a:rPr lang="en-AU" sz="2000" dirty="0" err="1">
                <a:latin typeface="Courier" pitchFamily="2" charset="0"/>
              </a:rPr>
              <a:t>local_file</a:t>
            </a:r>
            <a:r>
              <a:rPr lang="en-AU" sz="2000" dirty="0">
                <a:latin typeface="Courier" pitchFamily="2" charset="0"/>
              </a:rPr>
              <a:t>)</a:t>
            </a:r>
          </a:p>
        </p:txBody>
      </p:sp>
    </p:spTree>
    <p:extLst>
      <p:ext uri="{BB962C8B-B14F-4D97-AF65-F5344CB8AC3E}">
        <p14:creationId xmlns:p14="http://schemas.microsoft.com/office/powerpoint/2010/main" val="1366037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E6A1-5E70-344E-AB08-BE1206F7E752}"/>
              </a:ext>
            </a:extLst>
          </p:cNvPr>
          <p:cNvSpPr>
            <a:spLocks noGrp="1"/>
          </p:cNvSpPr>
          <p:nvPr>
            <p:ph type="title"/>
          </p:nvPr>
        </p:nvSpPr>
        <p:spPr/>
        <p:txBody>
          <a:bodyPr/>
          <a:lstStyle/>
          <a:p>
            <a:r>
              <a:rPr lang="en-AU" dirty="0"/>
              <a:t>Website Development</a:t>
            </a:r>
          </a:p>
        </p:txBody>
      </p:sp>
      <p:sp>
        <p:nvSpPr>
          <p:cNvPr id="3" name="Text Placeholder 2">
            <a:extLst>
              <a:ext uri="{FF2B5EF4-FFF2-40B4-BE49-F238E27FC236}">
                <a16:creationId xmlns:a16="http://schemas.microsoft.com/office/drawing/2014/main" id="{417C64D9-675E-AE48-8BAD-B5748BF84C79}"/>
              </a:ext>
            </a:extLst>
          </p:cNvPr>
          <p:cNvSpPr>
            <a:spLocks noGrp="1"/>
          </p:cNvSpPr>
          <p:nvPr>
            <p:ph type="body" idx="1"/>
          </p:nvPr>
        </p:nvSpPr>
        <p:spPr/>
        <p:txBody>
          <a:bodyPr/>
          <a:lstStyle/>
          <a:p>
            <a:r>
              <a:rPr lang="en-AU" dirty="0"/>
              <a:t>Django</a:t>
            </a:r>
          </a:p>
          <a:p>
            <a:pPr lvl="1"/>
            <a:r>
              <a:rPr lang="en-AU" dirty="0"/>
              <a:t>Fast, secure</a:t>
            </a:r>
          </a:p>
          <a:p>
            <a:r>
              <a:rPr lang="en-AU" dirty="0"/>
              <a:t>Flask</a:t>
            </a:r>
          </a:p>
          <a:p>
            <a:pPr lvl="1"/>
            <a:r>
              <a:rPr lang="en-AU" dirty="0"/>
              <a:t>minimalistic</a:t>
            </a:r>
          </a:p>
        </p:txBody>
      </p:sp>
    </p:spTree>
    <p:extLst>
      <p:ext uri="{BB962C8B-B14F-4D97-AF65-F5344CB8AC3E}">
        <p14:creationId xmlns:p14="http://schemas.microsoft.com/office/powerpoint/2010/main" val="184545238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F68EBF-A06D-DD40-97DF-496251707B28}"/>
              </a:ext>
            </a:extLst>
          </p:cNvPr>
          <p:cNvSpPr>
            <a:spLocks noGrp="1"/>
          </p:cNvSpPr>
          <p:nvPr>
            <p:ph type="body" idx="1"/>
          </p:nvPr>
        </p:nvSpPr>
        <p:spPr>
          <a:xfrm>
            <a:off x="1358721" y="402464"/>
            <a:ext cx="6664817" cy="6165761"/>
          </a:xfrm>
        </p:spPr>
        <p:txBody>
          <a:bodyPr>
            <a:normAutofit/>
          </a:bodyPr>
          <a:lstStyle/>
          <a:p>
            <a:pPr marL="0" indent="0">
              <a:buNone/>
            </a:pPr>
            <a:r>
              <a:rPr lang="en-AU" dirty="0">
                <a:latin typeface="Courier" pitchFamily="2" charset="0"/>
              </a:rPr>
              <a:t>from flask import Flask </a:t>
            </a:r>
          </a:p>
          <a:p>
            <a:pPr marL="0" indent="0">
              <a:buNone/>
            </a:pPr>
            <a:endParaRPr lang="en-AU" dirty="0">
              <a:latin typeface="Courier" pitchFamily="2" charset="0"/>
            </a:endParaRPr>
          </a:p>
          <a:p>
            <a:pPr marL="0" indent="0">
              <a:buNone/>
            </a:pPr>
            <a:r>
              <a:rPr lang="en-AU" dirty="0">
                <a:latin typeface="Courier" pitchFamily="2" charset="0"/>
              </a:rPr>
              <a:t>app = Flask(__name__) </a:t>
            </a:r>
          </a:p>
          <a:p>
            <a:pPr marL="0" indent="0">
              <a:buNone/>
            </a:pPr>
            <a:endParaRPr lang="en-AU" dirty="0">
              <a:latin typeface="Courier" pitchFamily="2" charset="0"/>
            </a:endParaRPr>
          </a:p>
          <a:p>
            <a:pPr marL="0" indent="0">
              <a:buNone/>
            </a:pPr>
            <a:r>
              <a:rPr lang="en-AU" dirty="0">
                <a:latin typeface="Courier" pitchFamily="2" charset="0"/>
              </a:rPr>
              <a:t>@</a:t>
            </a:r>
            <a:r>
              <a:rPr lang="en-AU" dirty="0" err="1">
                <a:latin typeface="Courier" pitchFamily="2" charset="0"/>
              </a:rPr>
              <a:t>app.route</a:t>
            </a:r>
            <a:r>
              <a:rPr lang="en-AU" dirty="0">
                <a:latin typeface="Courier" pitchFamily="2" charset="0"/>
              </a:rPr>
              <a:t>("/") </a:t>
            </a:r>
          </a:p>
          <a:p>
            <a:pPr marL="0" indent="0">
              <a:buNone/>
            </a:pPr>
            <a:r>
              <a:rPr lang="en-AU" dirty="0">
                <a:latin typeface="Courier" pitchFamily="2" charset="0"/>
              </a:rPr>
              <a:t>def home(): </a:t>
            </a:r>
          </a:p>
          <a:p>
            <a:pPr marL="0" indent="0">
              <a:buNone/>
            </a:pPr>
            <a:r>
              <a:rPr lang="en-AU" dirty="0">
                <a:latin typeface="Courier" pitchFamily="2" charset="0"/>
              </a:rPr>
              <a:t>   return "Hello, World!" </a:t>
            </a:r>
          </a:p>
          <a:p>
            <a:pPr marL="0" indent="0">
              <a:buNone/>
            </a:pPr>
            <a:endParaRPr lang="en-AU" dirty="0">
              <a:latin typeface="Courier" pitchFamily="2" charset="0"/>
            </a:endParaRPr>
          </a:p>
          <a:p>
            <a:pPr marL="0" indent="0">
              <a:buNone/>
            </a:pPr>
            <a:r>
              <a:rPr lang="en-AU" dirty="0">
                <a:latin typeface="Courier" pitchFamily="2" charset="0"/>
              </a:rPr>
              <a:t>if __name__ == "__main__": </a:t>
            </a:r>
          </a:p>
          <a:p>
            <a:pPr marL="0" indent="0">
              <a:buNone/>
            </a:pPr>
            <a:r>
              <a:rPr lang="en-AU" dirty="0">
                <a:latin typeface="Courier" pitchFamily="2" charset="0"/>
              </a:rPr>
              <a:t>    </a:t>
            </a:r>
            <a:r>
              <a:rPr lang="en-AU" dirty="0" err="1">
                <a:latin typeface="Courier" pitchFamily="2" charset="0"/>
              </a:rPr>
              <a:t>app.run</a:t>
            </a:r>
            <a:r>
              <a:rPr lang="en-AU" dirty="0">
                <a:latin typeface="Courier" pitchFamily="2" charset="0"/>
              </a:rPr>
              <a:t>(debug=True)</a:t>
            </a:r>
          </a:p>
        </p:txBody>
      </p:sp>
    </p:spTree>
    <p:extLst>
      <p:ext uri="{BB962C8B-B14F-4D97-AF65-F5344CB8AC3E}">
        <p14:creationId xmlns:p14="http://schemas.microsoft.com/office/powerpoint/2010/main" val="408844592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FF36-10B1-024E-9300-1E520DC28458}"/>
              </a:ext>
            </a:extLst>
          </p:cNvPr>
          <p:cNvSpPr>
            <a:spLocks noGrp="1"/>
          </p:cNvSpPr>
          <p:nvPr>
            <p:ph type="title"/>
          </p:nvPr>
        </p:nvSpPr>
        <p:spPr/>
        <p:txBody>
          <a:bodyPr/>
          <a:lstStyle/>
          <a:p>
            <a:r>
              <a:rPr lang="en-AU" dirty="0"/>
              <a:t>What is Web Scraping</a:t>
            </a:r>
          </a:p>
        </p:txBody>
      </p:sp>
      <p:pic>
        <p:nvPicPr>
          <p:cNvPr id="8" name="Picture 7" descr="Diagram&#10;&#10;Description automatically generated">
            <a:extLst>
              <a:ext uri="{FF2B5EF4-FFF2-40B4-BE49-F238E27FC236}">
                <a16:creationId xmlns:a16="http://schemas.microsoft.com/office/drawing/2014/main" id="{ABCE9567-E1CD-7645-8EB6-F1C808578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2019"/>
            <a:ext cx="9144000" cy="3973962"/>
          </a:xfrm>
          <a:prstGeom prst="rect">
            <a:avLst/>
          </a:prstGeom>
        </p:spPr>
      </p:pic>
      <p:sp>
        <p:nvSpPr>
          <p:cNvPr id="9" name="Rectangle 8">
            <a:extLst>
              <a:ext uri="{FF2B5EF4-FFF2-40B4-BE49-F238E27FC236}">
                <a16:creationId xmlns:a16="http://schemas.microsoft.com/office/drawing/2014/main" id="{92A0998E-C655-CF46-9BD7-9A82C022E9BC}"/>
              </a:ext>
            </a:extLst>
          </p:cNvPr>
          <p:cNvSpPr/>
          <p:nvPr/>
        </p:nvSpPr>
        <p:spPr>
          <a:xfrm>
            <a:off x="468312" y="5374578"/>
            <a:ext cx="5109091" cy="369332"/>
          </a:xfrm>
          <a:prstGeom prst="rect">
            <a:avLst/>
          </a:prstGeom>
        </p:spPr>
        <p:txBody>
          <a:bodyPr wrap="none">
            <a:spAutoFit/>
          </a:bodyPr>
          <a:lstStyle/>
          <a:p>
            <a:r>
              <a:rPr lang="en-AU" dirty="0"/>
              <a:t>Image Source: https://</a:t>
            </a:r>
            <a:r>
              <a:rPr lang="en-AU" dirty="0" err="1"/>
              <a:t>i.imgur.com</a:t>
            </a:r>
            <a:r>
              <a:rPr lang="en-AU" dirty="0"/>
              <a:t>/6zM7JBq.png</a:t>
            </a:r>
          </a:p>
        </p:txBody>
      </p:sp>
    </p:spTree>
    <p:extLst>
      <p:ext uri="{BB962C8B-B14F-4D97-AF65-F5344CB8AC3E}">
        <p14:creationId xmlns:p14="http://schemas.microsoft.com/office/powerpoint/2010/main" val="13592768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BCD5-46A8-A84F-A8E3-BEF997EF8691}"/>
              </a:ext>
            </a:extLst>
          </p:cNvPr>
          <p:cNvSpPr>
            <a:spLocks noGrp="1"/>
          </p:cNvSpPr>
          <p:nvPr>
            <p:ph type="title"/>
          </p:nvPr>
        </p:nvSpPr>
        <p:spPr/>
        <p:txBody>
          <a:bodyPr/>
          <a:lstStyle/>
          <a:p>
            <a:r>
              <a:rPr lang="en-AU" dirty="0"/>
              <a:t>Why is Web Scraping Used?</a:t>
            </a:r>
          </a:p>
        </p:txBody>
      </p:sp>
      <p:sp>
        <p:nvSpPr>
          <p:cNvPr id="3" name="Text Placeholder 2">
            <a:extLst>
              <a:ext uri="{FF2B5EF4-FFF2-40B4-BE49-F238E27FC236}">
                <a16:creationId xmlns:a16="http://schemas.microsoft.com/office/drawing/2014/main" id="{ACA04ACC-F17E-8543-A201-61B6E537CBFE}"/>
              </a:ext>
            </a:extLst>
          </p:cNvPr>
          <p:cNvSpPr>
            <a:spLocks noGrp="1"/>
          </p:cNvSpPr>
          <p:nvPr>
            <p:ph type="body" idx="1"/>
          </p:nvPr>
        </p:nvSpPr>
        <p:spPr/>
        <p:txBody>
          <a:bodyPr/>
          <a:lstStyle/>
          <a:p>
            <a:r>
              <a:rPr lang="en-AU" dirty="0"/>
              <a:t>Price Comparison</a:t>
            </a:r>
          </a:p>
          <a:p>
            <a:r>
              <a:rPr lang="en-AU" dirty="0"/>
              <a:t>Email address gathering</a:t>
            </a:r>
          </a:p>
          <a:p>
            <a:r>
              <a:rPr lang="en-AU" dirty="0"/>
              <a:t>Social Media Scraping</a:t>
            </a:r>
          </a:p>
          <a:p>
            <a:r>
              <a:rPr lang="en-AU" dirty="0"/>
              <a:t>Research and Development</a:t>
            </a:r>
          </a:p>
          <a:p>
            <a:r>
              <a:rPr lang="en-AU" dirty="0"/>
              <a:t>Job Listings</a:t>
            </a:r>
          </a:p>
        </p:txBody>
      </p:sp>
    </p:spTree>
    <p:extLst>
      <p:ext uri="{BB962C8B-B14F-4D97-AF65-F5344CB8AC3E}">
        <p14:creationId xmlns:p14="http://schemas.microsoft.com/office/powerpoint/2010/main" val="170043593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BCD5-46A8-A84F-A8E3-BEF997EF8691}"/>
              </a:ext>
            </a:extLst>
          </p:cNvPr>
          <p:cNvSpPr>
            <a:spLocks noGrp="1"/>
          </p:cNvSpPr>
          <p:nvPr>
            <p:ph type="title"/>
          </p:nvPr>
        </p:nvSpPr>
        <p:spPr/>
        <p:txBody>
          <a:bodyPr/>
          <a:lstStyle/>
          <a:p>
            <a:r>
              <a:rPr lang="en-AU" dirty="0"/>
              <a:t>Is Web Scraping Legal?</a:t>
            </a:r>
          </a:p>
        </p:txBody>
      </p:sp>
      <p:sp>
        <p:nvSpPr>
          <p:cNvPr id="3" name="Text Placeholder 2">
            <a:extLst>
              <a:ext uri="{FF2B5EF4-FFF2-40B4-BE49-F238E27FC236}">
                <a16:creationId xmlns:a16="http://schemas.microsoft.com/office/drawing/2014/main" id="{ACA04ACC-F17E-8543-A201-61B6E537CBFE}"/>
              </a:ext>
            </a:extLst>
          </p:cNvPr>
          <p:cNvSpPr>
            <a:spLocks noGrp="1"/>
          </p:cNvSpPr>
          <p:nvPr>
            <p:ph type="body" idx="1"/>
          </p:nvPr>
        </p:nvSpPr>
        <p:spPr/>
        <p:txBody>
          <a:bodyPr/>
          <a:lstStyle/>
          <a:p>
            <a:r>
              <a:rPr lang="en-AU" dirty="0"/>
              <a:t>Copyright law protects original work</a:t>
            </a:r>
          </a:p>
          <a:p>
            <a:pPr lvl="1"/>
            <a:r>
              <a:rPr lang="en-AU" dirty="0"/>
              <a:t>Fair dealing</a:t>
            </a:r>
          </a:p>
          <a:p>
            <a:r>
              <a:rPr lang="en-AU" dirty="0"/>
              <a:t>Data not consider original work</a:t>
            </a:r>
          </a:p>
          <a:p>
            <a:r>
              <a:rPr lang="en-AU" dirty="0"/>
              <a:t>Read Website Terms of Service</a:t>
            </a:r>
          </a:p>
          <a:p>
            <a:r>
              <a:rPr lang="en-AU" dirty="0"/>
              <a:t>Check </a:t>
            </a:r>
            <a:r>
              <a:rPr lang="en-AU" dirty="0" err="1"/>
              <a:t>robots.txt</a:t>
            </a:r>
            <a:endParaRPr lang="en-AU" dirty="0"/>
          </a:p>
        </p:txBody>
      </p:sp>
    </p:spTree>
    <p:extLst>
      <p:ext uri="{BB962C8B-B14F-4D97-AF65-F5344CB8AC3E}">
        <p14:creationId xmlns:p14="http://schemas.microsoft.com/office/powerpoint/2010/main" val="227555599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BCD5-46A8-A84F-A8E3-BEF997EF8691}"/>
              </a:ext>
            </a:extLst>
          </p:cNvPr>
          <p:cNvSpPr>
            <a:spLocks noGrp="1"/>
          </p:cNvSpPr>
          <p:nvPr>
            <p:ph type="title"/>
          </p:nvPr>
        </p:nvSpPr>
        <p:spPr/>
        <p:txBody>
          <a:bodyPr/>
          <a:lstStyle/>
          <a:p>
            <a:r>
              <a:rPr lang="en-AU" dirty="0"/>
              <a:t>Is Python Good for Web Scraping</a:t>
            </a:r>
          </a:p>
        </p:txBody>
      </p:sp>
      <p:sp>
        <p:nvSpPr>
          <p:cNvPr id="3" name="Text Placeholder 2">
            <a:extLst>
              <a:ext uri="{FF2B5EF4-FFF2-40B4-BE49-F238E27FC236}">
                <a16:creationId xmlns:a16="http://schemas.microsoft.com/office/drawing/2014/main" id="{ACA04ACC-F17E-8543-A201-61B6E537CBFE}"/>
              </a:ext>
            </a:extLst>
          </p:cNvPr>
          <p:cNvSpPr>
            <a:spLocks noGrp="1"/>
          </p:cNvSpPr>
          <p:nvPr>
            <p:ph type="body" idx="1"/>
          </p:nvPr>
        </p:nvSpPr>
        <p:spPr/>
        <p:txBody>
          <a:bodyPr/>
          <a:lstStyle/>
          <a:p>
            <a:r>
              <a:rPr lang="en-AU" dirty="0"/>
              <a:t>Ease of Use</a:t>
            </a:r>
          </a:p>
          <a:p>
            <a:r>
              <a:rPr lang="en-AU" dirty="0"/>
              <a:t>Large Collection of Libraries</a:t>
            </a:r>
          </a:p>
          <a:p>
            <a:r>
              <a:rPr lang="en-AU" dirty="0"/>
              <a:t>Dynamically Typed</a:t>
            </a:r>
          </a:p>
          <a:p>
            <a:r>
              <a:rPr lang="en-AU" dirty="0"/>
              <a:t>Small code large Task</a:t>
            </a:r>
          </a:p>
          <a:p>
            <a:r>
              <a:rPr lang="en-AU" dirty="0"/>
              <a:t>Community</a:t>
            </a:r>
          </a:p>
        </p:txBody>
      </p:sp>
    </p:spTree>
    <p:extLst>
      <p:ext uri="{BB962C8B-B14F-4D97-AF65-F5344CB8AC3E}">
        <p14:creationId xmlns:p14="http://schemas.microsoft.com/office/powerpoint/2010/main" val="339310090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BCD5-46A8-A84F-A8E3-BEF997EF8691}"/>
              </a:ext>
            </a:extLst>
          </p:cNvPr>
          <p:cNvSpPr>
            <a:spLocks noGrp="1"/>
          </p:cNvSpPr>
          <p:nvPr>
            <p:ph type="title"/>
          </p:nvPr>
        </p:nvSpPr>
        <p:spPr/>
        <p:txBody>
          <a:bodyPr/>
          <a:lstStyle/>
          <a:p>
            <a:r>
              <a:rPr lang="en-AU" dirty="0"/>
              <a:t>How Scrape</a:t>
            </a:r>
          </a:p>
        </p:txBody>
      </p:sp>
      <p:sp>
        <p:nvSpPr>
          <p:cNvPr id="3" name="Text Placeholder 2">
            <a:extLst>
              <a:ext uri="{FF2B5EF4-FFF2-40B4-BE49-F238E27FC236}">
                <a16:creationId xmlns:a16="http://schemas.microsoft.com/office/drawing/2014/main" id="{ACA04ACC-F17E-8543-A201-61B6E537CBFE}"/>
              </a:ext>
            </a:extLst>
          </p:cNvPr>
          <p:cNvSpPr>
            <a:spLocks noGrp="1"/>
          </p:cNvSpPr>
          <p:nvPr>
            <p:ph type="body" idx="1"/>
          </p:nvPr>
        </p:nvSpPr>
        <p:spPr/>
        <p:txBody>
          <a:bodyPr/>
          <a:lstStyle/>
          <a:p>
            <a:r>
              <a:rPr lang="en-AU" dirty="0"/>
              <a:t>Find URL</a:t>
            </a:r>
          </a:p>
          <a:p>
            <a:r>
              <a:rPr lang="en-AU" dirty="0"/>
              <a:t>Inspect the Page</a:t>
            </a:r>
          </a:p>
          <a:p>
            <a:r>
              <a:rPr lang="en-AU" dirty="0"/>
              <a:t>Find the data want to extract</a:t>
            </a:r>
          </a:p>
          <a:p>
            <a:r>
              <a:rPr lang="en-AU" dirty="0"/>
              <a:t>Write the code</a:t>
            </a:r>
          </a:p>
          <a:p>
            <a:r>
              <a:rPr lang="en-AU" dirty="0"/>
              <a:t>Run code and extract the data</a:t>
            </a:r>
          </a:p>
          <a:p>
            <a:r>
              <a:rPr lang="en-AU" dirty="0"/>
              <a:t>Store data in the required format</a:t>
            </a:r>
          </a:p>
        </p:txBody>
      </p:sp>
    </p:spTree>
    <p:extLst>
      <p:ext uri="{BB962C8B-B14F-4D97-AF65-F5344CB8AC3E}">
        <p14:creationId xmlns:p14="http://schemas.microsoft.com/office/powerpoint/2010/main" val="416816424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BCD5-46A8-A84F-A8E3-BEF997EF8691}"/>
              </a:ext>
            </a:extLst>
          </p:cNvPr>
          <p:cNvSpPr>
            <a:spLocks noGrp="1"/>
          </p:cNvSpPr>
          <p:nvPr>
            <p:ph type="title"/>
          </p:nvPr>
        </p:nvSpPr>
        <p:spPr/>
        <p:txBody>
          <a:bodyPr/>
          <a:lstStyle/>
          <a:p>
            <a:r>
              <a:rPr lang="en-AU" dirty="0"/>
              <a:t>Libraries</a:t>
            </a:r>
          </a:p>
        </p:txBody>
      </p:sp>
      <p:sp>
        <p:nvSpPr>
          <p:cNvPr id="3" name="Text Placeholder 2">
            <a:extLst>
              <a:ext uri="{FF2B5EF4-FFF2-40B4-BE49-F238E27FC236}">
                <a16:creationId xmlns:a16="http://schemas.microsoft.com/office/drawing/2014/main" id="{ACA04ACC-F17E-8543-A201-61B6E537CBFE}"/>
              </a:ext>
            </a:extLst>
          </p:cNvPr>
          <p:cNvSpPr>
            <a:spLocks noGrp="1"/>
          </p:cNvSpPr>
          <p:nvPr>
            <p:ph type="body" idx="1"/>
          </p:nvPr>
        </p:nvSpPr>
        <p:spPr/>
        <p:txBody>
          <a:bodyPr/>
          <a:lstStyle/>
          <a:p>
            <a:r>
              <a:rPr lang="en-AU" dirty="0"/>
              <a:t>Selenium – automate browser activities</a:t>
            </a:r>
          </a:p>
          <a:p>
            <a:r>
              <a:rPr lang="en-AU" dirty="0" err="1"/>
              <a:t>BeautifulSoup</a:t>
            </a:r>
            <a:r>
              <a:rPr lang="en-AU" dirty="0"/>
              <a:t> – parsing HTML and XML documents</a:t>
            </a:r>
          </a:p>
          <a:p>
            <a:r>
              <a:rPr lang="en-AU" dirty="0"/>
              <a:t>Requests – make HTTP request simpler</a:t>
            </a:r>
          </a:p>
        </p:txBody>
      </p:sp>
    </p:spTree>
    <p:extLst>
      <p:ext uri="{BB962C8B-B14F-4D97-AF65-F5344CB8AC3E}">
        <p14:creationId xmlns:p14="http://schemas.microsoft.com/office/powerpoint/2010/main" val="168214517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5157-CCE7-4642-A7C1-46E45ED363B7}"/>
              </a:ext>
            </a:extLst>
          </p:cNvPr>
          <p:cNvSpPr>
            <a:spLocks noGrp="1"/>
          </p:cNvSpPr>
          <p:nvPr>
            <p:ph type="title"/>
          </p:nvPr>
        </p:nvSpPr>
        <p:spPr/>
        <p:txBody>
          <a:bodyPr/>
          <a:lstStyle/>
          <a:p>
            <a:r>
              <a:rPr lang="en-AU" dirty="0"/>
              <a:t>Anatomy of URL</a:t>
            </a:r>
          </a:p>
        </p:txBody>
      </p:sp>
      <p:sp>
        <p:nvSpPr>
          <p:cNvPr id="3" name="Text Placeholder 2">
            <a:extLst>
              <a:ext uri="{FF2B5EF4-FFF2-40B4-BE49-F238E27FC236}">
                <a16:creationId xmlns:a16="http://schemas.microsoft.com/office/drawing/2014/main" id="{1F29A624-3A60-F749-A060-5DD8F5542C80}"/>
              </a:ext>
            </a:extLst>
          </p:cNvPr>
          <p:cNvSpPr>
            <a:spLocks noGrp="1"/>
          </p:cNvSpPr>
          <p:nvPr>
            <p:ph type="body" idx="1"/>
          </p:nvPr>
        </p:nvSpPr>
        <p:spPr/>
        <p:txBody>
          <a:bodyPr>
            <a:normAutofit/>
          </a:bodyPr>
          <a:lstStyle/>
          <a:p>
            <a:r>
              <a:rPr lang="en-AU" dirty="0"/>
              <a:t>Scheme</a:t>
            </a:r>
          </a:p>
          <a:p>
            <a:pPr lvl="1"/>
            <a:r>
              <a:rPr lang="en-AU" b="1" dirty="0"/>
              <a:t>https</a:t>
            </a:r>
            <a:r>
              <a:rPr lang="en-AU" dirty="0"/>
              <a:t>://</a:t>
            </a:r>
            <a:r>
              <a:rPr lang="en-AU" dirty="0" err="1"/>
              <a:t>developer.mozilla.org</a:t>
            </a:r>
            <a:endParaRPr lang="en-AU" b="1" dirty="0"/>
          </a:p>
          <a:p>
            <a:r>
              <a:rPr lang="en-AU" dirty="0"/>
              <a:t>Domain</a:t>
            </a:r>
          </a:p>
          <a:p>
            <a:pPr lvl="1"/>
            <a:r>
              <a:rPr lang="en-AU" dirty="0"/>
              <a:t>https://</a:t>
            </a:r>
            <a:r>
              <a:rPr lang="en-AU" b="1" dirty="0" err="1"/>
              <a:t>developer.mozilla.org</a:t>
            </a:r>
            <a:r>
              <a:rPr lang="en-AU" dirty="0"/>
              <a:t>/</a:t>
            </a:r>
            <a:r>
              <a:rPr lang="en-AU" dirty="0" err="1"/>
              <a:t>en</a:t>
            </a:r>
            <a:r>
              <a:rPr lang="en-AU" dirty="0"/>
              <a:t>-US/docs/Learn/</a:t>
            </a:r>
          </a:p>
          <a:p>
            <a:r>
              <a:rPr lang="en-AU" dirty="0"/>
              <a:t>Path</a:t>
            </a:r>
          </a:p>
          <a:p>
            <a:pPr lvl="1"/>
            <a:r>
              <a:rPr lang="en-AU" dirty="0"/>
              <a:t>https://</a:t>
            </a:r>
            <a:r>
              <a:rPr lang="en-AU" dirty="0" err="1"/>
              <a:t>developer.mozilla.org</a:t>
            </a:r>
            <a:r>
              <a:rPr lang="en-AU" b="1" dirty="0"/>
              <a:t>/</a:t>
            </a:r>
            <a:r>
              <a:rPr lang="en-AU" b="1" dirty="0" err="1"/>
              <a:t>en</a:t>
            </a:r>
            <a:r>
              <a:rPr lang="en-AU" b="1" dirty="0"/>
              <a:t>-US/docs/Learn/</a:t>
            </a:r>
            <a:endParaRPr lang="en-AU" dirty="0"/>
          </a:p>
          <a:p>
            <a:r>
              <a:rPr lang="en-AU" dirty="0"/>
              <a:t>Parameters</a:t>
            </a:r>
          </a:p>
          <a:p>
            <a:pPr lvl="1"/>
            <a:r>
              <a:rPr lang="en-AU" dirty="0"/>
              <a:t>https://</a:t>
            </a:r>
            <a:r>
              <a:rPr lang="en-AU" dirty="0" err="1"/>
              <a:t>developer.mozilla.org</a:t>
            </a:r>
            <a:r>
              <a:rPr lang="en-AU" dirty="0"/>
              <a:t>/</a:t>
            </a:r>
            <a:r>
              <a:rPr lang="en-AU" dirty="0" err="1"/>
              <a:t>en</a:t>
            </a:r>
            <a:r>
              <a:rPr lang="en-AU" dirty="0"/>
              <a:t>-US/</a:t>
            </a:r>
            <a:r>
              <a:rPr lang="en-AU" b="1" dirty="0" err="1"/>
              <a:t>search?q</a:t>
            </a:r>
            <a:r>
              <a:rPr lang="en-AU" b="1" dirty="0"/>
              <a:t>=URL</a:t>
            </a:r>
          </a:p>
        </p:txBody>
      </p:sp>
    </p:spTree>
    <p:extLst>
      <p:ext uri="{BB962C8B-B14F-4D97-AF65-F5344CB8AC3E}">
        <p14:creationId xmlns:p14="http://schemas.microsoft.com/office/powerpoint/2010/main" val="108368260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5157-CCE7-4642-A7C1-46E45ED363B7}"/>
              </a:ext>
            </a:extLst>
          </p:cNvPr>
          <p:cNvSpPr>
            <a:spLocks noGrp="1"/>
          </p:cNvSpPr>
          <p:nvPr>
            <p:ph type="title"/>
          </p:nvPr>
        </p:nvSpPr>
        <p:spPr/>
        <p:txBody>
          <a:bodyPr/>
          <a:lstStyle/>
          <a:p>
            <a:r>
              <a:rPr lang="en-AU" dirty="0"/>
              <a:t>HTML Tags</a:t>
            </a:r>
          </a:p>
        </p:txBody>
      </p:sp>
      <p:sp>
        <p:nvSpPr>
          <p:cNvPr id="3" name="Text Placeholder 2">
            <a:extLst>
              <a:ext uri="{FF2B5EF4-FFF2-40B4-BE49-F238E27FC236}">
                <a16:creationId xmlns:a16="http://schemas.microsoft.com/office/drawing/2014/main" id="{1F29A624-3A60-F749-A060-5DD8F5542C80}"/>
              </a:ext>
            </a:extLst>
          </p:cNvPr>
          <p:cNvSpPr>
            <a:spLocks noGrp="1"/>
          </p:cNvSpPr>
          <p:nvPr>
            <p:ph type="body" idx="1"/>
          </p:nvPr>
        </p:nvSpPr>
        <p:spPr/>
        <p:txBody>
          <a:bodyPr>
            <a:normAutofit fontScale="92500" lnSpcReduction="10000"/>
          </a:bodyPr>
          <a:lstStyle/>
          <a:p>
            <a:pPr marL="0" indent="0">
              <a:buNone/>
            </a:pP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!DOCTYPE</a:t>
            </a:r>
            <a:r>
              <a:rPr lang="en-AU" dirty="0">
                <a:solidFill>
                  <a:srgbClr val="FF0000"/>
                </a:solidFill>
                <a:latin typeface="Consolas" panose="020B0609020204030204" pitchFamily="49" charset="0"/>
              </a:rPr>
              <a:t> html</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html</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head</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title</a:t>
            </a:r>
            <a:r>
              <a:rPr lang="en-AU" dirty="0">
                <a:solidFill>
                  <a:srgbClr val="0000CD"/>
                </a:solidFill>
                <a:latin typeface="Consolas" panose="020B0609020204030204" pitchFamily="49" charset="0"/>
              </a:rPr>
              <a:t>&gt;</a:t>
            </a:r>
            <a:r>
              <a:rPr lang="en-AU" dirty="0">
                <a:solidFill>
                  <a:srgbClr val="000000"/>
                </a:solidFill>
                <a:latin typeface="Consolas" panose="020B0609020204030204" pitchFamily="49" charset="0"/>
              </a:rPr>
              <a:t>Page Title</a:t>
            </a: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/title</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/head</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body</a:t>
            </a:r>
            <a:r>
              <a:rPr lang="en-AU" dirty="0">
                <a:solidFill>
                  <a:srgbClr val="0000CD"/>
                </a:solidFill>
                <a:latin typeface="Consolas" panose="020B0609020204030204" pitchFamily="49" charset="0"/>
              </a:rPr>
              <a:t>&gt;</a:t>
            </a:r>
            <a:br>
              <a:rPr lang="en-AU" dirty="0"/>
            </a:b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h1</a:t>
            </a:r>
            <a:r>
              <a:rPr lang="en-AU" dirty="0">
                <a:solidFill>
                  <a:srgbClr val="0000CD"/>
                </a:solidFill>
                <a:latin typeface="Consolas" panose="020B0609020204030204" pitchFamily="49" charset="0"/>
              </a:rPr>
              <a:t>&gt;</a:t>
            </a:r>
            <a:r>
              <a:rPr lang="en-AU" dirty="0">
                <a:solidFill>
                  <a:srgbClr val="000000"/>
                </a:solidFill>
                <a:latin typeface="Consolas" panose="020B0609020204030204" pitchFamily="49" charset="0"/>
              </a:rPr>
              <a:t>This is a Heading</a:t>
            </a: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/h1</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p</a:t>
            </a:r>
            <a:r>
              <a:rPr lang="en-AU" dirty="0">
                <a:solidFill>
                  <a:srgbClr val="0000CD"/>
                </a:solidFill>
                <a:latin typeface="Consolas" panose="020B0609020204030204" pitchFamily="49" charset="0"/>
              </a:rPr>
              <a:t>&gt;</a:t>
            </a:r>
            <a:r>
              <a:rPr lang="en-AU" dirty="0">
                <a:solidFill>
                  <a:srgbClr val="000000"/>
                </a:solidFill>
                <a:latin typeface="Consolas" panose="020B0609020204030204" pitchFamily="49" charset="0"/>
              </a:rPr>
              <a:t>This is a paragraph.</a:t>
            </a: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/p</a:t>
            </a:r>
            <a:r>
              <a:rPr lang="en-AU" dirty="0">
                <a:solidFill>
                  <a:srgbClr val="0000CD"/>
                </a:solidFill>
                <a:latin typeface="Consolas" panose="020B0609020204030204" pitchFamily="49" charset="0"/>
              </a:rPr>
              <a:t>&gt;</a:t>
            </a:r>
            <a:br>
              <a:rPr lang="en-AU" dirty="0"/>
            </a:b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/body</a:t>
            </a:r>
            <a:r>
              <a:rPr lang="en-AU" dirty="0">
                <a:solidFill>
                  <a:srgbClr val="0000CD"/>
                </a:solidFill>
                <a:latin typeface="Consolas" panose="020B0609020204030204" pitchFamily="49" charset="0"/>
              </a:rPr>
              <a:t>&gt;</a:t>
            </a:r>
            <a:br>
              <a:rPr lang="en-AU" dirty="0"/>
            </a:br>
            <a:r>
              <a:rPr lang="en-AU" dirty="0">
                <a:solidFill>
                  <a:srgbClr val="0000CD"/>
                </a:solidFill>
                <a:latin typeface="Consolas" panose="020B0609020204030204" pitchFamily="49" charset="0"/>
              </a:rPr>
              <a:t>&lt;</a:t>
            </a:r>
            <a:r>
              <a:rPr lang="en-AU" dirty="0">
                <a:solidFill>
                  <a:srgbClr val="A52A2A"/>
                </a:solidFill>
                <a:latin typeface="Consolas" panose="020B0609020204030204" pitchFamily="49" charset="0"/>
              </a:rPr>
              <a:t>/html</a:t>
            </a:r>
            <a:r>
              <a:rPr lang="en-AU" dirty="0">
                <a:solidFill>
                  <a:srgbClr val="0000CD"/>
                </a:solidFill>
                <a:latin typeface="Consolas" panose="020B0609020204030204" pitchFamily="49" charset="0"/>
              </a:rPr>
              <a:t>&gt;</a:t>
            </a:r>
            <a:endParaRPr lang="en-AU" b="1" dirty="0"/>
          </a:p>
        </p:txBody>
      </p:sp>
    </p:spTree>
    <p:extLst>
      <p:ext uri="{BB962C8B-B14F-4D97-AF65-F5344CB8AC3E}">
        <p14:creationId xmlns:p14="http://schemas.microsoft.com/office/powerpoint/2010/main" val="250067538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F1B-0AF7-7F4E-9175-DF56B1289355}"/>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CB17CEA4-7A87-6C43-97E8-9E4E608E6AF3}"/>
              </a:ext>
            </a:extLst>
          </p:cNvPr>
          <p:cNvSpPr>
            <a:spLocks noGrp="1"/>
          </p:cNvSpPr>
          <p:nvPr>
            <p:ph type="body" idx="1"/>
          </p:nvPr>
        </p:nvSpPr>
        <p:spPr/>
        <p:txBody>
          <a:bodyPr/>
          <a:lstStyle/>
          <a:p>
            <a:r>
              <a:rPr lang="en-AU" dirty="0"/>
              <a:t>Explain Download Data</a:t>
            </a:r>
          </a:p>
          <a:p>
            <a:r>
              <a:rPr lang="en-AU" dirty="0"/>
              <a:t>Understand Create Webpage</a:t>
            </a:r>
          </a:p>
          <a:p>
            <a:r>
              <a:rPr lang="en-AU" dirty="0"/>
              <a:t>Describe Web Scraping</a:t>
            </a:r>
          </a:p>
          <a:p>
            <a:endParaRPr lang="en-AU" dirty="0"/>
          </a:p>
        </p:txBody>
      </p:sp>
    </p:spTree>
    <p:extLst>
      <p:ext uri="{BB962C8B-B14F-4D97-AF65-F5344CB8AC3E}">
        <p14:creationId xmlns:p14="http://schemas.microsoft.com/office/powerpoint/2010/main" val="4135933980"/>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2442</TotalTime>
  <Words>1044</Words>
  <Application>Microsoft Macintosh PowerPoint</Application>
  <PresentationFormat>On-screen Show (4:3)</PresentationFormat>
  <Paragraphs>120</Paragraphs>
  <Slides>18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Consolas</vt:lpstr>
      <vt:lpstr>Courier</vt:lpstr>
      <vt:lpstr>Helvetica</vt:lpstr>
      <vt:lpstr>Wingdings</vt:lpstr>
      <vt:lpstr>curtin2010-PP2003</vt:lpstr>
      <vt:lpstr>Using the Web</vt:lpstr>
      <vt:lpstr>PowerPoint Presentation</vt:lpstr>
      <vt:lpstr>PowerPoint Presentation</vt:lpstr>
      <vt:lpstr>Today</vt:lpstr>
      <vt:lpstr>urllib.request.urlretrieve </vt:lpstr>
      <vt:lpstr>requests.get + manual save </vt:lpstr>
      <vt:lpstr>wget.download </vt:lpstr>
      <vt:lpstr>Website Development</vt:lpstr>
      <vt:lpstr>PowerPoint Presentation</vt:lpstr>
      <vt:lpstr>What is Web Scraping</vt:lpstr>
      <vt:lpstr>Why is Web Scraping Used?</vt:lpstr>
      <vt:lpstr>Is Web Scraping Legal?</vt:lpstr>
      <vt:lpstr>Is Python Good for Web Scraping</vt:lpstr>
      <vt:lpstr>How Scrape</vt:lpstr>
      <vt:lpstr>Libraries</vt:lpstr>
      <vt:lpstr>Anatomy of URL</vt:lpstr>
      <vt:lpstr>HTML Tags</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61</cp:revision>
  <cp:lastPrinted>2022-04-26T11:56:50Z</cp:lastPrinted>
  <dcterms:modified xsi:type="dcterms:W3CDTF">2022-04-26T12:06:08Z</dcterms:modified>
</cp:coreProperties>
</file>