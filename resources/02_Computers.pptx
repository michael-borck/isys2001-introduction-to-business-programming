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60" r:id="rId5"/>
    <p:sldId id="267" r:id="rId6"/>
    <p:sldId id="276" r:id="rId7"/>
    <p:sldId id="270" r:id="rId8"/>
    <p:sldId id="272" r:id="rId9"/>
    <p:sldId id="277" r:id="rId1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586"/>
    <p:restoredTop sz="67211"/>
  </p:normalViewPr>
  <p:slideViewPr>
    <p:cSldViewPr snapToGrid="0" snapToObjects="1">
      <p:cViewPr varScale="1">
        <p:scale>
          <a:sx n="84" d="100"/>
          <a:sy n="84" d="100"/>
        </p:scale>
        <p:origin x="22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ASP.NET"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endParaRPr/>
          </a:p>
        </p:txBody>
      </p:sp>
      <p:sp>
        <p:nvSpPr>
          <p:cNvPr id="225" name="Shape 225"/>
          <p:cNvSpPr>
            <a:spLocks noGrp="1"/>
          </p:cNvSpPr>
          <p:nvPr>
            <p:ph type="body" sz="quarter" idx="1"/>
          </p:nvPr>
        </p:nvSpPr>
        <p:spPr>
          <a:prstGeom prst="rect">
            <a:avLst/>
          </a:prstGeom>
        </p:spPr>
        <p:txBody>
          <a:bodyPr/>
          <a:lstStyle/>
          <a:p>
            <a:pPr>
              <a:defRPr>
                <a:latin typeface="Calibri"/>
                <a:ea typeface="Calibri"/>
                <a:cs typeface="Calibri"/>
                <a:sym typeface="Calibri"/>
              </a:defRPr>
            </a:pPr>
            <a:r>
              <a:t>Hardware refers to all physical devices</a:t>
            </a:r>
          </a:p>
          <a:p>
            <a:pPr>
              <a:defRPr>
                <a:latin typeface="Calibri"/>
                <a:ea typeface="Calibri"/>
                <a:cs typeface="Calibri"/>
                <a:sym typeface="Calibri"/>
              </a:defRPr>
            </a:pPr>
            <a:r>
              <a:t>A computer consists of many pieces of hardware that all work together</a:t>
            </a:r>
          </a:p>
          <a:p>
            <a:pPr>
              <a:defRPr>
                <a:latin typeface="Calibri"/>
                <a:ea typeface="Calibri"/>
                <a:cs typeface="Calibri"/>
                <a:sym typeface="Calibri"/>
              </a:defRPr>
            </a:pPr>
            <a:r>
              <a:t>Each piece of hardware does its own work</a:t>
            </a:r>
          </a:p>
          <a:p>
            <a:pPr>
              <a:defRPr>
                <a:latin typeface="Calibri"/>
                <a:ea typeface="Calibri"/>
                <a:cs typeface="Calibri"/>
                <a:sym typeface="Calibri"/>
              </a:defRPr>
            </a:pPr>
            <a:r>
              <a:t>A typical computer system contains:</a:t>
            </a:r>
          </a:p>
          <a:p>
            <a:pPr>
              <a:defRPr>
                <a:latin typeface="Calibri"/>
                <a:ea typeface="Calibri"/>
                <a:cs typeface="Calibri"/>
                <a:sym typeface="Calibri"/>
              </a:defRPr>
            </a:pPr>
            <a:r>
              <a:t>The CPU</a:t>
            </a:r>
          </a:p>
          <a:p>
            <a:pPr>
              <a:defRPr>
                <a:latin typeface="Calibri"/>
                <a:ea typeface="Calibri"/>
                <a:cs typeface="Calibri"/>
                <a:sym typeface="Calibri"/>
              </a:defRPr>
            </a:pPr>
            <a:r>
              <a:t>Main memory</a:t>
            </a:r>
          </a:p>
          <a:p>
            <a:pPr>
              <a:defRPr>
                <a:latin typeface="Calibri"/>
                <a:ea typeface="Calibri"/>
                <a:cs typeface="Calibri"/>
                <a:sym typeface="Calibri"/>
              </a:defRPr>
            </a:pPr>
            <a:r>
              <a:t>Secondary storage devices</a:t>
            </a:r>
          </a:p>
          <a:p>
            <a:pPr>
              <a:defRPr>
                <a:latin typeface="Calibri"/>
                <a:ea typeface="Calibri"/>
                <a:cs typeface="Calibri"/>
                <a:sym typeface="Calibri"/>
              </a:defRPr>
            </a:pPr>
            <a:r>
              <a:t>Input devices</a:t>
            </a:r>
          </a:p>
          <a:p>
            <a:pPr>
              <a:defRPr>
                <a:latin typeface="Calibri"/>
                <a:ea typeface="Calibri"/>
                <a:cs typeface="Calibri"/>
                <a:sym typeface="Calibri"/>
              </a:defRPr>
            </a:pPr>
            <a:r>
              <a:t>Output devices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prstGeom prst="rect">
            <a:avLst/>
          </a:prstGeom>
        </p:spPr>
        <p:txBody>
          <a:bodyPr/>
          <a:lstStyle/>
          <a:p>
            <a:endParaRPr/>
          </a:p>
        </p:txBody>
      </p:sp>
      <p:sp>
        <p:nvSpPr>
          <p:cNvPr id="272" name="Shape 272"/>
          <p:cNvSpPr>
            <a:spLocks noGrp="1"/>
          </p:cNvSpPr>
          <p:nvPr>
            <p:ph type="body" sz="quarter" idx="1"/>
          </p:nvPr>
        </p:nvSpPr>
        <p:spPr>
          <a:prstGeom prst="rect">
            <a:avLst/>
          </a:prstGeom>
        </p:spPr>
        <p:txBody>
          <a:bodyPr/>
          <a:lstStyle/>
          <a:p>
            <a:pPr>
              <a:defRPr>
                <a:latin typeface="Calibri"/>
                <a:ea typeface="Calibri"/>
                <a:cs typeface="Calibri"/>
                <a:sym typeface="Calibri"/>
              </a:defRPr>
            </a:pPr>
            <a:r>
              <a:t>“Digital” refers to anything that can only have two possible values</a:t>
            </a:r>
          </a:p>
          <a:p>
            <a:pPr>
              <a:defRPr>
                <a:latin typeface="Calibri"/>
                <a:ea typeface="Calibri"/>
                <a:cs typeface="Calibri"/>
                <a:sym typeface="Calibri"/>
              </a:defRPr>
            </a:pPr>
            <a:r>
              <a:t>Digital data is the data that is stored in binary.</a:t>
            </a:r>
          </a:p>
          <a:p>
            <a:pPr>
              <a:defRPr>
                <a:latin typeface="Calibri"/>
                <a:ea typeface="Calibri"/>
                <a:cs typeface="Calibri"/>
                <a:sym typeface="Calibri"/>
              </a:defRPr>
            </a:pPr>
            <a:r>
              <a:t>Digital devices are devices that work with binary data</a:t>
            </a:r>
          </a:p>
          <a:p>
            <a:pPr>
              <a:defRPr>
                <a:latin typeface="Calibri"/>
                <a:ea typeface="Calibri"/>
                <a:cs typeface="Calibri"/>
                <a:sym typeface="Calibri"/>
              </a:defRPr>
            </a:pPr>
            <a:r>
              <a:t>Computers are digital devices</a:t>
            </a:r>
          </a:p>
          <a:p>
            <a:pPr>
              <a:defRPr>
                <a:latin typeface="Calibri"/>
                <a:ea typeface="Calibri"/>
                <a:cs typeface="Calibri"/>
                <a:sym typeface="Calibri"/>
              </a:defRPr>
            </a:pPr>
            <a:endParaRPr/>
          </a:p>
          <a:p>
            <a:pPr>
              <a:defRPr>
                <a:latin typeface="Calibri"/>
                <a:ea typeface="Calibri"/>
                <a:cs typeface="Calibri"/>
                <a:sym typeface="Calibri"/>
              </a:defRPr>
            </a:pPr>
            <a:r>
              <a:t>All data stored in a computer is converted to sequence of 0s and 1s; each sequence is called a bit</a:t>
            </a:r>
          </a:p>
          <a:p>
            <a:pPr>
              <a:defRPr>
                <a:latin typeface="Calibri"/>
                <a:ea typeface="Calibri"/>
                <a:cs typeface="Calibri"/>
                <a:sym typeface="Calibri"/>
              </a:defRPr>
            </a:pPr>
            <a:r>
              <a:t>A computer’s memory is divided into tiny storage locations called bytes</a:t>
            </a:r>
          </a:p>
          <a:p>
            <a:pPr>
              <a:defRPr>
                <a:latin typeface="Calibri"/>
                <a:ea typeface="Calibri"/>
                <a:cs typeface="Calibri"/>
                <a:sym typeface="Calibri"/>
              </a:defRPr>
            </a:pPr>
            <a:r>
              <a:t>Eight bits make a byte</a:t>
            </a:r>
          </a:p>
          <a:p>
            <a:pPr>
              <a:defRPr>
                <a:latin typeface="Calibri"/>
                <a:ea typeface="Calibri"/>
                <a:cs typeface="Calibri"/>
                <a:sym typeface="Calibri"/>
              </a:defRPr>
            </a:pPr>
            <a:r>
              <a:t>Combinations of bits, 0s and 1s, are used to represent characters. For example,</a:t>
            </a:r>
          </a:p>
          <a:p>
            <a:pPr>
              <a:defRPr>
                <a:latin typeface="Calibri"/>
                <a:ea typeface="Calibri"/>
                <a:cs typeface="Calibri"/>
                <a:sym typeface="Calibri"/>
              </a:defRPr>
            </a:pPr>
            <a:r>
              <a:t>The character ‘A’ is 65 in ASCII code, which is converted to binary format 1000001</a:t>
            </a:r>
          </a:p>
          <a:p>
            <a:pPr>
              <a:defRPr>
                <a:latin typeface="Calibri"/>
                <a:ea typeface="Calibri"/>
                <a:cs typeface="Calibri"/>
                <a:sym typeface="Calibri"/>
              </a:defRPr>
            </a:pPr>
            <a:r>
              <a:t>When you press ‘A’, 1000001 will be stored in computer’s memory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a:spLocks noGrp="1" noRot="1" noChangeAspect="1"/>
          </p:cNvSpPr>
          <p:nvPr>
            <p:ph type="sldImg"/>
          </p:nvPr>
        </p:nvSpPr>
        <p:spPr>
          <a:prstGeom prst="rect">
            <a:avLst/>
          </a:prstGeom>
        </p:spPr>
        <p:txBody>
          <a:bodyPr/>
          <a:lstStyle/>
          <a:p>
            <a:endParaRPr/>
          </a:p>
        </p:txBody>
      </p:sp>
      <p:sp>
        <p:nvSpPr>
          <p:cNvPr id="280" name="Shape 280"/>
          <p:cNvSpPr>
            <a:spLocks noGrp="1"/>
          </p:cNvSpPr>
          <p:nvPr>
            <p:ph type="body" sz="quarter" idx="1"/>
          </p:nvPr>
        </p:nvSpPr>
        <p:spPr>
          <a:prstGeom prst="rect">
            <a:avLst/>
          </a:prstGeom>
        </p:spPr>
        <p:txBody>
          <a:bodyPr/>
          <a:lstStyle/>
          <a:p>
            <a:pPr>
              <a:defRPr>
                <a:latin typeface="Calibri"/>
                <a:ea typeface="Calibri"/>
                <a:cs typeface="Calibri"/>
                <a:sym typeface="Calibri"/>
              </a:defRPr>
            </a:pPr>
            <a:r>
              <a:t>CPU reads instructions written in machine language called instruction set</a:t>
            </a:r>
          </a:p>
          <a:p>
            <a:pPr>
              <a:defRPr>
                <a:latin typeface="Calibri"/>
                <a:ea typeface="Calibri"/>
                <a:cs typeface="Calibri"/>
                <a:sym typeface="Calibri"/>
              </a:defRPr>
            </a:pPr>
            <a:r>
              <a:t>A program will be copied into memory for CPU to execute</a:t>
            </a:r>
          </a:p>
          <a:p>
            <a:pPr>
              <a:defRPr>
                <a:latin typeface="Calibri"/>
                <a:ea typeface="Calibri"/>
                <a:cs typeface="Calibri"/>
                <a:sym typeface="Calibri"/>
              </a:defRPr>
            </a:pPr>
            <a:r>
              <a:t>CPU uses the “fetch-decode-execute” cycle for processing</a:t>
            </a:r>
          </a:p>
          <a:p>
            <a:pPr>
              <a:defRPr>
                <a:latin typeface="Calibri"/>
                <a:ea typeface="Calibri"/>
                <a:cs typeface="Calibri"/>
                <a:sym typeface="Calibri"/>
              </a:defRPr>
            </a:pPr>
            <a:r>
              <a:t>Fetch: Reads instructions from memory</a:t>
            </a:r>
          </a:p>
          <a:p>
            <a:pPr>
              <a:defRPr>
                <a:latin typeface="Calibri"/>
                <a:ea typeface="Calibri"/>
                <a:cs typeface="Calibri"/>
                <a:sym typeface="Calibri"/>
              </a:defRPr>
            </a:pPr>
            <a:r>
              <a:t>Decode: Decodes the instructions that were just read to determine how to perform operations</a:t>
            </a:r>
          </a:p>
          <a:p>
            <a:pPr>
              <a:defRPr>
                <a:latin typeface="Calibri"/>
                <a:ea typeface="Calibri"/>
                <a:cs typeface="Calibri"/>
                <a:sym typeface="Calibri"/>
              </a:defRPr>
            </a:pPr>
            <a:r>
              <a:t>Execute: Actually performs the operations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284"/>
          <p:cNvSpPr>
            <a:spLocks noGrp="1" noRot="1" noChangeAspect="1"/>
          </p:cNvSpPr>
          <p:nvPr>
            <p:ph type="sldImg"/>
          </p:nvPr>
        </p:nvSpPr>
        <p:spPr>
          <a:prstGeom prst="rect">
            <a:avLst/>
          </a:prstGeom>
        </p:spPr>
        <p:txBody>
          <a:bodyPr/>
          <a:lstStyle/>
          <a:p>
            <a:endParaRPr/>
          </a:p>
        </p:txBody>
      </p:sp>
      <p:sp>
        <p:nvSpPr>
          <p:cNvPr id="285" name="Shape 285"/>
          <p:cNvSpPr>
            <a:spLocks noGrp="1"/>
          </p:cNvSpPr>
          <p:nvPr>
            <p:ph type="body" sz="quarter" idx="1"/>
          </p:nvPr>
        </p:nvSpPr>
        <p:spPr>
          <a:prstGeom prst="rect">
            <a:avLst/>
          </a:prstGeom>
        </p:spPr>
        <p:txBody>
          <a:bodyPr/>
          <a:lstStyle/>
          <a:p>
            <a:pPr>
              <a:defRPr>
                <a:latin typeface="Calibri"/>
                <a:ea typeface="Calibri"/>
                <a:cs typeface="Calibri"/>
                <a:sym typeface="Calibri"/>
              </a:defRPr>
            </a:pPr>
            <a:r>
              <a:rPr lang="en-AU" dirty="0"/>
              <a:t>These code segments </a:t>
            </a:r>
            <a:r>
              <a:rPr lang="en-AU" b="1" dirty="0"/>
              <a:t>do the same thing!</a:t>
            </a:r>
          </a:p>
          <a:p>
            <a:pPr>
              <a:defRPr>
                <a:latin typeface="Calibri"/>
                <a:ea typeface="Calibri"/>
                <a:cs typeface="Calibri"/>
                <a:sym typeface="Calibri"/>
              </a:defRPr>
            </a:pPr>
            <a:endParaRPr lang="en-AU" dirty="0"/>
          </a:p>
          <a:p>
            <a:pPr marL="171450" indent="-171450">
              <a:buFont typeface="Arial" panose="020B0604020202020204" pitchFamily="34" charset="0"/>
              <a:buChar char="•"/>
              <a:defRPr>
                <a:latin typeface="Calibri"/>
                <a:ea typeface="Calibri"/>
                <a:cs typeface="Calibri"/>
                <a:sym typeface="Calibri"/>
              </a:defRPr>
            </a:pPr>
            <a:r>
              <a:rPr lang="en-AU" dirty="0"/>
              <a:t>Notice same number of line for Machine Code and Assembly.</a:t>
            </a:r>
          </a:p>
          <a:p>
            <a:pPr marL="171450" indent="-171450">
              <a:buFont typeface="Arial" panose="020B0604020202020204" pitchFamily="34" charset="0"/>
              <a:buChar char="•"/>
              <a:defRPr>
                <a:latin typeface="Calibri"/>
                <a:ea typeface="Calibri"/>
                <a:cs typeface="Calibri"/>
                <a:sym typeface="Calibri"/>
              </a:defRPr>
            </a:pPr>
            <a:r>
              <a:rPr lang="en-AU" dirty="0"/>
              <a:t>Notice the high-level language one line, easier to read.</a:t>
            </a:r>
          </a:p>
          <a:p>
            <a:pPr>
              <a:defRPr>
                <a:latin typeface="Calibri"/>
                <a:ea typeface="Calibri"/>
                <a:cs typeface="Calibri"/>
                <a:sym typeface="Calibri"/>
              </a:defRPr>
            </a:pPr>
            <a:endParaRPr lang="en-AU" dirty="0"/>
          </a:p>
          <a:p>
            <a:pPr>
              <a:defRPr>
                <a:latin typeface="Calibri"/>
                <a:ea typeface="Calibri"/>
                <a:cs typeface="Calibri"/>
                <a:sym typeface="Calibri"/>
              </a:defRPr>
            </a:pPr>
            <a:r>
              <a:rPr dirty="0"/>
              <a:t>Machine languages: sequences of 0s and 1s</a:t>
            </a:r>
          </a:p>
          <a:p>
            <a:pPr>
              <a:defRPr>
                <a:latin typeface="Calibri"/>
                <a:ea typeface="Calibri"/>
                <a:cs typeface="Calibri"/>
                <a:sym typeface="Calibri"/>
              </a:defRPr>
            </a:pPr>
            <a:endParaRPr lang="en-AU" dirty="0"/>
          </a:p>
          <a:p>
            <a:pPr>
              <a:defRPr>
                <a:latin typeface="Calibri"/>
                <a:ea typeface="Calibri"/>
                <a:cs typeface="Calibri"/>
                <a:sym typeface="Calibri"/>
              </a:defRPr>
            </a:pPr>
            <a:r>
              <a:rPr dirty="0"/>
              <a:t>Assembly languages: use short words known as “mnemonics” to write program</a:t>
            </a:r>
            <a:r>
              <a:rPr lang="en-AU" dirty="0"/>
              <a:t>.  Understand the CPU! Use </a:t>
            </a:r>
            <a:r>
              <a:rPr dirty="0"/>
              <a:t>assembler</a:t>
            </a:r>
            <a:r>
              <a:rPr lang="en-AU" dirty="0"/>
              <a:t> to convert into Machine code</a:t>
            </a:r>
          </a:p>
          <a:p>
            <a:pPr>
              <a:defRPr>
                <a:latin typeface="Calibri"/>
                <a:ea typeface="Calibri"/>
                <a:cs typeface="Calibri"/>
                <a:sym typeface="Calibri"/>
              </a:defRPr>
            </a:pPr>
            <a:endParaRPr dirty="0"/>
          </a:p>
          <a:p>
            <a:pPr>
              <a:defRPr>
                <a:latin typeface="Calibri"/>
                <a:ea typeface="Calibri"/>
                <a:cs typeface="Calibri"/>
                <a:sym typeface="Calibri"/>
              </a:defRPr>
            </a:pPr>
            <a:r>
              <a:rPr dirty="0"/>
              <a:t>High-level languages: more human readable languages that allow programmers to create programs without knowing how CPU works.</a:t>
            </a:r>
            <a:r>
              <a:rPr lang="en-AU" dirty="0"/>
              <a:t> </a:t>
            </a:r>
            <a:r>
              <a:rPr dirty="0"/>
              <a:t>Modern languages are high-level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322"/>
          <p:cNvSpPr>
            <a:spLocks noGrp="1" noRot="1" noChangeAspect="1"/>
          </p:cNvSpPr>
          <p:nvPr>
            <p:ph type="sldImg"/>
          </p:nvPr>
        </p:nvSpPr>
        <p:spPr>
          <a:prstGeom prst="rect">
            <a:avLst/>
          </a:prstGeom>
        </p:spPr>
        <p:txBody>
          <a:bodyPr/>
          <a:lstStyle/>
          <a:p>
            <a:endParaRPr/>
          </a:p>
        </p:txBody>
      </p:sp>
      <p:sp>
        <p:nvSpPr>
          <p:cNvPr id="323" name="Shape 323"/>
          <p:cNvSpPr>
            <a:spLocks noGrp="1"/>
          </p:cNvSpPr>
          <p:nvPr>
            <p:ph type="body" sz="quarter" idx="1"/>
          </p:nvPr>
        </p:nvSpPr>
        <p:spPr>
          <a:prstGeom prst="rect">
            <a:avLst/>
          </a:prstGeom>
        </p:spPr>
        <p:txBody>
          <a:bodyPr/>
          <a:lstStyle/>
          <a:p>
            <a:pPr>
              <a:defRPr>
                <a:latin typeface="Calibri"/>
                <a:ea typeface="Calibri"/>
                <a:cs typeface="Calibri"/>
                <a:sym typeface="Calibri"/>
              </a:defRPr>
            </a:pPr>
            <a:r>
              <a:rPr dirty="0"/>
              <a:t>A compiler translates a high-level language program to a separate machine program for CPU to read and execute</a:t>
            </a:r>
          </a:p>
          <a:p>
            <a:pPr>
              <a:defRPr>
                <a:latin typeface="Calibri"/>
                <a:ea typeface="Calibri"/>
                <a:cs typeface="Calibri"/>
                <a:sym typeface="Calibri"/>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latin typeface="Calibri"/>
                <a:ea typeface="Calibri"/>
                <a:cs typeface="Calibri"/>
                <a:sym typeface="Calibri"/>
              </a:defRPr>
            </a:pPr>
            <a:r>
              <a:rPr lang="en-AU" dirty="0"/>
              <a:t>An interpreter translates one </a:t>
            </a:r>
            <a:r>
              <a:rPr lang="en-AU" dirty="0" err="1"/>
              <a:t>lne</a:t>
            </a:r>
            <a:r>
              <a:rPr lang="en-AU" dirty="0"/>
              <a:t> of  a high-level language program to machine code for CPU to read and execute and then repeats the process for the next line</a:t>
            </a:r>
          </a:p>
          <a:p>
            <a:pPr>
              <a:defRPr>
                <a:latin typeface="Calibri"/>
                <a:ea typeface="Calibri"/>
                <a:cs typeface="Calibri"/>
                <a:sym typeface="Calibri"/>
              </a:defRPr>
            </a:pPr>
            <a:endParaRPr lang="en-AU" dirty="0"/>
          </a:p>
          <a:p>
            <a:pPr>
              <a:defRPr>
                <a:latin typeface="Calibri"/>
                <a:ea typeface="Calibri"/>
                <a:cs typeface="Calibri"/>
                <a:sym typeface="Calibri"/>
              </a:defRPr>
            </a:pPr>
            <a:r>
              <a:rPr dirty="0"/>
              <a:t>Source code: the statements a programmer writes in a high-level language</a:t>
            </a:r>
            <a:endParaRPr lang="en-AU" dirty="0"/>
          </a:p>
          <a:p>
            <a:pPr>
              <a:defRPr>
                <a:latin typeface="Calibri"/>
                <a:ea typeface="Calibri"/>
                <a:cs typeface="Calibri"/>
                <a:sym typeface="Calibri"/>
              </a:defRPr>
            </a:pPr>
            <a:r>
              <a:rPr dirty="0"/>
              <a:t>Compilation: translates a text-based source code to binary codes</a:t>
            </a:r>
            <a:r>
              <a:rPr lang="en-AU" dirty="0"/>
              <a:t>.  Examples include C, C++, C Sharp</a:t>
            </a:r>
          </a:p>
          <a:p>
            <a:pPr>
              <a:defRPr>
                <a:latin typeface="Calibri"/>
                <a:ea typeface="Calibri"/>
                <a:cs typeface="Calibri"/>
                <a:sym typeface="Calibri"/>
              </a:defRPr>
            </a:pPr>
            <a:endParaRPr dirty="0"/>
          </a:p>
          <a:p>
            <a:pPr>
              <a:defRPr>
                <a:latin typeface="Calibri"/>
                <a:ea typeface="Calibri"/>
                <a:cs typeface="Calibri"/>
                <a:sym typeface="Calibri"/>
              </a:defRPr>
            </a:pPr>
            <a:r>
              <a:rPr dirty="0"/>
              <a:t>Interpreter reads, translates, and executes the instructions of a high-level language program</a:t>
            </a:r>
          </a:p>
          <a:p>
            <a:pPr>
              <a:defRPr>
                <a:latin typeface="Calibri"/>
                <a:ea typeface="Calibri"/>
                <a:cs typeface="Calibri"/>
                <a:sym typeface="Calibri"/>
              </a:defRPr>
            </a:pPr>
            <a:r>
              <a:rPr dirty="0"/>
              <a:t>Examples are PHP, Perl, Python, </a:t>
            </a:r>
            <a:r>
              <a:rPr lang="en-AU" dirty="0"/>
              <a:t>etc</a:t>
            </a:r>
            <a:endParaRPr u="sng" dirty="0">
              <a:solidFill>
                <a:srgbClr val="0000FF"/>
              </a:solidFill>
              <a:uFill>
                <a:solidFill>
                  <a:srgbClr val="0000FF"/>
                </a:solidFill>
              </a:uFill>
              <a:hlinkClick r:id="rId3"/>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791865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423467"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a:t>
            </a:r>
            <a:r>
              <a:rPr sz="1000" dirty="0"/>
              <a:t> </a:t>
            </a:r>
            <a:r>
              <a:rPr lang="en-AU" sz="1000" dirty="0"/>
              <a:t>Computers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dirty="0"/>
              <a:t>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lstStyle>
            <a:lvl1pPr defTabSz="768094">
              <a:defRPr sz="3600"/>
            </a:lvl1pPr>
          </a:lstStyle>
          <a:p>
            <a:r>
              <a:rPr lang="en-AU" dirty="0"/>
              <a:t>Computers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 name="typical_compoments.tiff" descr="typical_compoments.tiff"/>
          <p:cNvPicPr>
            <a:picLocks noChangeAspect="1"/>
          </p:cNvPicPr>
          <p:nvPr/>
        </p:nvPicPr>
        <p:blipFill>
          <a:blip r:embed="rId3"/>
          <a:stretch>
            <a:fillRect/>
          </a:stretch>
        </p:blipFill>
        <p:spPr>
          <a:xfrm>
            <a:off x="3486239" y="1299075"/>
            <a:ext cx="5486912" cy="3877709"/>
          </a:xfrm>
          <a:prstGeom prst="rect">
            <a:avLst/>
          </a:prstGeom>
          <a:ln w="12700">
            <a:miter lim="400000"/>
          </a:ln>
        </p:spPr>
      </p:pic>
      <p:sp>
        <p:nvSpPr>
          <p:cNvPr id="222" name="Hardware and Software"/>
          <p:cNvSpPr txBox="1">
            <a:spLocks noGrp="1"/>
          </p:cNvSpPr>
          <p:nvPr>
            <p:ph type="title"/>
          </p:nvPr>
        </p:nvSpPr>
        <p:spPr>
          <a:xfrm>
            <a:off x="468312" y="560387"/>
            <a:ext cx="8207376" cy="996951"/>
          </a:xfrm>
          <a:prstGeom prst="rect">
            <a:avLst/>
          </a:prstGeom>
        </p:spPr>
        <p:txBody>
          <a:bodyPr/>
          <a:lstStyle/>
          <a:p>
            <a:r>
              <a:t>Hardware and Software</a:t>
            </a:r>
          </a:p>
        </p:txBody>
      </p:sp>
      <p:sp>
        <p:nvSpPr>
          <p:cNvPr id="223" name="Hardware…"/>
          <p:cNvSpPr txBox="1">
            <a:spLocks noGrp="1"/>
          </p:cNvSpPr>
          <p:nvPr>
            <p:ph type="body" idx="1"/>
          </p:nvPr>
        </p:nvSpPr>
        <p:spPr>
          <a:xfrm>
            <a:off x="469900" y="1422400"/>
            <a:ext cx="6450112" cy="4349750"/>
          </a:xfrm>
          <a:prstGeom prst="rect">
            <a:avLst/>
          </a:prstGeom>
        </p:spPr>
        <p:txBody>
          <a:bodyPr>
            <a:normAutofit lnSpcReduction="10000"/>
          </a:bodyPr>
          <a:lstStyle/>
          <a:p>
            <a:pPr marL="237363" indent="-237363" defTabSz="813816">
              <a:spcBef>
                <a:spcPts val="700"/>
              </a:spcBef>
              <a:defRPr sz="2136"/>
            </a:pPr>
            <a:r>
              <a:t>Hardware </a:t>
            </a:r>
          </a:p>
          <a:p>
            <a:pPr marL="716328" lvl="1" indent="-237363" defTabSz="813816">
              <a:spcBef>
                <a:spcPts val="700"/>
              </a:spcBef>
              <a:buSzPct val="100000"/>
              <a:buFontTx/>
              <a:buChar char="▪"/>
              <a:defRPr sz="2136"/>
            </a:pPr>
            <a:r>
              <a:t>CPU</a:t>
            </a:r>
          </a:p>
          <a:p>
            <a:pPr marL="716328" lvl="1" indent="-237363" defTabSz="813816">
              <a:spcBef>
                <a:spcPts val="700"/>
              </a:spcBef>
              <a:buSzPct val="100000"/>
              <a:buFontTx/>
              <a:buChar char="▪"/>
              <a:defRPr sz="2136"/>
            </a:pPr>
            <a:r>
              <a:t>Main Memory</a:t>
            </a:r>
          </a:p>
          <a:p>
            <a:pPr marL="716328" lvl="1" indent="-237363" defTabSz="813816">
              <a:spcBef>
                <a:spcPts val="700"/>
              </a:spcBef>
              <a:buSzPct val="100000"/>
              <a:buFontTx/>
              <a:buChar char="▪"/>
              <a:defRPr sz="2136"/>
            </a:pPr>
            <a:r>
              <a:t>Secondary Storage</a:t>
            </a:r>
          </a:p>
          <a:p>
            <a:pPr marL="716328" lvl="1" indent="-237363" defTabSz="813816">
              <a:spcBef>
                <a:spcPts val="700"/>
              </a:spcBef>
              <a:buSzPct val="100000"/>
              <a:buFontTx/>
              <a:buChar char="▪"/>
              <a:defRPr sz="2136"/>
            </a:pPr>
            <a:r>
              <a:t>Input and Output devices</a:t>
            </a:r>
          </a:p>
          <a:p>
            <a:pPr marL="237363" indent="-237363" defTabSz="813816">
              <a:spcBef>
                <a:spcPts val="700"/>
              </a:spcBef>
              <a:defRPr sz="2136"/>
            </a:pPr>
            <a:r>
              <a:t>Software</a:t>
            </a:r>
          </a:p>
          <a:p>
            <a:pPr marL="716328" lvl="1" indent="-237363" defTabSz="813816">
              <a:spcBef>
                <a:spcPts val="700"/>
              </a:spcBef>
              <a:buSzPct val="100000"/>
              <a:buFontTx/>
              <a:buChar char="▪"/>
              <a:defRPr sz="2136"/>
            </a:pPr>
            <a:r>
              <a:t>Operating systems</a:t>
            </a:r>
          </a:p>
          <a:p>
            <a:pPr marL="716328" lvl="1" indent="-237363" defTabSz="813816">
              <a:spcBef>
                <a:spcPts val="700"/>
              </a:spcBef>
              <a:buSzPct val="100000"/>
              <a:buFontTx/>
              <a:buChar char="▪"/>
              <a:defRPr sz="2136"/>
            </a:pPr>
            <a:r>
              <a:t>Utility programs</a:t>
            </a:r>
          </a:p>
          <a:p>
            <a:pPr marL="716328" lvl="1" indent="-237363" defTabSz="813816">
              <a:spcBef>
                <a:spcPts val="700"/>
              </a:spcBef>
              <a:buSzPct val="100000"/>
              <a:buFontTx/>
              <a:buChar char="▪"/>
              <a:defRPr sz="2136"/>
            </a:pPr>
            <a:r>
              <a:t>Software development tools</a:t>
            </a:r>
          </a:p>
          <a:p>
            <a:pPr marL="716328" lvl="1" indent="-237363" defTabSz="813816">
              <a:spcBef>
                <a:spcPts val="700"/>
              </a:spcBef>
              <a:buSzPct val="100000"/>
              <a:buFontTx/>
              <a:buChar char="▪"/>
              <a:defRPr sz="2136"/>
            </a:pPr>
            <a:r>
              <a:t>Applications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How Computers Store Data"/>
          <p:cNvSpPr txBox="1">
            <a:spLocks noGrp="1"/>
          </p:cNvSpPr>
          <p:nvPr>
            <p:ph type="title"/>
          </p:nvPr>
        </p:nvSpPr>
        <p:spPr>
          <a:xfrm>
            <a:off x="468312" y="560387"/>
            <a:ext cx="8207376" cy="996951"/>
          </a:xfrm>
          <a:prstGeom prst="rect">
            <a:avLst/>
          </a:prstGeom>
        </p:spPr>
        <p:txBody>
          <a:bodyPr/>
          <a:lstStyle/>
          <a:p>
            <a:r>
              <a:t>How Computers Store Data</a:t>
            </a:r>
          </a:p>
        </p:txBody>
      </p:sp>
      <p:sp>
        <p:nvSpPr>
          <p:cNvPr id="247" name="Rectangle"/>
          <p:cNvSpPr/>
          <p:nvPr/>
        </p:nvSpPr>
        <p:spPr>
          <a:xfrm>
            <a:off x="443335"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48" name="Rectangle"/>
          <p:cNvSpPr/>
          <p:nvPr/>
        </p:nvSpPr>
        <p:spPr>
          <a:xfrm>
            <a:off x="2542518"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49" name="Rectangle"/>
          <p:cNvSpPr/>
          <p:nvPr/>
        </p:nvSpPr>
        <p:spPr>
          <a:xfrm>
            <a:off x="3592109"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0" name="Rectangle"/>
          <p:cNvSpPr/>
          <p:nvPr/>
        </p:nvSpPr>
        <p:spPr>
          <a:xfrm>
            <a:off x="4641700"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1" name="Rectangle"/>
          <p:cNvSpPr/>
          <p:nvPr/>
        </p:nvSpPr>
        <p:spPr>
          <a:xfrm>
            <a:off x="5691291"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2" name="Rectangle"/>
          <p:cNvSpPr/>
          <p:nvPr/>
        </p:nvSpPr>
        <p:spPr>
          <a:xfrm>
            <a:off x="6740883"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3" name="Rectangle"/>
          <p:cNvSpPr/>
          <p:nvPr/>
        </p:nvSpPr>
        <p:spPr>
          <a:xfrm>
            <a:off x="7790474" y="2342505"/>
            <a:ext cx="997856" cy="964126"/>
          </a:xfrm>
          <a:prstGeom prst="rect">
            <a:avLst/>
          </a:prstGeom>
          <a:solidFill>
            <a:srgbClr val="FFFFFF"/>
          </a:solidFill>
          <a:ln w="25400">
            <a:solidFill>
              <a:schemeClr val="accent1"/>
            </a:solidFill>
          </a:ln>
          <a:effectLst>
            <a:outerShdw blurRad="38100" dist="23000" dir="5400000" rotWithShape="0">
              <a:srgbClr val="000000">
                <a:alpha val="35000"/>
              </a:srgbClr>
            </a:outerShdw>
          </a:effectLst>
        </p:spPr>
        <p:txBody>
          <a:bodyPr lIns="45718" tIns="45718" rIns="45718" bIns="45718" anchor="ctr"/>
          <a:lstStyle/>
          <a:p>
            <a:endParaRPr/>
          </a:p>
        </p:txBody>
      </p:sp>
      <p:sp>
        <p:nvSpPr>
          <p:cNvPr id="254" name="Rectangle"/>
          <p:cNvSpPr/>
          <p:nvPr/>
        </p:nvSpPr>
        <p:spPr>
          <a:xfrm>
            <a:off x="1492926" y="2342505"/>
            <a:ext cx="997856" cy="964126"/>
          </a:xfrm>
          <a:prstGeom prst="rect">
            <a:avLst/>
          </a:prstGeom>
          <a:solidFill>
            <a:srgbClr val="FFFFFF"/>
          </a:solidFill>
          <a:ln w="25400">
            <a:solidFill>
              <a:srgbClr val="000000"/>
            </a:solidFill>
            <a:miter lim="400000"/>
          </a:ln>
          <a:effectLst>
            <a:outerShdw blurRad="38100" dist="23000" dir="5400000" rotWithShape="0">
              <a:srgbClr val="000000">
                <a:alpha val="35000"/>
              </a:srgbClr>
            </a:outerShdw>
          </a:effectLst>
        </p:spPr>
        <p:txBody>
          <a:bodyPr lIns="45718" tIns="45718" rIns="45718" bIns="45718" anchor="ctr"/>
          <a:lstStyle/>
          <a:p>
            <a:endParaRPr/>
          </a:p>
        </p:txBody>
      </p:sp>
      <p:sp>
        <p:nvSpPr>
          <p:cNvPr id="255" name="One Bit"/>
          <p:cNvSpPr txBox="1"/>
          <p:nvPr/>
        </p:nvSpPr>
        <p:spPr>
          <a:xfrm>
            <a:off x="1160838" y="1478281"/>
            <a:ext cx="951217" cy="396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2000"/>
            </a:lvl1pPr>
          </a:lstStyle>
          <a:p>
            <a:r>
              <a:t>One Bit</a:t>
            </a:r>
          </a:p>
        </p:txBody>
      </p:sp>
      <p:sp>
        <p:nvSpPr>
          <p:cNvPr id="256" name="One Byte"/>
          <p:cNvSpPr txBox="1"/>
          <p:nvPr/>
        </p:nvSpPr>
        <p:spPr>
          <a:xfrm>
            <a:off x="3888875" y="4155338"/>
            <a:ext cx="1163049" cy="396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2000"/>
            </a:lvl1pPr>
          </a:lstStyle>
          <a:p>
            <a:r>
              <a:t>One Byte</a:t>
            </a:r>
          </a:p>
        </p:txBody>
      </p:sp>
      <p:sp>
        <p:nvSpPr>
          <p:cNvPr id="257" name="Line"/>
          <p:cNvSpPr/>
          <p:nvPr/>
        </p:nvSpPr>
        <p:spPr>
          <a:xfrm>
            <a:off x="1606698" y="1844882"/>
            <a:ext cx="387257" cy="387257"/>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258" name="Line"/>
          <p:cNvSpPr/>
          <p:nvPr/>
        </p:nvSpPr>
        <p:spPr>
          <a:xfrm>
            <a:off x="453826" y="3440772"/>
            <a:ext cx="8373505" cy="584201"/>
          </a:xfrm>
          <a:custGeom>
            <a:avLst/>
            <a:gdLst/>
            <a:ahLst/>
            <a:cxnLst>
              <a:cxn ang="0">
                <a:pos x="wd2" y="hd2"/>
              </a:cxn>
              <a:cxn ang="5400000">
                <a:pos x="wd2" y="hd2"/>
              </a:cxn>
              <a:cxn ang="10800000">
                <a:pos x="wd2" y="hd2"/>
              </a:cxn>
              <a:cxn ang="16200000">
                <a:pos x="wd2" y="hd2"/>
              </a:cxn>
            </a:cxnLst>
            <a:rect l="0" t="0" r="r" b="b"/>
            <a:pathLst>
              <a:path w="21600" h="21600" extrusionOk="0">
                <a:moveTo>
                  <a:pt x="0" y="451"/>
                </a:moveTo>
                <a:lnTo>
                  <a:pt x="2403" y="21548"/>
                </a:lnTo>
                <a:lnTo>
                  <a:pt x="18961" y="21600"/>
                </a:lnTo>
                <a:lnTo>
                  <a:pt x="21600" y="0"/>
                </a:lnTo>
              </a:path>
            </a:pathLst>
          </a:custGeom>
          <a:ln w="25400">
            <a:solidFill>
              <a:schemeClr val="accent1"/>
            </a:solidFill>
            <a:headEnd type="triangle"/>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259" name="1"/>
          <p:cNvSpPr txBox="1"/>
          <p:nvPr/>
        </p:nvSpPr>
        <p:spPr>
          <a:xfrm>
            <a:off x="1780865"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1</a:t>
            </a:r>
          </a:p>
        </p:txBody>
      </p:sp>
      <p:sp>
        <p:nvSpPr>
          <p:cNvPr id="260" name="1"/>
          <p:cNvSpPr txBox="1"/>
          <p:nvPr/>
        </p:nvSpPr>
        <p:spPr>
          <a:xfrm>
            <a:off x="8078413"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1</a:t>
            </a:r>
          </a:p>
        </p:txBody>
      </p:sp>
      <p:sp>
        <p:nvSpPr>
          <p:cNvPr id="261" name="0"/>
          <p:cNvSpPr txBox="1"/>
          <p:nvPr/>
        </p:nvSpPr>
        <p:spPr>
          <a:xfrm>
            <a:off x="670900"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0</a:t>
            </a:r>
          </a:p>
        </p:txBody>
      </p:sp>
      <p:sp>
        <p:nvSpPr>
          <p:cNvPr id="262" name="0"/>
          <p:cNvSpPr txBox="1"/>
          <p:nvPr/>
        </p:nvSpPr>
        <p:spPr>
          <a:xfrm>
            <a:off x="2830457"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0</a:t>
            </a:r>
          </a:p>
        </p:txBody>
      </p:sp>
      <p:sp>
        <p:nvSpPr>
          <p:cNvPr id="263" name="0"/>
          <p:cNvSpPr txBox="1"/>
          <p:nvPr/>
        </p:nvSpPr>
        <p:spPr>
          <a:xfrm>
            <a:off x="3880048"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0</a:t>
            </a:r>
          </a:p>
        </p:txBody>
      </p:sp>
      <p:sp>
        <p:nvSpPr>
          <p:cNvPr id="264" name="0"/>
          <p:cNvSpPr txBox="1"/>
          <p:nvPr/>
        </p:nvSpPr>
        <p:spPr>
          <a:xfrm>
            <a:off x="4929639"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0</a:t>
            </a:r>
          </a:p>
        </p:txBody>
      </p:sp>
      <p:sp>
        <p:nvSpPr>
          <p:cNvPr id="265" name="0"/>
          <p:cNvSpPr txBox="1"/>
          <p:nvPr/>
        </p:nvSpPr>
        <p:spPr>
          <a:xfrm>
            <a:off x="5979230"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0</a:t>
            </a:r>
          </a:p>
        </p:txBody>
      </p:sp>
      <p:sp>
        <p:nvSpPr>
          <p:cNvPr id="266" name="0"/>
          <p:cNvSpPr txBox="1"/>
          <p:nvPr/>
        </p:nvSpPr>
        <p:spPr>
          <a:xfrm>
            <a:off x="7028822" y="2435949"/>
            <a:ext cx="421978" cy="7772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lvl1pPr>
              <a:defRPr sz="4500"/>
            </a:lvl1pPr>
          </a:lstStyle>
          <a:p>
            <a:r>
              <a:t>0</a:t>
            </a:r>
          </a:p>
        </p:txBody>
      </p:sp>
      <p:grpSp>
        <p:nvGrpSpPr>
          <p:cNvPr id="270" name="Group"/>
          <p:cNvGrpSpPr/>
          <p:nvPr/>
        </p:nvGrpSpPr>
        <p:grpSpPr>
          <a:xfrm>
            <a:off x="843201" y="4923487"/>
            <a:ext cx="7919567" cy="777237"/>
            <a:chOff x="0" y="0"/>
            <a:chExt cx="7919566" cy="777235"/>
          </a:xfrm>
        </p:grpSpPr>
        <p:sp>
          <p:nvSpPr>
            <p:cNvPr id="267" name="A              65             10000001"/>
            <p:cNvSpPr txBox="1"/>
            <p:nvPr/>
          </p:nvSpPr>
          <p:spPr>
            <a:xfrm>
              <a:off x="0" y="0"/>
              <a:ext cx="7919566" cy="7772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numCol="1" anchor="t">
              <a:spAutoFit/>
            </a:bodyPr>
            <a:lstStyle>
              <a:lvl1pPr>
                <a:defRPr sz="4500"/>
              </a:lvl1pPr>
            </a:lstStyle>
            <a:p>
              <a:r>
                <a:t>A              65             10000001</a:t>
              </a:r>
            </a:p>
          </p:txBody>
        </p:sp>
        <p:sp>
          <p:nvSpPr>
            <p:cNvPr id="268" name="Line"/>
            <p:cNvSpPr/>
            <p:nvPr/>
          </p:nvSpPr>
          <p:spPr>
            <a:xfrm>
              <a:off x="595972" y="396478"/>
              <a:ext cx="1943561" cy="1"/>
            </a:xfrm>
            <a:prstGeom prst="line">
              <a:avLst/>
            </a:prstGeom>
            <a:noFill/>
            <a:ln w="25400" cap="flat">
              <a:solidFill>
                <a:schemeClr val="accent1"/>
              </a:solidFill>
              <a:prstDash val="solid"/>
              <a:round/>
              <a:tailEnd type="triangle" w="med" len="med"/>
            </a:ln>
            <a:effectLst>
              <a:outerShdw blurRad="38100" dist="23000" dir="5400000" rotWithShape="0">
                <a:srgbClr val="000000">
                  <a:alpha val="35000"/>
                </a:srgbClr>
              </a:outerShdw>
            </a:effectLst>
          </p:spPr>
          <p:txBody>
            <a:bodyPr wrap="square" lIns="45718" tIns="45718" rIns="45718" bIns="45718" numCol="1" anchor="t">
              <a:noAutofit/>
            </a:bodyPr>
            <a:lstStyle/>
            <a:p>
              <a:endParaRPr/>
            </a:p>
          </p:txBody>
        </p:sp>
        <p:sp>
          <p:nvSpPr>
            <p:cNvPr id="269" name="Line"/>
            <p:cNvSpPr/>
            <p:nvPr/>
          </p:nvSpPr>
          <p:spPr>
            <a:xfrm>
              <a:off x="3364572" y="388617"/>
              <a:ext cx="1943562" cy="1"/>
            </a:xfrm>
            <a:prstGeom prst="line">
              <a:avLst/>
            </a:prstGeom>
            <a:noFill/>
            <a:ln w="25400" cap="flat">
              <a:solidFill>
                <a:schemeClr val="accent1"/>
              </a:solidFill>
              <a:prstDash val="solid"/>
              <a:round/>
              <a:tailEnd type="triangle" w="med" len="med"/>
            </a:ln>
            <a:effectLst>
              <a:outerShdw blurRad="38100" dist="23000" dir="5400000" rotWithShape="0">
                <a:srgbClr val="000000">
                  <a:alpha val="35000"/>
                </a:srgbClr>
              </a:outerShdw>
            </a:effectLst>
          </p:spPr>
          <p:txBody>
            <a:bodyPr wrap="square" lIns="45718" tIns="45718" rIns="45718" bIns="45718" numCol="1" anchor="t">
              <a:noAutofit/>
            </a:bodyPr>
            <a:lstStyle/>
            <a:p>
              <a:endParaRPr/>
            </a:p>
          </p:txBody>
        </p:sp>
      </p:gr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How a Program Works"/>
          <p:cNvSpPr txBox="1">
            <a:spLocks noGrp="1"/>
          </p:cNvSpPr>
          <p:nvPr>
            <p:ph type="title"/>
          </p:nvPr>
        </p:nvSpPr>
        <p:spPr>
          <a:xfrm>
            <a:off x="468312" y="560387"/>
            <a:ext cx="8207376" cy="996951"/>
          </a:xfrm>
          <a:prstGeom prst="rect">
            <a:avLst/>
          </a:prstGeom>
        </p:spPr>
        <p:txBody>
          <a:bodyPr/>
          <a:lstStyle/>
          <a:p>
            <a:r>
              <a:t>How a Program Works</a:t>
            </a:r>
          </a:p>
        </p:txBody>
      </p:sp>
      <p:sp>
        <p:nvSpPr>
          <p:cNvPr id="278" name="CPU uses the “fetch-decode-execute” cycle for processing…"/>
          <p:cNvSpPr txBox="1">
            <a:spLocks noGrp="1"/>
          </p:cNvSpPr>
          <p:nvPr>
            <p:ph type="body" idx="1"/>
          </p:nvPr>
        </p:nvSpPr>
        <p:spPr>
          <a:prstGeom prst="rect">
            <a:avLst/>
          </a:prstGeom>
        </p:spPr>
        <p:txBody>
          <a:bodyPr/>
          <a:lstStyle/>
          <a:p>
            <a:r>
              <a:t>CPU uses the “fetch-decode-execute” cycle for processing</a:t>
            </a:r>
          </a:p>
          <a:p>
            <a:pPr marL="804862" lvl="1" indent="-266700">
              <a:buSzPct val="100000"/>
              <a:buFontTx/>
              <a:buChar char="▪"/>
            </a:pPr>
            <a:r>
              <a:t>Fetch: Reads instructions from memory</a:t>
            </a:r>
          </a:p>
          <a:p>
            <a:pPr marL="804862" lvl="1" indent="-266700">
              <a:buSzPct val="100000"/>
              <a:buFontTx/>
              <a:buChar char="▪"/>
            </a:pPr>
            <a:r>
              <a:t>Decode: Decodes the instructions that were just read to determine how to perform operations</a:t>
            </a:r>
          </a:p>
          <a:p>
            <a:pPr marL="804862" lvl="1" indent="-266700">
              <a:buSzPct val="100000"/>
              <a:buFontTx/>
              <a:buChar char="▪"/>
            </a:pPr>
            <a:r>
              <a:t>Execute: Actually performs the operations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rogramming Languages"/>
          <p:cNvSpPr txBox="1">
            <a:spLocks noGrp="1"/>
          </p:cNvSpPr>
          <p:nvPr>
            <p:ph type="title"/>
          </p:nvPr>
        </p:nvSpPr>
        <p:spPr>
          <a:xfrm>
            <a:off x="468312" y="560387"/>
            <a:ext cx="8207376" cy="996951"/>
          </a:xfrm>
          <a:prstGeom prst="rect">
            <a:avLst/>
          </a:prstGeom>
        </p:spPr>
        <p:txBody>
          <a:bodyPr/>
          <a:lstStyle/>
          <a:p>
            <a:r>
              <a:rPr dirty="0"/>
              <a:t>Programming Languages</a:t>
            </a:r>
          </a:p>
        </p:txBody>
      </p:sp>
      <p:sp>
        <p:nvSpPr>
          <p:cNvPr id="283" name="Assembly                          Machine Language…"/>
          <p:cNvSpPr txBox="1">
            <a:spLocks noGrp="1"/>
          </p:cNvSpPr>
          <p:nvPr>
            <p:ph type="body" idx="1"/>
          </p:nvPr>
        </p:nvSpPr>
        <p:spPr>
          <a:xfrm>
            <a:off x="274320" y="1499236"/>
            <a:ext cx="3566160" cy="2804160"/>
          </a:xfrm>
          <a:prstGeom prst="rect">
            <a:avLst/>
          </a:prstGeom>
        </p:spPr>
        <p:txBody>
          <a:bodyPr>
            <a:normAutofit/>
          </a:bodyPr>
          <a:lstStyle/>
          <a:p>
            <a:pPr lvl="1"/>
            <a:r>
              <a:rPr i="1" dirty="0"/>
              <a:t>Machine </a:t>
            </a:r>
            <a:r>
              <a:rPr lang="en-AU" i="1" dirty="0"/>
              <a:t>Language</a:t>
            </a:r>
            <a:endParaRPr i="1" dirty="0"/>
          </a:p>
          <a:p>
            <a:pPr lvl="1"/>
            <a:r>
              <a:rPr dirty="0"/>
              <a:t>10101010</a:t>
            </a:r>
          </a:p>
          <a:p>
            <a:pPr lvl="1"/>
            <a:r>
              <a:rPr dirty="0"/>
              <a:t>11001100</a:t>
            </a:r>
          </a:p>
          <a:p>
            <a:pPr lvl="1"/>
            <a:r>
              <a:rPr dirty="0"/>
              <a:t>11100011</a:t>
            </a:r>
          </a:p>
          <a:p>
            <a:pPr lvl="1"/>
            <a:r>
              <a:rPr dirty="0"/>
              <a:t>10001000</a:t>
            </a:r>
          </a:p>
        </p:txBody>
      </p:sp>
      <p:sp>
        <p:nvSpPr>
          <p:cNvPr id="4" name="Assembly                          Machine Language…">
            <a:extLst>
              <a:ext uri="{FF2B5EF4-FFF2-40B4-BE49-F238E27FC236}">
                <a16:creationId xmlns:a16="http://schemas.microsoft.com/office/drawing/2014/main" id="{E06358AC-C7A1-A840-A3E4-712871247EA1}"/>
              </a:ext>
            </a:extLst>
          </p:cNvPr>
          <p:cNvSpPr txBox="1">
            <a:spLocks/>
          </p:cNvSpPr>
          <p:nvPr/>
        </p:nvSpPr>
        <p:spPr>
          <a:xfrm>
            <a:off x="4572000" y="1504952"/>
            <a:ext cx="3566160" cy="28041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a:lstStyle>
          <a:p>
            <a:pPr lvl="1" hangingPunct="1"/>
            <a:r>
              <a:rPr lang="en-AU" i="1" dirty="0"/>
              <a:t>Assembly </a:t>
            </a:r>
          </a:p>
          <a:p>
            <a:pPr lvl="1" hangingPunct="1"/>
            <a:r>
              <a:rPr lang="en-AU" dirty="0"/>
              <a:t>MOV    R1, 0x1000</a:t>
            </a:r>
          </a:p>
          <a:p>
            <a:pPr lvl="1" hangingPunct="1"/>
            <a:r>
              <a:rPr lang="en-AU" dirty="0"/>
              <a:t>MOV    R2, 0x1004</a:t>
            </a:r>
          </a:p>
          <a:p>
            <a:pPr lvl="1" hangingPunct="1"/>
            <a:r>
              <a:rPr lang="en-AU" dirty="0"/>
              <a:t>ADD    R1,R2 </a:t>
            </a:r>
          </a:p>
          <a:p>
            <a:pPr lvl="1" hangingPunct="1"/>
            <a:r>
              <a:rPr lang="en-AU" dirty="0"/>
              <a:t>STA     0x1008</a:t>
            </a:r>
          </a:p>
        </p:txBody>
      </p:sp>
      <p:sp>
        <p:nvSpPr>
          <p:cNvPr id="2" name="TextBox 1">
            <a:extLst>
              <a:ext uri="{FF2B5EF4-FFF2-40B4-BE49-F238E27FC236}">
                <a16:creationId xmlns:a16="http://schemas.microsoft.com/office/drawing/2014/main" id="{F65748D5-077A-D747-A91B-AA3C4F5CC6F4}"/>
              </a:ext>
            </a:extLst>
          </p:cNvPr>
          <p:cNvSpPr txBox="1"/>
          <p:nvPr/>
        </p:nvSpPr>
        <p:spPr>
          <a:xfrm>
            <a:off x="701040" y="4562476"/>
            <a:ext cx="3566160" cy="1107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lvl="1"/>
            <a:r>
              <a:rPr lang="en-AU" sz="2400" i="1" dirty="0">
                <a:latin typeface="+mj-lt"/>
              </a:rPr>
              <a:t>High Level Language</a:t>
            </a:r>
          </a:p>
          <a:p>
            <a:pPr lvl="1"/>
            <a:r>
              <a:rPr lang="en-AU" sz="2400" dirty="0">
                <a:latin typeface="+mj-lt"/>
              </a:rPr>
              <a:t>C = A + B </a:t>
            </a:r>
          </a:p>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dirty="0">
              <a:ln>
                <a:noFill/>
              </a:ln>
              <a:solidFill>
                <a:srgbClr val="333333"/>
              </a:solidFill>
              <a:effectLst/>
              <a:uFillTx/>
              <a:latin typeface="+mn-lt"/>
              <a:ea typeface="+mn-ea"/>
              <a:cs typeface="+mn-cs"/>
              <a:sym typeface="Helvetic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Compilers and Interpreters"/>
          <p:cNvSpPr txBox="1">
            <a:spLocks noGrp="1"/>
          </p:cNvSpPr>
          <p:nvPr>
            <p:ph type="title"/>
          </p:nvPr>
        </p:nvSpPr>
        <p:spPr>
          <a:xfrm>
            <a:off x="468312" y="560387"/>
            <a:ext cx="8207376" cy="996951"/>
          </a:xfrm>
          <a:prstGeom prst="rect">
            <a:avLst/>
          </a:prstGeom>
        </p:spPr>
        <p:txBody>
          <a:bodyPr/>
          <a:lstStyle/>
          <a:p>
            <a:r>
              <a:rPr lang="en-AU" dirty="0"/>
              <a:t>       </a:t>
            </a:r>
            <a:r>
              <a:rPr dirty="0"/>
              <a:t>Compilers </a:t>
            </a:r>
            <a:r>
              <a:rPr lang="en-AU" dirty="0"/>
              <a:t>         vs </a:t>
            </a:r>
            <a:r>
              <a:rPr dirty="0"/>
              <a:t> </a:t>
            </a:r>
            <a:r>
              <a:rPr lang="en-AU" dirty="0"/>
              <a:t>         </a:t>
            </a:r>
            <a:r>
              <a:rPr dirty="0"/>
              <a:t>Interpreters</a:t>
            </a:r>
          </a:p>
        </p:txBody>
      </p:sp>
      <p:sp>
        <p:nvSpPr>
          <p:cNvPr id="301" name="High Level Language Text"/>
          <p:cNvSpPr/>
          <p:nvPr/>
        </p:nvSpPr>
        <p:spPr>
          <a:xfrm>
            <a:off x="776039" y="15446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High Level Language Text</a:t>
            </a:r>
          </a:p>
        </p:txBody>
      </p:sp>
      <p:sp>
        <p:nvSpPr>
          <p:cNvPr id="302" name="High Level Language Text"/>
          <p:cNvSpPr/>
          <p:nvPr/>
        </p:nvSpPr>
        <p:spPr>
          <a:xfrm>
            <a:off x="5326633" y="15446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High Level Language Text</a:t>
            </a:r>
          </a:p>
        </p:txBody>
      </p:sp>
      <p:sp>
        <p:nvSpPr>
          <p:cNvPr id="303" name="Compiler"/>
          <p:cNvSpPr/>
          <p:nvPr/>
        </p:nvSpPr>
        <p:spPr>
          <a:xfrm>
            <a:off x="776039" y="28273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              Compiler</a:t>
            </a:r>
          </a:p>
        </p:txBody>
      </p:sp>
      <p:sp>
        <p:nvSpPr>
          <p:cNvPr id="304" name="Machine Code (exe)"/>
          <p:cNvSpPr/>
          <p:nvPr/>
        </p:nvSpPr>
        <p:spPr>
          <a:xfrm>
            <a:off x="776039" y="4110037"/>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rPr dirty="0"/>
              <a:t>      Machine Code (exe)</a:t>
            </a:r>
          </a:p>
        </p:txBody>
      </p:sp>
      <p:sp>
        <p:nvSpPr>
          <p:cNvPr id="305" name="Interpreter"/>
          <p:cNvSpPr/>
          <p:nvPr/>
        </p:nvSpPr>
        <p:spPr>
          <a:xfrm>
            <a:off x="5326633" y="2834444"/>
            <a:ext cx="3025974"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              Interpreter</a:t>
            </a:r>
          </a:p>
        </p:txBody>
      </p:sp>
      <p:sp>
        <p:nvSpPr>
          <p:cNvPr id="306" name="Machine Code (1 line)"/>
          <p:cNvSpPr/>
          <p:nvPr/>
        </p:nvSpPr>
        <p:spPr>
          <a:xfrm>
            <a:off x="5326633" y="4098850"/>
            <a:ext cx="3025974" cy="536429"/>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      Machine Code (1 line)</a:t>
            </a:r>
          </a:p>
        </p:txBody>
      </p:sp>
      <p:sp>
        <p:nvSpPr>
          <p:cNvPr id="307" name="CPU"/>
          <p:cNvSpPr/>
          <p:nvPr/>
        </p:nvSpPr>
        <p:spPr>
          <a:xfrm>
            <a:off x="1778075" y="5423682"/>
            <a:ext cx="760066"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t>CPU</a:t>
            </a:r>
          </a:p>
        </p:txBody>
      </p:sp>
      <p:sp>
        <p:nvSpPr>
          <p:cNvPr id="308" name="Line"/>
          <p:cNvSpPr/>
          <p:nvPr/>
        </p:nvSpPr>
        <p:spPr>
          <a:xfrm>
            <a:off x="2158108" y="2090901"/>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09" name="Line"/>
          <p:cNvSpPr/>
          <p:nvPr/>
        </p:nvSpPr>
        <p:spPr>
          <a:xfrm>
            <a:off x="2158108" y="3351063"/>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0" name="Line"/>
          <p:cNvSpPr/>
          <p:nvPr/>
        </p:nvSpPr>
        <p:spPr>
          <a:xfrm>
            <a:off x="6839619" y="3351063"/>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1" name="Line"/>
          <p:cNvSpPr/>
          <p:nvPr/>
        </p:nvSpPr>
        <p:spPr>
          <a:xfrm>
            <a:off x="4983014" y="1837283"/>
            <a:ext cx="295870" cy="1267719"/>
          </a:xfrm>
          <a:custGeom>
            <a:avLst/>
            <a:gdLst/>
            <a:ahLst/>
            <a:cxnLst>
              <a:cxn ang="0">
                <a:pos x="wd2" y="hd2"/>
              </a:cxn>
              <a:cxn ang="5400000">
                <a:pos x="wd2" y="hd2"/>
              </a:cxn>
              <a:cxn ang="10800000">
                <a:pos x="wd2" y="hd2"/>
              </a:cxn>
              <a:cxn ang="16200000">
                <a:pos x="wd2" y="hd2"/>
              </a:cxn>
            </a:cxnLst>
            <a:rect l="0" t="0" r="r" b="b"/>
            <a:pathLst>
              <a:path w="21600" h="21600" extrusionOk="0">
                <a:moveTo>
                  <a:pt x="21394" y="0"/>
                </a:moveTo>
                <a:lnTo>
                  <a:pt x="721" y="0"/>
                </a:lnTo>
                <a:lnTo>
                  <a:pt x="0" y="21600"/>
                </a:lnTo>
                <a:lnTo>
                  <a:pt x="21600" y="21600"/>
                </a:lnTo>
              </a:path>
            </a:pathLst>
          </a:cu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2" name="Line"/>
          <p:cNvSpPr/>
          <p:nvPr/>
        </p:nvSpPr>
        <p:spPr>
          <a:xfrm flipH="1">
            <a:off x="8400355" y="1837283"/>
            <a:ext cx="295871" cy="1267719"/>
          </a:xfrm>
          <a:custGeom>
            <a:avLst/>
            <a:gdLst/>
            <a:ahLst/>
            <a:cxnLst>
              <a:cxn ang="0">
                <a:pos x="wd2" y="hd2"/>
              </a:cxn>
              <a:cxn ang="5400000">
                <a:pos x="wd2" y="hd2"/>
              </a:cxn>
              <a:cxn ang="10800000">
                <a:pos x="wd2" y="hd2"/>
              </a:cxn>
              <a:cxn ang="16200000">
                <a:pos x="wd2" y="hd2"/>
              </a:cxn>
            </a:cxnLst>
            <a:rect l="0" t="0" r="r" b="b"/>
            <a:pathLst>
              <a:path w="21600" h="21600" extrusionOk="0">
                <a:moveTo>
                  <a:pt x="21394" y="0"/>
                </a:moveTo>
                <a:lnTo>
                  <a:pt x="721" y="0"/>
                </a:lnTo>
                <a:lnTo>
                  <a:pt x="0" y="21600"/>
                </a:lnTo>
                <a:lnTo>
                  <a:pt x="21600" y="21600"/>
                </a:lnTo>
              </a:path>
            </a:pathLst>
          </a:custGeom>
          <a:ln w="25400">
            <a:solidFill>
              <a:schemeClr val="accent1"/>
            </a:solidFill>
            <a:head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315" name="1"/>
          <p:cNvSpPr txBox="1"/>
          <p:nvPr/>
        </p:nvSpPr>
        <p:spPr>
          <a:xfrm>
            <a:off x="2173390" y="2268782"/>
            <a:ext cx="231273"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1</a:t>
            </a:r>
          </a:p>
        </p:txBody>
      </p:sp>
      <p:sp>
        <p:nvSpPr>
          <p:cNvPr id="316" name="1"/>
          <p:cNvSpPr txBox="1"/>
          <p:nvPr/>
        </p:nvSpPr>
        <p:spPr>
          <a:xfrm>
            <a:off x="5008962" y="2268782"/>
            <a:ext cx="231274"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1</a:t>
            </a:r>
          </a:p>
        </p:txBody>
      </p:sp>
      <p:sp>
        <p:nvSpPr>
          <p:cNvPr id="317" name="2"/>
          <p:cNvSpPr txBox="1"/>
          <p:nvPr/>
        </p:nvSpPr>
        <p:spPr>
          <a:xfrm>
            <a:off x="2173390" y="3482775"/>
            <a:ext cx="231273"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2</a:t>
            </a:r>
          </a:p>
        </p:txBody>
      </p:sp>
      <p:sp>
        <p:nvSpPr>
          <p:cNvPr id="318" name="2"/>
          <p:cNvSpPr txBox="1"/>
          <p:nvPr/>
        </p:nvSpPr>
        <p:spPr>
          <a:xfrm>
            <a:off x="6923189" y="3482775"/>
            <a:ext cx="231274"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2</a:t>
            </a:r>
          </a:p>
        </p:txBody>
      </p:sp>
      <p:sp>
        <p:nvSpPr>
          <p:cNvPr id="319" name="3"/>
          <p:cNvSpPr txBox="1"/>
          <p:nvPr/>
        </p:nvSpPr>
        <p:spPr>
          <a:xfrm>
            <a:off x="2173390" y="4902891"/>
            <a:ext cx="231273"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3</a:t>
            </a:r>
          </a:p>
        </p:txBody>
      </p:sp>
      <p:sp>
        <p:nvSpPr>
          <p:cNvPr id="320" name="3"/>
          <p:cNvSpPr txBox="1"/>
          <p:nvPr/>
        </p:nvSpPr>
        <p:spPr>
          <a:xfrm>
            <a:off x="6923189" y="4880517"/>
            <a:ext cx="231274"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3</a:t>
            </a:r>
          </a:p>
        </p:txBody>
      </p:sp>
      <p:sp>
        <p:nvSpPr>
          <p:cNvPr id="321" name="4"/>
          <p:cNvSpPr txBox="1"/>
          <p:nvPr/>
        </p:nvSpPr>
        <p:spPr>
          <a:xfrm>
            <a:off x="8439004" y="2309854"/>
            <a:ext cx="231273" cy="370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a:spAutoFit/>
          </a:bodyPr>
          <a:lstStyle/>
          <a:p>
            <a:r>
              <a:t>4</a:t>
            </a:r>
          </a:p>
        </p:txBody>
      </p:sp>
      <p:sp>
        <p:nvSpPr>
          <p:cNvPr id="24" name="CPU">
            <a:extLst>
              <a:ext uri="{FF2B5EF4-FFF2-40B4-BE49-F238E27FC236}">
                <a16:creationId xmlns:a16="http://schemas.microsoft.com/office/drawing/2014/main" id="{552005DB-CFFF-104B-9461-2A2B2D671DA0}"/>
              </a:ext>
            </a:extLst>
          </p:cNvPr>
          <p:cNvSpPr/>
          <p:nvPr/>
        </p:nvSpPr>
        <p:spPr>
          <a:xfrm>
            <a:off x="6459586" y="5364381"/>
            <a:ext cx="760066" cy="536428"/>
          </a:xfrm>
          <a:prstGeom prst="roundRect">
            <a:avLst>
              <a:gd name="adj" fmla="val 35513"/>
            </a:avLst>
          </a:prstGeom>
          <a:solidFill>
            <a:srgbClr val="FFFFFF"/>
          </a:solidFill>
          <a:ln w="25400">
            <a:solidFill>
              <a:schemeClr val="accent1"/>
            </a:solidFill>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lstStyle/>
          <a:p>
            <a:r>
              <a:rPr dirty="0"/>
              <a:t>CPU</a:t>
            </a:r>
          </a:p>
        </p:txBody>
      </p:sp>
      <p:sp>
        <p:nvSpPr>
          <p:cNvPr id="25" name="Line">
            <a:extLst>
              <a:ext uri="{FF2B5EF4-FFF2-40B4-BE49-F238E27FC236}">
                <a16:creationId xmlns:a16="http://schemas.microsoft.com/office/drawing/2014/main" id="{DE85AE0D-F060-5841-ADB2-79E907117EE0}"/>
              </a:ext>
            </a:extLst>
          </p:cNvPr>
          <p:cNvSpPr/>
          <p:nvPr/>
        </p:nvSpPr>
        <p:spPr>
          <a:xfrm>
            <a:off x="6830350" y="4620736"/>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
        <p:nvSpPr>
          <p:cNvPr id="26" name="Line">
            <a:extLst>
              <a:ext uri="{FF2B5EF4-FFF2-40B4-BE49-F238E27FC236}">
                <a16:creationId xmlns:a16="http://schemas.microsoft.com/office/drawing/2014/main" id="{5B28B347-1ABC-324D-82FE-A5363B5C79A0}"/>
              </a:ext>
            </a:extLst>
          </p:cNvPr>
          <p:cNvSpPr/>
          <p:nvPr/>
        </p:nvSpPr>
        <p:spPr>
          <a:xfrm>
            <a:off x="2126970" y="4620522"/>
            <a:ext cx="1" cy="726600"/>
          </a:xfrm>
          <a:prstGeom prst="line">
            <a:avLst/>
          </a:prstGeom>
          <a:ln w="25400">
            <a:solidFill>
              <a:schemeClr val="accent1"/>
            </a:solidFill>
            <a:tailEnd type="triangle"/>
          </a:ln>
          <a:effectLst>
            <a:outerShdw blurRad="38100" dist="23000" dir="5400000" rotWithShape="0">
              <a:srgbClr val="000000">
                <a:alpha val="35000"/>
              </a:srgbClr>
            </a:outerShdw>
          </a:effectLst>
        </p:spPr>
        <p:txBody>
          <a:bodyPr lIns="45718" tIns="45718" rIns="45718" bIns="45718"/>
          <a:lstStyle/>
          <a:p>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FFBEF-A86D-D04A-8243-1B7C75565062}"/>
              </a:ext>
            </a:extLst>
          </p:cNvPr>
          <p:cNvSpPr>
            <a:spLocks noGrp="1"/>
          </p:cNvSpPr>
          <p:nvPr>
            <p:ph type="title"/>
          </p:nvPr>
        </p:nvSpPr>
        <p:spPr/>
        <p:txBody>
          <a:bodyPr/>
          <a:lstStyle/>
          <a:p>
            <a:r>
              <a:rPr lang="en-AU" dirty="0"/>
              <a:t>Computers</a:t>
            </a:r>
          </a:p>
        </p:txBody>
      </p:sp>
      <p:sp>
        <p:nvSpPr>
          <p:cNvPr id="3" name="Text Placeholder 2">
            <a:extLst>
              <a:ext uri="{FF2B5EF4-FFF2-40B4-BE49-F238E27FC236}">
                <a16:creationId xmlns:a16="http://schemas.microsoft.com/office/drawing/2014/main" id="{623DCFC3-93EE-2E4C-B0BD-9B58D982B33A}"/>
              </a:ext>
            </a:extLst>
          </p:cNvPr>
          <p:cNvSpPr>
            <a:spLocks noGrp="1"/>
          </p:cNvSpPr>
          <p:nvPr>
            <p:ph type="body" idx="1"/>
          </p:nvPr>
        </p:nvSpPr>
        <p:spPr/>
        <p:txBody>
          <a:bodyPr/>
          <a:lstStyle/>
          <a:p>
            <a:r>
              <a:rPr lang="en-AU" dirty="0"/>
              <a:t>Hardware</a:t>
            </a:r>
          </a:p>
          <a:p>
            <a:r>
              <a:rPr lang="en-AU" dirty="0"/>
              <a:t>Software</a:t>
            </a:r>
          </a:p>
          <a:p>
            <a:r>
              <a:rPr lang="en-AU" dirty="0"/>
              <a:t>Digital</a:t>
            </a:r>
          </a:p>
          <a:p>
            <a:r>
              <a:rPr lang="en-AU" dirty="0"/>
              <a:t>Fetch-Decode-Execute</a:t>
            </a:r>
          </a:p>
          <a:p>
            <a:r>
              <a:rPr lang="en-AU" dirty="0"/>
              <a:t>Compiler vs Interpreter</a:t>
            </a:r>
          </a:p>
        </p:txBody>
      </p:sp>
    </p:spTree>
    <p:extLst>
      <p:ext uri="{BB962C8B-B14F-4D97-AF65-F5344CB8AC3E}">
        <p14:creationId xmlns:p14="http://schemas.microsoft.com/office/powerpoint/2010/main" val="3077591982"/>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714</TotalTime>
  <Words>614</Words>
  <Application>Microsoft Macintosh PowerPoint</Application>
  <PresentationFormat>On-screen Show (4:3)</PresentationFormat>
  <Paragraphs>111</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Helvetica</vt:lpstr>
      <vt:lpstr>Wingdings</vt:lpstr>
      <vt:lpstr>curtin2010-PP2003</vt:lpstr>
      <vt:lpstr>Computers</vt:lpstr>
      <vt:lpstr>PowerPoint Presentation</vt:lpstr>
      <vt:lpstr>PowerPoint Presentation</vt:lpstr>
      <vt:lpstr>Hardware and Software</vt:lpstr>
      <vt:lpstr>How Computers Store Data</vt:lpstr>
      <vt:lpstr>How a Program Works</vt:lpstr>
      <vt:lpstr>Programming Languages</vt:lpstr>
      <vt:lpstr>       Compilers          vs           Interpreters</vt:lpstr>
      <vt:lpstr>Computers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22</cp:revision>
  <dcterms:modified xsi:type="dcterms:W3CDTF">2022-02-27T23:18:46Z</dcterms:modified>
</cp:coreProperties>
</file>