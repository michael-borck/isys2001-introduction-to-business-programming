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67" r:id="rId5"/>
    <p:sldId id="269" r:id="rId6"/>
    <p:sldId id="276" r:id="rId7"/>
    <p:sldId id="278" r:id="rId8"/>
    <p:sldId id="271" r:id="rId9"/>
    <p:sldId id="266" r:id="rId10"/>
    <p:sldId id="268" r:id="rId11"/>
    <p:sldId id="274" r:id="rId12"/>
    <p:sldId id="273" r:id="rId13"/>
    <p:sldId id="275" r:id="rId14"/>
    <p:sldId id="279" r:id="rId15"/>
    <p:sldId id="272" r:id="rId16"/>
    <p:sldId id="277" r:id="rId17"/>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1pPr>
    <a:lvl2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2pPr>
    <a:lvl3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3pPr>
    <a:lvl4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4pPr>
    <a:lvl5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5pPr>
    <a:lvl6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6pPr>
    <a:lvl7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7pPr>
    <a:lvl8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8pPr>
    <a:lvl9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CDDCA"/>
          </a:solidFill>
        </a:fill>
      </a:tcStyle>
    </a:wholeTbl>
    <a:band2H>
      <a:tcTxStyle/>
      <a:tcStyle>
        <a:tcBdr/>
        <a:fill>
          <a:solidFill>
            <a:srgbClr val="F6EF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BDBDB"/>
          </a:solidFill>
        </a:fill>
      </a:tcStyle>
    </a:wholeTbl>
    <a:band2H>
      <a:tcTxStyle/>
      <a:tcStyle>
        <a:tcBdr/>
        <a:fill>
          <a:solidFill>
            <a:srgbClr val="EEEE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D9"/>
          </a:solidFill>
        </a:fill>
      </a:tcStyle>
    </a:wholeTbl>
    <a:band2H>
      <a:tcTxStyle/>
      <a:tcStyle>
        <a:tcBdr/>
        <a:fill>
          <a:solidFill>
            <a:srgbClr val="E7E7ED"/>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333333"/>
        </a:fontRef>
        <a:srgbClr val="333333"/>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7E7E7"/>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333333"/>
        </a:fontRef>
        <a:srgbClr val="333333"/>
      </a:tcTxStyle>
      <a:tcStyle>
        <a:tcBdr>
          <a:left>
            <a:ln w="12700" cap="flat">
              <a:noFill/>
              <a:miter lim="400000"/>
            </a:ln>
          </a:left>
          <a:right>
            <a:ln w="12700" cap="flat">
              <a:noFill/>
              <a:miter lim="400000"/>
            </a:ln>
          </a:right>
          <a:top>
            <a:ln w="508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333333"/>
              </a:solidFill>
              <a:prstDash val="solid"/>
              <a:round/>
            </a:ln>
          </a:top>
          <a:bottom>
            <a:ln w="25400" cap="flat">
              <a:solidFill>
                <a:srgbClr val="333333"/>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333333"/>
        </a:fontRef>
        <a:srgbClr val="333333"/>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CCCC"/>
          </a:solidFill>
        </a:fill>
      </a:tcStyle>
    </a:wholeTbl>
    <a:band2H>
      <a:tcTxStyle/>
      <a:tcStyle>
        <a:tcBdr/>
        <a:fill>
          <a:solidFill>
            <a:srgbClr val="E7E7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333333"/>
          </a:solidFill>
        </a:fill>
      </a:tcStyle>
    </a:firstRow>
  </a:tblStyle>
  <a:tblStyle styleId="{2708684C-4D16-4618-839F-0558EEFCDFE6}" styleName="">
    <a:tblBg/>
    <a:wholeTbl>
      <a:tcTxStyle b="off"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wholeTbl>
    <a:band2H>
      <a:tcTxStyle/>
      <a:tcStyle>
        <a:tcBdr/>
        <a:fill>
          <a:solidFill>
            <a:srgbClr val="FFFFFF"/>
          </a:solidFill>
        </a:fill>
      </a:tcStyle>
    </a:band2H>
    <a:firstCol>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solidFill>
            <a:srgbClr val="333333">
              <a:alpha val="20000"/>
            </a:srgbClr>
          </a:solidFill>
        </a:fill>
      </a:tcStyle>
    </a:firstCol>
    <a:la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50800" cap="flat">
              <a:solidFill>
                <a:srgbClr val="333333"/>
              </a:solidFill>
              <a:prstDash val="solid"/>
              <a:round/>
            </a:ln>
          </a:top>
          <a:bottom>
            <a:ln w="127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lastRow>
    <a:firstRow>
      <a:tcTxStyle b="on" i="off">
        <a:fontRef idx="minor">
          <a:srgbClr val="333333"/>
        </a:fontRef>
        <a:srgbClr val="333333"/>
      </a:tcTxStyle>
      <a:tcStyle>
        <a:tcBdr>
          <a:left>
            <a:ln w="12700" cap="flat">
              <a:solidFill>
                <a:srgbClr val="333333"/>
              </a:solidFill>
              <a:prstDash val="solid"/>
              <a:round/>
            </a:ln>
          </a:left>
          <a:right>
            <a:ln w="12700" cap="flat">
              <a:solidFill>
                <a:srgbClr val="333333"/>
              </a:solidFill>
              <a:prstDash val="solid"/>
              <a:round/>
            </a:ln>
          </a:right>
          <a:top>
            <a:ln w="12700" cap="flat">
              <a:solidFill>
                <a:srgbClr val="333333"/>
              </a:solidFill>
              <a:prstDash val="solid"/>
              <a:round/>
            </a:ln>
          </a:top>
          <a:bottom>
            <a:ln w="25400" cap="flat">
              <a:solidFill>
                <a:srgbClr val="333333"/>
              </a:solidFill>
              <a:prstDash val="solid"/>
              <a:round/>
            </a:ln>
          </a:bottom>
          <a:insideH>
            <a:ln w="12700" cap="flat">
              <a:solidFill>
                <a:srgbClr val="333333"/>
              </a:solidFill>
              <a:prstDash val="solid"/>
              <a:round/>
            </a:ln>
          </a:insideH>
          <a:insideV>
            <a:ln w="12700" cap="flat">
              <a:solidFill>
                <a:srgbClr val="333333"/>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16"/>
    <p:restoredTop sz="70634"/>
  </p:normalViewPr>
  <p:slideViewPr>
    <p:cSldViewPr snapToGrid="0" snapToObjects="1">
      <p:cViewPr varScale="1">
        <p:scale>
          <a:sx n="85" d="100"/>
          <a:sy n="85" d="100"/>
        </p:scale>
        <p:origin x="2920"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97" name="Shape 197"/>
          <p:cNvSpPr>
            <a:spLocks noGrp="1" noRot="1" noChangeAspect="1"/>
          </p:cNvSpPr>
          <p:nvPr>
            <p:ph type="sldImg"/>
          </p:nvPr>
        </p:nvSpPr>
        <p:spPr>
          <a:xfrm>
            <a:off x="1143000" y="685800"/>
            <a:ext cx="4572000" cy="3429000"/>
          </a:xfrm>
          <a:prstGeom prst="rect">
            <a:avLst/>
          </a:prstGeom>
        </p:spPr>
        <p:txBody>
          <a:bodyPr/>
          <a:lstStyle/>
          <a:p>
            <a:endParaRPr/>
          </a:p>
        </p:txBody>
      </p:sp>
      <p:sp>
        <p:nvSpPr>
          <p:cNvPr id="198" name="Shape 19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j-lt"/>
        <a:ea typeface="+mj-ea"/>
        <a:cs typeface="+mj-cs"/>
        <a:sym typeface="Arial"/>
      </a:defRPr>
    </a:lvl1pPr>
    <a:lvl2pPr indent="228600" latinLnBrk="0">
      <a:spcBef>
        <a:spcPts val="400"/>
      </a:spcBef>
      <a:defRPr sz="1200">
        <a:latin typeface="+mj-lt"/>
        <a:ea typeface="+mj-ea"/>
        <a:cs typeface="+mj-cs"/>
        <a:sym typeface="Arial"/>
      </a:defRPr>
    </a:lvl2pPr>
    <a:lvl3pPr indent="457200" latinLnBrk="0">
      <a:spcBef>
        <a:spcPts val="400"/>
      </a:spcBef>
      <a:defRPr sz="1200">
        <a:latin typeface="+mj-lt"/>
        <a:ea typeface="+mj-ea"/>
        <a:cs typeface="+mj-cs"/>
        <a:sym typeface="Arial"/>
      </a:defRPr>
    </a:lvl3pPr>
    <a:lvl4pPr indent="685800" latinLnBrk="0">
      <a:spcBef>
        <a:spcPts val="400"/>
      </a:spcBef>
      <a:defRPr sz="1200">
        <a:latin typeface="+mj-lt"/>
        <a:ea typeface="+mj-ea"/>
        <a:cs typeface="+mj-cs"/>
        <a:sym typeface="Arial"/>
      </a:defRPr>
    </a:lvl4pPr>
    <a:lvl5pPr indent="914400" latinLnBrk="0">
      <a:spcBef>
        <a:spcPts val="400"/>
      </a:spcBef>
      <a:defRPr sz="1200">
        <a:latin typeface="+mj-lt"/>
        <a:ea typeface="+mj-ea"/>
        <a:cs typeface="+mj-cs"/>
        <a:sym typeface="Arial"/>
      </a:defRPr>
    </a:lvl5pPr>
    <a:lvl6pPr indent="1143000" latinLnBrk="0">
      <a:spcBef>
        <a:spcPts val="400"/>
      </a:spcBef>
      <a:defRPr sz="1200">
        <a:latin typeface="+mj-lt"/>
        <a:ea typeface="+mj-ea"/>
        <a:cs typeface="+mj-cs"/>
        <a:sym typeface="Arial"/>
      </a:defRPr>
    </a:lvl6pPr>
    <a:lvl7pPr indent="1371600" latinLnBrk="0">
      <a:spcBef>
        <a:spcPts val="400"/>
      </a:spcBef>
      <a:defRPr sz="1200">
        <a:latin typeface="+mj-lt"/>
        <a:ea typeface="+mj-ea"/>
        <a:cs typeface="+mj-cs"/>
        <a:sym typeface="Arial"/>
      </a:defRPr>
    </a:lvl7pPr>
    <a:lvl8pPr indent="1600200" latinLnBrk="0">
      <a:spcBef>
        <a:spcPts val="400"/>
      </a:spcBef>
      <a:defRPr sz="1200">
        <a:latin typeface="+mj-lt"/>
        <a:ea typeface="+mj-ea"/>
        <a:cs typeface="+mj-cs"/>
        <a:sym typeface="Arial"/>
      </a:defRPr>
    </a:lvl8pPr>
    <a:lvl9pPr indent="1828800" latinLnBrk="0">
      <a:spcBef>
        <a:spcPts val="400"/>
      </a:spcBef>
      <a:defRPr sz="1200">
        <a:latin typeface="+mj-lt"/>
        <a:ea typeface="+mj-ea"/>
        <a:cs typeface="+mj-cs"/>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Tree>
    <p:extLst>
      <p:ext uri="{BB962C8B-B14F-4D97-AF65-F5344CB8AC3E}">
        <p14:creationId xmlns:p14="http://schemas.microsoft.com/office/powerpoint/2010/main" val="14588992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Our focus is notebooks, but most of what we discuss today is common across all software ecosystems.</a:t>
            </a:r>
          </a:p>
        </p:txBody>
      </p:sp>
    </p:spTree>
    <p:extLst>
      <p:ext uri="{BB962C8B-B14F-4D97-AF65-F5344CB8AC3E}">
        <p14:creationId xmlns:p14="http://schemas.microsoft.com/office/powerpoint/2010/main" val="39569002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i="1" dirty="0"/>
              <a:t>Note to instructor:  I am NOT implying these features not exist in languages, rather more advocating the notebooks are ready!</a:t>
            </a:r>
          </a:p>
          <a:p>
            <a:endParaRPr lang="en-AU" dirty="0"/>
          </a:p>
          <a:p>
            <a:r>
              <a:rPr lang="en-AU" dirty="0"/>
              <a:t>RELIABIILTY: </a:t>
            </a:r>
            <a:r>
              <a:rPr lang="en-AU" dirty="0" err="1"/>
              <a:t>Jupyter's</a:t>
            </a:r>
            <a:r>
              <a:rPr lang="en-AU" dirty="0"/>
              <a:t> way more stable now than it was a few years ago, but it still introduces more ways for code to break, especially if your notebook server is not something you're spinning up uniquely for every project. Virtual environments (containers and VM instances) solve a lot of the issues</a:t>
            </a:r>
          </a:p>
          <a:p>
            <a:endParaRPr lang="en-AU" dirty="0"/>
          </a:p>
          <a:p>
            <a:r>
              <a:rPr lang="en-AU" dirty="0"/>
              <a:t>ACCESSIBILITY: While apps like </a:t>
            </a:r>
            <a:r>
              <a:rPr lang="en-AU" dirty="0" err="1"/>
              <a:t>Github</a:t>
            </a:r>
            <a:r>
              <a:rPr lang="en-AU" dirty="0"/>
              <a:t> and </a:t>
            </a:r>
            <a:r>
              <a:rPr lang="en-AU" dirty="0" err="1"/>
              <a:t>nbviewer</a:t>
            </a:r>
            <a:r>
              <a:rPr lang="en-AU" dirty="0"/>
              <a:t> have made it easier to share notebooks, there's still a lot more flexibility to be had from exporting results into text files, spreadsheets, databases, or saved images </a:t>
            </a:r>
          </a:p>
          <a:p>
            <a:endParaRPr lang="en-AU" dirty="0"/>
          </a:p>
          <a:p>
            <a:r>
              <a:rPr lang="en-AU" dirty="0"/>
              <a:t>REUSABIILTY: Modules and packages exist because copied-and-pasted code is inefficient to produce and nearly impossible to maintain </a:t>
            </a:r>
          </a:p>
          <a:p>
            <a:endParaRPr lang="en-AU" dirty="0"/>
          </a:p>
          <a:p>
            <a:r>
              <a:rPr lang="en-AU" dirty="0"/>
              <a:t>INTERPRETABILTY: By putting code alongside documentation and results, notebooks make it much easier for others (or future you) to figure out what your code does, and that's as valuable for production as development </a:t>
            </a:r>
          </a:p>
          <a:p>
            <a:endParaRPr lang="en-AU" dirty="0"/>
          </a:p>
          <a:p>
            <a:r>
              <a:rPr lang="en-AU" dirty="0"/>
              <a:t>FLEXIBILITY: Notebooks have a Swiss Army Knife quality to them - you can do almost anything in them, but they're not the best tool for every job </a:t>
            </a:r>
          </a:p>
          <a:p>
            <a:endParaRPr lang="en-AU" dirty="0"/>
          </a:p>
          <a:p>
            <a:r>
              <a:rPr lang="en-AU" dirty="0"/>
              <a:t>AGILITY: We love notebooks because they make data analysis simpler and faster, and getting something new into production quickly is a big deal </a:t>
            </a:r>
          </a:p>
          <a:p>
            <a:endParaRPr lang="en-AU" dirty="0"/>
          </a:p>
        </p:txBody>
      </p:sp>
    </p:spTree>
    <p:extLst>
      <p:ext uri="{BB962C8B-B14F-4D97-AF65-F5344CB8AC3E}">
        <p14:creationId xmlns:p14="http://schemas.microsoft.com/office/powerpoint/2010/main" val="857589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HOW DO YOU GET THE DATA? </a:t>
            </a:r>
          </a:p>
          <a:p>
            <a:pPr marL="171450" indent="-171450">
              <a:buFont typeface="Arial" panose="020B0604020202020204" pitchFamily="34" charset="0"/>
              <a:buChar char="•"/>
            </a:pPr>
            <a:r>
              <a:rPr lang="en-AU" dirty="0"/>
              <a:t>Are you using an extract? Connecting to a database? Pulling from a data store like S3? </a:t>
            </a:r>
          </a:p>
          <a:p>
            <a:pPr marL="171450" indent="-171450">
              <a:buFont typeface="Arial" panose="020B0604020202020204" pitchFamily="34" charset="0"/>
              <a:buChar char="•"/>
            </a:pPr>
            <a:r>
              <a:rPr lang="en-AU" dirty="0"/>
              <a:t>And is it already prepped for you? Do you do it before or after you import it to Python?* </a:t>
            </a:r>
          </a:p>
          <a:p>
            <a:endParaRPr lang="en-AU" dirty="0"/>
          </a:p>
          <a:p>
            <a:r>
              <a:rPr lang="en-AU" dirty="0"/>
              <a:t>WHERE DOES THE CODE RUN? </a:t>
            </a:r>
          </a:p>
          <a:p>
            <a:pPr marL="171450" indent="-171450">
              <a:buFont typeface="Arial" panose="020B0604020202020204" pitchFamily="34" charset="0"/>
              <a:buChar char="•"/>
            </a:pPr>
            <a:r>
              <a:rPr lang="en-AU" dirty="0"/>
              <a:t>Are you doing production work on your personal machine? Running it server? Deploying it with a service? </a:t>
            </a:r>
          </a:p>
          <a:p>
            <a:pPr marL="171450" marR="0" lvl="0" indent="-171450" defTabSz="914400" eaLnBrk="1" fontAlgn="auto" latinLnBrk="0" hangingPunct="1">
              <a:lnSpc>
                <a:spcPct val="100000"/>
              </a:lnSpc>
              <a:spcBef>
                <a:spcPts val="400"/>
              </a:spcBef>
              <a:spcAft>
                <a:spcPts val="0"/>
              </a:spcAft>
              <a:buClrTx/>
              <a:buSzTx/>
              <a:buFont typeface="Arial" panose="020B0604020202020204" pitchFamily="34" charset="0"/>
              <a:buChar char="•"/>
              <a:tabLst/>
              <a:defRPr/>
            </a:pPr>
            <a:r>
              <a:rPr lang="en-AU" dirty="0"/>
              <a:t>How are you handling dependencies? Creating environments? Making Docker containers? </a:t>
            </a:r>
          </a:p>
          <a:p>
            <a:endParaRPr lang="en-AU" dirty="0"/>
          </a:p>
          <a:p>
            <a:endParaRPr lang="en-AU" dirty="0"/>
          </a:p>
          <a:p>
            <a:r>
              <a:rPr lang="en-AU" dirty="0"/>
              <a:t>HOW IS YOUR CODE ORGANIZED? </a:t>
            </a:r>
          </a:p>
          <a:p>
            <a:pPr marL="171450" indent="-171450">
              <a:buFont typeface="Arial" panose="020B0604020202020204" pitchFamily="34" charset="0"/>
              <a:buChar char="•"/>
            </a:pPr>
            <a:r>
              <a:rPr lang="en-AU" dirty="0"/>
              <a:t>Are you calling Python as a </a:t>
            </a:r>
            <a:r>
              <a:rPr lang="en-AU" dirty="0" err="1"/>
              <a:t>Jupyter</a:t>
            </a:r>
            <a:r>
              <a:rPr lang="en-AU" dirty="0"/>
              <a:t> kernel, or converting it into a standard Python script? </a:t>
            </a:r>
          </a:p>
          <a:p>
            <a:pPr marL="171450" indent="-171450">
              <a:buFont typeface="Arial" panose="020B0604020202020204" pitchFamily="34" charset="0"/>
              <a:buChar char="•"/>
            </a:pPr>
            <a:r>
              <a:rPr lang="en-AU" dirty="0"/>
              <a:t>Is all your code in one file? Are you using functions? Objects? Are your parameters in the same file or a different one? Are you making packages? </a:t>
            </a:r>
          </a:p>
          <a:p>
            <a:endParaRPr lang="en-AU" dirty="0"/>
          </a:p>
          <a:p>
            <a:endParaRPr lang="en-AU" dirty="0"/>
          </a:p>
          <a:p>
            <a:r>
              <a:rPr lang="en-AU" dirty="0"/>
              <a:t>WHERE DO YOUR OUTPUTS GO? </a:t>
            </a:r>
          </a:p>
          <a:p>
            <a:pPr marL="171450" indent="-171450">
              <a:buFont typeface="Arial" panose="020B0604020202020204" pitchFamily="34" charset="0"/>
              <a:buChar char="•"/>
            </a:pPr>
            <a:r>
              <a:rPr lang="en-AU" dirty="0"/>
              <a:t>Are the outputs something that can be represented in notebook or do you need them in another format? Are you sharing them? Using for multiple purposes? </a:t>
            </a:r>
          </a:p>
          <a:p>
            <a:pPr marL="171450" indent="-171450">
              <a:buFont typeface="Arial" panose="020B0604020202020204" pitchFamily="34" charset="0"/>
              <a:buChar char="•"/>
            </a:pPr>
            <a:r>
              <a:rPr lang="en-AU" dirty="0"/>
              <a:t>service like AWS Lambda? </a:t>
            </a:r>
          </a:p>
          <a:p>
            <a:pPr marL="171450" indent="-171450">
              <a:buFont typeface="Arial" panose="020B0604020202020204" pitchFamily="34" charset="0"/>
              <a:buChar char="•"/>
            </a:pPr>
            <a:r>
              <a:rPr lang="en-AU" dirty="0"/>
              <a:t>Are there supplemental outputs (descriptive stats, validation checks, etc.) that work well in a notebook? </a:t>
            </a:r>
          </a:p>
          <a:p>
            <a:endParaRPr lang="en-AU" dirty="0"/>
          </a:p>
        </p:txBody>
      </p:sp>
    </p:spTree>
    <p:extLst>
      <p:ext uri="{BB962C8B-B14F-4D97-AF65-F5344CB8AC3E}">
        <p14:creationId xmlns:p14="http://schemas.microsoft.com/office/powerpoint/2010/main" val="26361614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These are high level concepts common across languages, compiled or interpreted. Your software ecosystem needs to provide this functionality</a:t>
            </a:r>
          </a:p>
          <a:p>
            <a:endParaRPr lang="en-AU" dirty="0"/>
          </a:p>
          <a:p>
            <a:r>
              <a:rPr lang="en-AU" dirty="0"/>
              <a:t>Move from Development to Beta/Staging [Optional] to Production</a:t>
            </a:r>
          </a:p>
          <a:p>
            <a:endParaRPr lang="en-AU" dirty="0"/>
          </a:p>
          <a:p>
            <a:r>
              <a:rPr lang="en-AU" dirty="0"/>
              <a:t>Business rules enforce the difference commonly implemented with branches in version control software.  Line between Development and Production – See CI/CD</a:t>
            </a:r>
          </a:p>
          <a:p>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We think of Graphical Application, but could be services</a:t>
            </a:r>
          </a:p>
          <a:p>
            <a:endParaRPr lang="en-AU" dirty="0"/>
          </a:p>
          <a:p>
            <a:r>
              <a:rPr lang="en-AU" dirty="0"/>
              <a:t>Way to deploy the application, how can we handle all the diverse environment?</a:t>
            </a:r>
          </a:p>
        </p:txBody>
      </p:sp>
    </p:spTree>
    <p:extLst>
      <p:ext uri="{BB962C8B-B14F-4D97-AF65-F5344CB8AC3E}">
        <p14:creationId xmlns:p14="http://schemas.microsoft.com/office/powerpoint/2010/main" val="29891250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Only install what is necessary to reduce library/package conflicts</a:t>
            </a:r>
          </a:p>
          <a:p>
            <a:endParaRPr lang="en-AU" dirty="0"/>
          </a:p>
          <a:p>
            <a:r>
              <a:rPr lang="en-AU" dirty="0"/>
              <a:t>Simulate production environment verse a custom local development environment </a:t>
            </a:r>
          </a:p>
          <a:p>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Python Specific – </a:t>
            </a:r>
            <a:r>
              <a:rPr lang="en-AU" dirty="0" err="1"/>
              <a:t>venv</a:t>
            </a:r>
            <a:r>
              <a:rPr lang="en-AU" dirty="0"/>
              <a:t>, </a:t>
            </a:r>
            <a:r>
              <a:rPr lang="en-AU" dirty="0" err="1"/>
              <a:t>pyenv</a:t>
            </a:r>
            <a:r>
              <a:rPr lang="en-AU" dirty="0"/>
              <a:t> (Local CLI tools)</a:t>
            </a:r>
          </a:p>
          <a:p>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Notebook Specific – </a:t>
            </a:r>
            <a:r>
              <a:rPr lang="en-AU" dirty="0" err="1"/>
              <a:t>Jupyter</a:t>
            </a:r>
            <a:r>
              <a:rPr lang="en-AU" dirty="0"/>
              <a:t> Lab, </a:t>
            </a:r>
            <a:r>
              <a:rPr lang="en-AU" dirty="0" err="1"/>
              <a:t>Paperspace</a:t>
            </a:r>
            <a:r>
              <a:rPr lang="en-AU" dirty="0"/>
              <a:t>, </a:t>
            </a:r>
            <a:r>
              <a:rPr lang="en-AU" dirty="0" err="1"/>
              <a:t>Colab</a:t>
            </a:r>
            <a:endParaRPr lang="en-AU" dirty="0"/>
          </a:p>
          <a:p>
            <a:pPr marL="0" marR="0" lvl="0" indent="0" defTabSz="914400" eaLnBrk="1" fontAlgn="auto" latinLnBrk="0" hangingPunct="1">
              <a:lnSpc>
                <a:spcPct val="100000"/>
              </a:lnSpc>
              <a:spcBef>
                <a:spcPts val="400"/>
              </a:spcBef>
              <a:spcAft>
                <a:spcPts val="0"/>
              </a:spcAft>
              <a:buClrTx/>
              <a:buSzTx/>
              <a:buFontTx/>
              <a:buNone/>
              <a:tabLst/>
              <a:defRPr/>
            </a:pPr>
            <a:endParaRPr lang="en-AU" dirty="0"/>
          </a:p>
          <a:p>
            <a:pPr marL="0" marR="0" lvl="0" indent="0" defTabSz="914400" eaLnBrk="1" fontAlgn="auto" latinLnBrk="0" hangingPunct="1">
              <a:lnSpc>
                <a:spcPct val="100000"/>
              </a:lnSpc>
              <a:spcBef>
                <a:spcPts val="400"/>
              </a:spcBef>
              <a:spcAft>
                <a:spcPts val="0"/>
              </a:spcAft>
              <a:buClrTx/>
              <a:buSzTx/>
              <a:buFontTx/>
              <a:buNone/>
              <a:tabLst/>
              <a:defRPr/>
            </a:pPr>
            <a:r>
              <a:rPr lang="en-AU" dirty="0"/>
              <a:t>Containers - Docker</a:t>
            </a:r>
          </a:p>
          <a:p>
            <a:endParaRPr lang="en-AU" dirty="0"/>
          </a:p>
          <a:p>
            <a:r>
              <a:rPr lang="en-AU" dirty="0"/>
              <a:t>General Cloud – Google Compute, AWS etc</a:t>
            </a:r>
          </a:p>
        </p:txBody>
      </p:sp>
    </p:spTree>
    <p:extLst>
      <p:ext uri="{BB962C8B-B14F-4D97-AF65-F5344CB8AC3E}">
        <p14:creationId xmlns:p14="http://schemas.microsoft.com/office/powerpoint/2010/main" val="33018988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Tradition/Old way, Notebook to Script</a:t>
            </a:r>
          </a:p>
          <a:p>
            <a:r>
              <a:rPr lang="en-AU" dirty="0"/>
              <a:t>New way use container technology and webapps </a:t>
            </a:r>
          </a:p>
          <a:p>
            <a:endParaRPr lang="en-AU" dirty="0"/>
          </a:p>
          <a:p>
            <a:r>
              <a:rPr lang="en-AU" dirty="0"/>
              <a:t>Other things to consider</a:t>
            </a:r>
          </a:p>
          <a:p>
            <a:pPr marL="171450" indent="-171450">
              <a:buFont typeface="Arial" panose="020B0604020202020204" pitchFamily="34" charset="0"/>
              <a:buChar char="•"/>
            </a:pPr>
            <a:r>
              <a:rPr lang="en-AU" dirty="0"/>
              <a:t>DATA PREPARATION. You could run a distinct ETL step at the start of production, have it as a totally separate pipeline, or include it in your main analysis / </a:t>
            </a:r>
            <a:r>
              <a:rPr lang="en-AU" dirty="0" err="1"/>
              <a:t>modeling</a:t>
            </a:r>
            <a:r>
              <a:rPr lang="en-AU" dirty="0"/>
              <a:t> code. </a:t>
            </a:r>
          </a:p>
          <a:p>
            <a:pPr marL="171450" indent="-171450">
              <a:buFont typeface="Arial" panose="020B0604020202020204" pitchFamily="34" charset="0"/>
              <a:buChar char="•"/>
            </a:pPr>
            <a:r>
              <a:rPr lang="en-AU" dirty="0"/>
              <a:t>VERSION CONTROL AND CI. Often the split between dev and prod isn't nearly as clean, so you may go back and forth between the two using tools like Jenkins or Travis. (That also means adding tests into the workflow!) </a:t>
            </a:r>
          </a:p>
          <a:p>
            <a:pPr marL="171450" indent="-171450">
              <a:buFont typeface="Arial" panose="020B0604020202020204" pitchFamily="34" charset="0"/>
              <a:buChar char="•"/>
            </a:pPr>
            <a:r>
              <a:rPr lang="en-AU" dirty="0"/>
              <a:t>CONTAINERS AND ENVIRONMENTS. At production time, you'll probably want to package up all your dependencies along with your scripts, especially if you plan to automate </a:t>
            </a:r>
          </a:p>
          <a:p>
            <a:pPr marL="171450" indent="-171450">
              <a:buFont typeface="Arial" panose="020B0604020202020204" pitchFamily="34" charset="0"/>
              <a:buChar char="•"/>
            </a:pPr>
            <a:r>
              <a:rPr lang="en-AU"/>
              <a:t>SERVICES AND DEPLOYMENT. These </a:t>
            </a:r>
            <a:r>
              <a:rPr lang="en-AU" dirty="0"/>
              <a:t>patterns describe your typical batch workflow, but in more complex use cases "production" will also include on-demand or streaming use, and services like APIs and Lambda have unique requirements </a:t>
            </a:r>
          </a:p>
          <a:p>
            <a:endParaRPr lang="en-AU" dirty="0"/>
          </a:p>
        </p:txBody>
      </p:sp>
    </p:spTree>
    <p:extLst>
      <p:ext uri="{BB962C8B-B14F-4D97-AF65-F5344CB8AC3E}">
        <p14:creationId xmlns:p14="http://schemas.microsoft.com/office/powerpoint/2010/main" val="41914819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sz="1200" b="1" i="0" dirty="0">
                <a:effectLst/>
                <a:latin typeface="+mj-lt"/>
                <a:ea typeface="+mj-ea"/>
                <a:cs typeface="+mj-cs"/>
                <a:sym typeface="Arial"/>
              </a:rPr>
              <a:t>Binder allows you to open those notebooks in an executable environment, making your code immediately reproducible by anyone, anywhere.</a:t>
            </a:r>
          </a:p>
          <a:p>
            <a:pPr marL="0" indent="0">
              <a:buNone/>
            </a:pPr>
            <a:endParaRPr lang="en-AU" dirty="0"/>
          </a:p>
          <a:p>
            <a:pPr marL="228600" indent="-228600">
              <a:buAutoNum type="arabicPeriod"/>
            </a:pPr>
            <a:r>
              <a:rPr lang="en-AU" dirty="0"/>
              <a:t>Make sure GitHub selected</a:t>
            </a:r>
          </a:p>
          <a:p>
            <a:pPr marL="228600" indent="-228600">
              <a:buAutoNum type="arabicPeriod"/>
            </a:pPr>
            <a:r>
              <a:rPr lang="en-AU" dirty="0"/>
              <a:t>Copy URL form repository</a:t>
            </a:r>
          </a:p>
          <a:p>
            <a:pPr marL="228600" indent="-228600">
              <a:buAutoNum type="arabicPeriod"/>
            </a:pPr>
            <a:r>
              <a:rPr lang="en-AU" dirty="0"/>
              <a:t>Copy URL to share</a:t>
            </a:r>
          </a:p>
          <a:p>
            <a:pPr marL="228600" indent="-228600">
              <a:buAutoNum type="arabicPeriod"/>
            </a:pPr>
            <a:r>
              <a:rPr lang="en-AU" dirty="0"/>
              <a:t>Click Launch</a:t>
            </a:r>
          </a:p>
          <a:p>
            <a:pPr marL="228600" indent="-228600">
              <a:buAutoNum type="arabicPeriod"/>
            </a:pPr>
            <a:endParaRPr lang="en-AU" dirty="0"/>
          </a:p>
        </p:txBody>
      </p:sp>
    </p:spTree>
    <p:extLst>
      <p:ext uri="{BB962C8B-B14F-4D97-AF65-F5344CB8AC3E}">
        <p14:creationId xmlns:p14="http://schemas.microsoft.com/office/powerpoint/2010/main" val="22861412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200" b="0" i="0" dirty="0">
                <a:effectLst/>
                <a:latin typeface="+mj-lt"/>
                <a:ea typeface="+mj-ea"/>
                <a:cs typeface="+mj-cs"/>
                <a:sym typeface="Arial"/>
              </a:rPr>
              <a:t>We will look at GUIs in later lecture, but here is a teaser</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Widgets + </a:t>
            </a:r>
            <a:r>
              <a:rPr lang="en-AU" sz="1200" b="0" i="0" dirty="0" err="1">
                <a:effectLst/>
                <a:latin typeface="+mj-lt"/>
                <a:ea typeface="+mj-ea"/>
                <a:cs typeface="+mj-cs"/>
                <a:sym typeface="Arial"/>
              </a:rPr>
              <a:t>Appmode</a:t>
            </a:r>
            <a:r>
              <a:rPr lang="en-AU" sz="1200" b="0" i="0" dirty="0">
                <a:effectLst/>
                <a:latin typeface="+mj-lt"/>
                <a:ea typeface="+mj-ea"/>
                <a:cs typeface="+mj-cs"/>
                <a:sym typeface="Arial"/>
              </a:rPr>
              <a:t> = Application </a:t>
            </a:r>
          </a:p>
          <a:p>
            <a:endParaRPr lang="en-AU" sz="1200" b="0" i="0" dirty="0">
              <a:effectLst/>
              <a:latin typeface="+mj-lt"/>
              <a:ea typeface="+mj-ea"/>
              <a:cs typeface="+mj-cs"/>
              <a:sym typeface="Arial"/>
            </a:endParaRPr>
          </a:p>
          <a:p>
            <a:r>
              <a:rPr lang="en-AU" sz="1200" b="0" i="0" dirty="0">
                <a:effectLst/>
                <a:latin typeface="+mj-lt"/>
                <a:ea typeface="+mj-ea"/>
                <a:cs typeface="+mj-cs"/>
                <a:sym typeface="Arial"/>
              </a:rPr>
              <a:t>When a notebook is opened in </a:t>
            </a:r>
            <a:r>
              <a:rPr lang="en-AU" sz="1200" b="0" i="0" dirty="0" err="1">
                <a:effectLst/>
                <a:latin typeface="+mj-lt"/>
                <a:ea typeface="+mj-ea"/>
                <a:cs typeface="+mj-cs"/>
                <a:sym typeface="Arial"/>
              </a:rPr>
              <a:t>Appmode</a:t>
            </a:r>
            <a:r>
              <a:rPr lang="en-AU" sz="1200" b="0" i="0" dirty="0">
                <a:effectLst/>
                <a:latin typeface="+mj-lt"/>
                <a:ea typeface="+mj-ea"/>
                <a:cs typeface="+mj-cs"/>
                <a:sym typeface="Arial"/>
              </a:rPr>
              <a:t>:</a:t>
            </a:r>
          </a:p>
          <a:p>
            <a:pPr marL="171450" indent="-171450">
              <a:buFont typeface="Arial" panose="020B0604020202020204" pitchFamily="34" charset="0"/>
              <a:buChar char="•"/>
            </a:pPr>
            <a:r>
              <a:rPr lang="en-AU" sz="1200" b="0" i="0" dirty="0">
                <a:effectLst/>
                <a:latin typeface="+mj-lt"/>
                <a:ea typeface="+mj-ea"/>
                <a:cs typeface="+mj-cs"/>
                <a:sym typeface="Arial"/>
              </a:rPr>
              <a:t>a dedicated kernel is launched to allow for concurrent views.</a:t>
            </a:r>
          </a:p>
          <a:p>
            <a:pPr marL="171450" indent="-171450">
              <a:buFont typeface="Arial" panose="020B0604020202020204" pitchFamily="34" charset="0"/>
              <a:buChar char="•"/>
            </a:pPr>
            <a:r>
              <a:rPr lang="en-AU" sz="1200" b="0" i="0" dirty="0">
                <a:effectLst/>
                <a:latin typeface="+mj-lt"/>
                <a:ea typeface="+mj-ea"/>
                <a:cs typeface="+mj-cs"/>
                <a:sym typeface="Arial"/>
              </a:rPr>
              <a:t>code cells and the toolbar are hidden to provide a clean UI.</a:t>
            </a:r>
          </a:p>
          <a:p>
            <a:pPr marL="171450" indent="-171450">
              <a:buFont typeface="Arial" panose="020B0604020202020204" pitchFamily="34" charset="0"/>
              <a:buChar char="•"/>
            </a:pPr>
            <a:r>
              <a:rPr lang="en-AU" sz="1200" b="0" i="0" dirty="0">
                <a:effectLst/>
                <a:latin typeface="+mj-lt"/>
                <a:ea typeface="+mj-ea"/>
                <a:cs typeface="+mj-cs"/>
                <a:sym typeface="Arial"/>
              </a:rPr>
              <a:t>all cells are executed automatically.</a:t>
            </a:r>
          </a:p>
          <a:p>
            <a:endParaRPr lang="en-AU" sz="1200" b="0" i="0" dirty="0">
              <a:effectLst/>
              <a:latin typeface="+mj-lt"/>
              <a:ea typeface="+mj-ea"/>
              <a:cs typeface="+mj-cs"/>
              <a:sym typeface="Arial"/>
            </a:endParaRPr>
          </a:p>
          <a:p>
            <a:pPr marL="0" marR="0" lvl="0" indent="0" defTabSz="914400" eaLnBrk="1" fontAlgn="auto" latinLnBrk="0" hangingPunct="1">
              <a:lnSpc>
                <a:spcPct val="100000"/>
              </a:lnSpc>
              <a:spcBef>
                <a:spcPts val="400"/>
              </a:spcBef>
              <a:spcAft>
                <a:spcPts val="0"/>
              </a:spcAft>
              <a:buClrTx/>
              <a:buSzTx/>
              <a:buFontTx/>
              <a:buNone/>
              <a:tabLst/>
              <a:defRPr/>
            </a:pPr>
            <a:r>
              <a:rPr lang="en-AU" sz="1200" b="0" i="0" dirty="0">
                <a:effectLst/>
                <a:latin typeface="+mj-lt"/>
                <a:ea typeface="+mj-ea"/>
                <a:cs typeface="+mj-cs"/>
                <a:sym typeface="Arial"/>
              </a:rPr>
              <a:t>Multiple notebooks can be linked via </a:t>
            </a:r>
            <a:r>
              <a:rPr lang="en-AU" sz="1200" b="0" i="0" dirty="0" err="1">
                <a:effectLst/>
                <a:latin typeface="+mj-lt"/>
                <a:ea typeface="+mj-ea"/>
                <a:cs typeface="+mj-cs"/>
                <a:sym typeface="Arial"/>
              </a:rPr>
              <a:t>url</a:t>
            </a:r>
            <a:r>
              <a:rPr lang="en-AU" sz="1200" b="0" i="0" dirty="0">
                <a:effectLst/>
                <a:latin typeface="+mj-lt"/>
                <a:ea typeface="+mj-ea"/>
                <a:cs typeface="+mj-cs"/>
                <a:sym typeface="Arial"/>
              </a:rPr>
              <a:t> parameters to create even more sophisticated user experiences. </a:t>
            </a:r>
          </a:p>
          <a:p>
            <a:br>
              <a:rPr lang="en-AU" sz="1200" b="0" i="0" dirty="0">
                <a:effectLst/>
                <a:latin typeface="+mj-lt"/>
                <a:ea typeface="+mj-ea"/>
                <a:cs typeface="+mj-cs"/>
                <a:sym typeface="Arial"/>
              </a:rPr>
            </a:br>
            <a:endParaRPr lang="en-AU" dirty="0"/>
          </a:p>
        </p:txBody>
      </p:sp>
    </p:spTree>
    <p:extLst>
      <p:ext uri="{BB962C8B-B14F-4D97-AF65-F5344CB8AC3E}">
        <p14:creationId xmlns:p14="http://schemas.microsoft.com/office/powerpoint/2010/main" val="3381144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As notebooks grow from development to shareable applications they are becoming the end products</a:t>
            </a:r>
          </a:p>
          <a:p>
            <a:endParaRPr lang="en-AU" dirty="0"/>
          </a:p>
          <a:p>
            <a:r>
              <a:rPr lang="en-AU" dirty="0"/>
              <a:t>Container technology continues to expand in the ecosystem, notebooks become practical</a:t>
            </a:r>
          </a:p>
          <a:p>
            <a:endParaRPr lang="en-AU" dirty="0"/>
          </a:p>
          <a:p>
            <a:r>
              <a:rPr lang="en-AU" dirty="0"/>
              <a:t>New platforms are making notebooks first-class part of the toolkit</a:t>
            </a:r>
          </a:p>
          <a:p>
            <a:endParaRPr lang="en-AU" dirty="0"/>
          </a:p>
          <a:p>
            <a:r>
              <a:rPr lang="en-AU" dirty="0" err="1"/>
              <a:t>Jupyter</a:t>
            </a:r>
            <a:r>
              <a:rPr lang="en-AU" dirty="0"/>
              <a:t> blurring the lines between development and production (extensions verse packages)</a:t>
            </a:r>
          </a:p>
          <a:p>
            <a:endParaRPr lang="en-AU" dirty="0"/>
          </a:p>
        </p:txBody>
      </p:sp>
    </p:spTree>
    <p:extLst>
      <p:ext uri="{BB962C8B-B14F-4D97-AF65-F5344CB8AC3E}">
        <p14:creationId xmlns:p14="http://schemas.microsoft.com/office/powerpoint/2010/main" val="16335268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Our focus is notebooks, but most of what we discuss today is common across all software ecosystems.</a:t>
            </a:r>
          </a:p>
        </p:txBody>
      </p:sp>
    </p:spTree>
    <p:extLst>
      <p:ext uri="{BB962C8B-B14F-4D97-AF65-F5344CB8AC3E}">
        <p14:creationId xmlns:p14="http://schemas.microsoft.com/office/powerpoint/2010/main" val="4161126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One-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14" name="Rectangle"/>
          <p:cNvSpPr/>
          <p:nvPr/>
        </p:nvSpPr>
        <p:spPr>
          <a:xfrm>
            <a:off x="0" y="4000503"/>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15" name="Body Level One…"/>
          <p:cNvSpPr txBox="1">
            <a:spLocks noGrp="1"/>
          </p:cNvSpPr>
          <p:nvPr>
            <p:ph type="body" sz="quarter" idx="1"/>
          </p:nvPr>
        </p:nvSpPr>
        <p:spPr>
          <a:xfrm>
            <a:off x="0" y="40005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1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17" name="Title Text"/>
          <p:cNvSpPr txBox="1">
            <a:spLocks noGrp="1"/>
          </p:cNvSpPr>
          <p:nvPr>
            <p:ph type="title"/>
          </p:nvPr>
        </p:nvSpPr>
        <p:spPr>
          <a:xfrm>
            <a:off x="0" y="3214684"/>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1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ne-line title, transparent">
    <p:spTree>
      <p:nvGrpSpPr>
        <p:cNvPr id="1" name=""/>
        <p:cNvGrpSpPr/>
        <p:nvPr/>
      </p:nvGrpSpPr>
      <p:grpSpPr>
        <a:xfrm>
          <a:off x="0" y="0"/>
          <a:ext cx="0" cy="0"/>
          <a:chOff x="0" y="0"/>
          <a:chExt cx="0" cy="0"/>
        </a:xfrm>
      </p:grpSpPr>
      <p:pic>
        <p:nvPicPr>
          <p:cNvPr id="25"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26" name="Rectangle"/>
          <p:cNvSpPr/>
          <p:nvPr/>
        </p:nvSpPr>
        <p:spPr>
          <a:xfrm>
            <a:off x="0" y="5063734"/>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27" name="Body Level One…"/>
          <p:cNvSpPr txBox="1">
            <a:spLocks noGrp="1"/>
          </p:cNvSpPr>
          <p:nvPr>
            <p:ph type="body" sz="quarter" idx="1"/>
          </p:nvPr>
        </p:nvSpPr>
        <p:spPr>
          <a:xfrm>
            <a:off x="92818" y="5054603"/>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000000"/>
                </a:solidFill>
                <a:latin typeface="+mj-lt"/>
                <a:ea typeface="+mj-ea"/>
                <a:cs typeface="+mj-cs"/>
                <a:sym typeface="Arial"/>
              </a:defRPr>
            </a:pPr>
            <a:r>
              <a:t>Curtin University is a trademark of Curtin University of Technology</a:t>
            </a:r>
          </a:p>
          <a:p>
            <a:pPr>
              <a:defRPr sz="600">
                <a:solidFill>
                  <a:srgbClr val="000000"/>
                </a:solidFill>
                <a:latin typeface="+mj-lt"/>
                <a:ea typeface="+mj-ea"/>
                <a:cs typeface="+mj-cs"/>
                <a:sym typeface="Arial"/>
              </a:defRPr>
            </a:pPr>
            <a:r>
              <a:t>CRICOS Provider Code 00301J</a:t>
            </a:r>
          </a:p>
        </p:txBody>
      </p:sp>
      <p:sp>
        <p:nvSpPr>
          <p:cNvPr id="29" name="Title Text"/>
          <p:cNvSpPr txBox="1">
            <a:spLocks noGrp="1"/>
          </p:cNvSpPr>
          <p:nvPr>
            <p:ph type="title"/>
          </p:nvPr>
        </p:nvSpPr>
        <p:spPr>
          <a:xfrm>
            <a:off x="0" y="4268437"/>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wo-line title">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37"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38"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40" name="Title Text"/>
          <p:cNvSpPr txBox="1">
            <a:spLocks noGrp="1"/>
          </p:cNvSpPr>
          <p:nvPr>
            <p:ph type="title"/>
          </p:nvPr>
        </p:nvSpPr>
        <p:spPr>
          <a:xfrm>
            <a:off x="0" y="2857493"/>
            <a:ext cx="5760000" cy="786166"/>
          </a:xfrm>
          <a:prstGeom prst="rect">
            <a:avLst/>
          </a:prstGeom>
          <a:solidFill>
            <a:schemeClr val="accent1"/>
          </a:solidFill>
        </p:spPr>
        <p:txBody>
          <a:bodyPr anchor="b"/>
          <a:lstStyle>
            <a:lvl1pPr>
              <a:defRPr sz="4400">
                <a:solidFill>
                  <a:srgbClr val="FFFFFF"/>
                </a:solidFill>
              </a:defRPr>
            </a:lvl1pPr>
          </a:lstStyle>
          <a:p>
            <a:r>
              <a:t>Title Text</a:t>
            </a:r>
          </a:p>
        </p:txBody>
      </p:sp>
      <p:sp>
        <p:nvSpPr>
          <p:cNvPr id="41" name="CHANGE IN MASTER"/>
          <p:cNvSpPr/>
          <p:nvPr/>
        </p:nvSpPr>
        <p:spPr>
          <a:xfrm>
            <a:off x="-3" y="3812756"/>
            <a:ext cx="5601247" cy="616720"/>
          </a:xfrm>
          <a:prstGeom prst="rect">
            <a:avLst/>
          </a:prstGeom>
          <a:solidFill>
            <a:schemeClr val="accent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4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wo-line title, transparent">
    <p:spTree>
      <p:nvGrpSpPr>
        <p:cNvPr id="1" name=""/>
        <p:cNvGrpSpPr/>
        <p:nvPr/>
      </p:nvGrpSpPr>
      <p:grpSpPr>
        <a:xfrm>
          <a:off x="0" y="0"/>
          <a:ext cx="0" cy="0"/>
          <a:chOff x="0" y="0"/>
          <a:chExt cx="0" cy="0"/>
        </a:xfrm>
      </p:grpSpPr>
      <p:pic>
        <p:nvPicPr>
          <p:cNvPr id="49" name="curtinPowerPointBGTitle" descr="curtinPowerPointBGTitle"/>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50"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sp>
        <p:nvSpPr>
          <p:cNvPr id="51" name="Rectangle"/>
          <p:cNvSpPr/>
          <p:nvPr/>
        </p:nvSpPr>
        <p:spPr>
          <a:xfrm>
            <a:off x="0" y="4429130"/>
            <a:ext cx="6624638" cy="346078"/>
          </a:xfrm>
          <a:prstGeom prst="rect">
            <a:avLst/>
          </a:prstGeom>
          <a:solidFill>
            <a:srgbClr val="000000"/>
          </a:solidFill>
          <a:ln w="12700">
            <a:miter lim="400000"/>
          </a:ln>
        </p:spPr>
        <p:txBody>
          <a:bodyPr lIns="45718" tIns="45718" rIns="45718" bIns="45718" anchor="ctr"/>
          <a:lstStyle/>
          <a:p>
            <a:pPr algn="r">
              <a:spcBef>
                <a:spcPts val="1000"/>
              </a:spcBef>
              <a:defRPr sz="1600">
                <a:solidFill>
                  <a:schemeClr val="accent1"/>
                </a:solidFill>
                <a:latin typeface="+mj-lt"/>
                <a:ea typeface="+mj-ea"/>
                <a:cs typeface="+mj-cs"/>
                <a:sym typeface="Arial"/>
              </a:defRPr>
            </a:pPr>
            <a:endParaRPr/>
          </a:p>
        </p:txBody>
      </p:sp>
      <p:sp>
        <p:nvSpPr>
          <p:cNvPr id="52" name="Body Level One…"/>
          <p:cNvSpPr txBox="1">
            <a:spLocks noGrp="1"/>
          </p:cNvSpPr>
          <p:nvPr>
            <p:ph type="body" sz="quarter" idx="1"/>
          </p:nvPr>
        </p:nvSpPr>
        <p:spPr>
          <a:xfrm>
            <a:off x="0" y="4429130"/>
            <a:ext cx="5211763" cy="346078"/>
          </a:xfrm>
          <a:prstGeom prst="rect">
            <a:avLst/>
          </a:prstGeom>
        </p:spPr>
        <p:txBody>
          <a:bodyPr anchor="ctr"/>
          <a:lstStyle>
            <a:lvl1pPr marL="0" indent="0">
              <a:lnSpc>
                <a:spcPct val="100000"/>
              </a:lnSpc>
              <a:spcBef>
                <a:spcPts val="900"/>
              </a:spcBef>
              <a:buClrTx/>
              <a:buSzTx/>
              <a:buNone/>
              <a:defRPr sz="1600" b="1">
                <a:solidFill>
                  <a:srgbClr val="FFFFFF"/>
                </a:solidFill>
              </a:defRPr>
            </a:lvl1pPr>
            <a:lvl2pPr indent="0">
              <a:lnSpc>
                <a:spcPct val="100000"/>
              </a:lnSpc>
              <a:spcBef>
                <a:spcPts val="900"/>
              </a:spcBef>
              <a:buClrTx/>
              <a:buFontTx/>
              <a:defRPr sz="1600" b="1">
                <a:solidFill>
                  <a:srgbClr val="FFFFFF"/>
                </a:solidFill>
              </a:defRPr>
            </a:lvl2pPr>
            <a:lvl3pPr indent="0">
              <a:lnSpc>
                <a:spcPct val="100000"/>
              </a:lnSpc>
              <a:spcBef>
                <a:spcPts val="900"/>
              </a:spcBef>
              <a:buClrTx/>
              <a:buFontTx/>
              <a:defRPr sz="1600" b="1">
                <a:solidFill>
                  <a:srgbClr val="FFFFFF"/>
                </a:solidFill>
              </a:defRPr>
            </a:lvl3pPr>
            <a:lvl4pPr indent="0">
              <a:lnSpc>
                <a:spcPct val="100000"/>
              </a:lnSpc>
              <a:spcBef>
                <a:spcPts val="900"/>
              </a:spcBef>
              <a:buClrTx/>
              <a:buFontTx/>
              <a:defRPr sz="1600" b="1">
                <a:solidFill>
                  <a:srgbClr val="FFFFFF"/>
                </a:solidFill>
              </a:defRPr>
            </a:lvl4pPr>
            <a:lvl5pPr indent="0">
              <a:lnSpc>
                <a:spcPct val="100000"/>
              </a:lnSpc>
              <a:spcBef>
                <a:spcPts val="900"/>
              </a:spcBef>
              <a:buClrTx/>
              <a:buFontTx/>
              <a:defRPr sz="1600" b="1">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53" name="Title Text"/>
          <p:cNvSpPr txBox="1">
            <a:spLocks noGrp="1"/>
          </p:cNvSpPr>
          <p:nvPr>
            <p:ph type="title"/>
          </p:nvPr>
        </p:nvSpPr>
        <p:spPr>
          <a:xfrm>
            <a:off x="0" y="2857493"/>
            <a:ext cx="5760000" cy="786166"/>
          </a:xfrm>
          <a:prstGeom prst="rect">
            <a:avLst/>
          </a:prstGeom>
          <a:solidFill>
            <a:schemeClr val="accent1">
              <a:alpha val="80000"/>
            </a:schemeClr>
          </a:solidFill>
        </p:spPr>
        <p:txBody>
          <a:bodyPr anchor="b"/>
          <a:lstStyle>
            <a:lvl1pPr>
              <a:defRPr sz="4400">
                <a:solidFill>
                  <a:srgbClr val="FFFFFF"/>
                </a:solidFill>
              </a:defRPr>
            </a:lvl1pPr>
          </a:lstStyle>
          <a:p>
            <a:r>
              <a:t>Title Text</a:t>
            </a:r>
          </a:p>
        </p:txBody>
      </p:sp>
      <p:sp>
        <p:nvSpPr>
          <p:cNvPr id="54" name="CHANGE IN MASTER"/>
          <p:cNvSpPr/>
          <p:nvPr/>
        </p:nvSpPr>
        <p:spPr>
          <a:xfrm>
            <a:off x="-3" y="3812756"/>
            <a:ext cx="5601247" cy="616720"/>
          </a:xfrm>
          <a:prstGeom prst="rect">
            <a:avLst/>
          </a:prstGeom>
          <a:solidFill>
            <a:schemeClr val="accent1">
              <a:alpha val="80000"/>
            </a:schemeClr>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nchor="b">
            <a:spAutoFit/>
          </a:bodyPr>
          <a:lstStyle>
            <a:lvl1pPr>
              <a:defRPr sz="4400">
                <a:solidFill>
                  <a:srgbClr val="FFFFFF"/>
                </a:solidFill>
                <a:latin typeface="+mj-lt"/>
                <a:ea typeface="+mj-ea"/>
                <a:cs typeface="+mj-cs"/>
                <a:sym typeface="Arial"/>
              </a:defRPr>
            </a:lvl1pPr>
          </a:lstStyle>
          <a:p>
            <a:r>
              <a:t>CHANGE IN MASTER</a:t>
            </a:r>
          </a:p>
        </p:txBody>
      </p:sp>
      <p:sp>
        <p:nvSpPr>
          <p:cNvPr id="5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and Content">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Body Level One…"/>
          <p:cNvSpPr txBox="1">
            <a:spLocks noGrp="1"/>
          </p:cNvSpPr>
          <p:nvPr>
            <p:ph type="body" idx="1"/>
          </p:nvPr>
        </p:nvSpPr>
        <p:spPr>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64" name="Slide Number"/>
          <p:cNvSpPr txBox="1">
            <a:spLocks noGrp="1"/>
          </p:cNvSpPr>
          <p:nvPr>
            <p:ph type="sldNum" sz="quarter" idx="2"/>
          </p:nvPr>
        </p:nvSpPr>
        <p:spPr>
          <a:xfrm>
            <a:off x="4419600" y="6172200"/>
            <a:ext cx="2133600" cy="3683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71"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72"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73" name="Title Text"/>
          <p:cNvSpPr txBox="1">
            <a:spLocks noGrp="1"/>
          </p:cNvSpPr>
          <p:nvPr>
            <p:ph type="title"/>
          </p:nvPr>
        </p:nvSpPr>
        <p:spPr>
          <a:xfrm>
            <a:off x="722312" y="4406900"/>
            <a:ext cx="7772401" cy="1362075"/>
          </a:xfrm>
          <a:prstGeom prst="rect">
            <a:avLst/>
          </a:prstGeom>
        </p:spPr>
        <p:txBody>
          <a:bodyPr/>
          <a:lstStyle>
            <a:lvl1pPr>
              <a:defRPr sz="4000" b="1" cap="all"/>
            </a:lvl1pPr>
          </a:lstStyle>
          <a:p>
            <a:r>
              <a:t>Title Text</a:t>
            </a:r>
          </a:p>
        </p:txBody>
      </p:sp>
      <p:sp>
        <p:nvSpPr>
          <p:cNvPr id="74" name="Body Level One…"/>
          <p:cNvSpPr txBox="1">
            <a:spLocks noGrp="1"/>
          </p:cNvSpPr>
          <p:nvPr>
            <p:ph type="body" sz="quarter" idx="1"/>
          </p:nvPr>
        </p:nvSpPr>
        <p:spPr>
          <a:xfrm>
            <a:off x="722312" y="2906713"/>
            <a:ext cx="7772401" cy="1500190"/>
          </a:xfrm>
          <a:prstGeom prst="rect">
            <a:avLst/>
          </a:prstGeom>
        </p:spPr>
        <p:txBody>
          <a:bodyPr anchor="b"/>
          <a:lstStyle>
            <a:lvl1pPr marL="0" indent="0">
              <a:spcBef>
                <a:spcPts val="700"/>
              </a:spcBef>
              <a:buClrTx/>
              <a:buSzTx/>
              <a:buNone/>
              <a:defRPr sz="2000"/>
            </a:lvl1pPr>
            <a:lvl2pPr indent="0">
              <a:spcBef>
                <a:spcPts val="700"/>
              </a:spcBef>
              <a:buClrTx/>
              <a:buFontTx/>
              <a:defRPr sz="2000"/>
            </a:lvl2pPr>
            <a:lvl3pPr indent="0">
              <a:spcBef>
                <a:spcPts val="700"/>
              </a:spcBef>
              <a:buClrTx/>
              <a:buFontTx/>
              <a:defRPr sz="2000"/>
            </a:lvl3pPr>
            <a:lvl4pPr indent="0">
              <a:spcBef>
                <a:spcPts val="700"/>
              </a:spcBef>
              <a:buClrTx/>
              <a:buFontTx/>
              <a:defRPr sz="2000"/>
            </a:lvl4pPr>
            <a:lvl5pPr indent="0">
              <a:spcBef>
                <a:spcPts val="700"/>
              </a:spcBef>
              <a:buClrTx/>
              <a:buFontTx/>
              <a:defRPr sz="2000"/>
            </a:lvl5pPr>
          </a:lstStyle>
          <a:p>
            <a:r>
              <a:t>Body Level One</a:t>
            </a:r>
          </a:p>
          <a:p>
            <a:pPr lvl="1"/>
            <a:r>
              <a:t>Body Level Two</a:t>
            </a:r>
          </a:p>
          <a:p>
            <a:pPr lvl="2"/>
            <a:r>
              <a:t>Body Level Three</a:t>
            </a:r>
          </a:p>
          <a:p>
            <a:pPr lvl="3"/>
            <a:r>
              <a:t>Body Level Four</a:t>
            </a:r>
          </a:p>
          <a:p>
            <a:pPr lvl="4"/>
            <a:r>
              <a:t>Body Level Five</a:t>
            </a:r>
          </a:p>
        </p:txBody>
      </p:sp>
      <p:sp>
        <p:nvSpPr>
          <p:cNvPr id="75"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 Content">
    <p:spTree>
      <p:nvGrpSpPr>
        <p:cNvPr id="1" name=""/>
        <p:cNvGrpSpPr/>
        <p:nvPr/>
      </p:nvGrpSpPr>
      <p:grpSpPr>
        <a:xfrm>
          <a:off x="0" y="0"/>
          <a:ext cx="0" cy="0"/>
          <a:chOff x="0" y="0"/>
          <a:chExt cx="0" cy="0"/>
        </a:xfrm>
      </p:grpSpPr>
      <p:sp>
        <p:nvSpPr>
          <p:cNvPr id="82"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83"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84"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85" name="Body Level One…"/>
          <p:cNvSpPr txBox="1">
            <a:spLocks noGrp="1"/>
          </p:cNvSpPr>
          <p:nvPr>
            <p:ph type="body" sz="half" idx="1"/>
          </p:nvPr>
        </p:nvSpPr>
        <p:spPr>
          <a:xfrm>
            <a:off x="457200" y="1600200"/>
            <a:ext cx="4038600" cy="4349750"/>
          </a:xfrm>
          <a:prstGeom prst="rect">
            <a:avLst/>
          </a:prstGeom>
        </p:spPr>
        <p:txBody>
          <a:bodyPr/>
          <a:lstStyle>
            <a:lvl1pPr>
              <a:spcBef>
                <a:spcPts val="1000"/>
              </a:spcBef>
              <a:defRPr sz="2800"/>
            </a:lvl1pPr>
            <a:lvl2pPr indent="0">
              <a:spcBef>
                <a:spcPts val="1000"/>
              </a:spcBef>
              <a:defRPr sz="2800"/>
            </a:lvl2pPr>
            <a:lvl3pPr indent="0">
              <a:spcBef>
                <a:spcPts val="1000"/>
              </a:spcBef>
              <a:defRPr sz="2800"/>
            </a:lvl3pPr>
            <a:lvl4pPr indent="0">
              <a:spcBef>
                <a:spcPts val="1000"/>
              </a:spcBef>
              <a:defRPr sz="2800"/>
            </a:lvl4pPr>
            <a:lvl5pPr indent="0">
              <a:spcBef>
                <a:spcPts val="1000"/>
              </a:spcBef>
              <a:defRPr sz="2800"/>
            </a:lvl5pPr>
          </a:lstStyle>
          <a:p>
            <a:r>
              <a:t>Body Level One</a:t>
            </a:r>
          </a:p>
          <a:p>
            <a:pPr lvl="1"/>
            <a:r>
              <a:t>Body Level Two</a:t>
            </a:r>
          </a:p>
          <a:p>
            <a:pPr lvl="2"/>
            <a:r>
              <a:t>Body Level Three</a:t>
            </a:r>
          </a:p>
          <a:p>
            <a:pPr lvl="3"/>
            <a:r>
              <a:t>Body Level Four</a:t>
            </a:r>
          </a:p>
          <a:p>
            <a:pPr lvl="4"/>
            <a:r>
              <a:t>Body Level Five</a:t>
            </a:r>
          </a:p>
        </p:txBody>
      </p:sp>
      <p:sp>
        <p:nvSpPr>
          <p:cNvPr id="86"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93"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94"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95" name="Title Text"/>
          <p:cNvSpPr txBox="1">
            <a:spLocks noGrp="1"/>
          </p:cNvSpPr>
          <p:nvPr>
            <p:ph type="title"/>
          </p:nvPr>
        </p:nvSpPr>
        <p:spPr>
          <a:xfrm>
            <a:off x="457200" y="274638"/>
            <a:ext cx="8229600" cy="1143001"/>
          </a:xfrm>
          <a:prstGeom prst="rect">
            <a:avLst/>
          </a:prstGeom>
        </p:spPr>
        <p:txBody>
          <a:bodyPr/>
          <a:lstStyle/>
          <a:p>
            <a:r>
              <a:t>Title Text</a:t>
            </a:r>
          </a:p>
        </p:txBody>
      </p:sp>
      <p:sp>
        <p:nvSpPr>
          <p:cNvPr id="96" name="Body Level One…"/>
          <p:cNvSpPr txBox="1">
            <a:spLocks noGrp="1"/>
          </p:cNvSpPr>
          <p:nvPr>
            <p:ph type="body" sz="quarter" idx="1"/>
          </p:nvPr>
        </p:nvSpPr>
        <p:spPr>
          <a:xfrm>
            <a:off x="457200" y="1535112"/>
            <a:ext cx="4040188" cy="639763"/>
          </a:xfrm>
          <a:prstGeom prst="rect">
            <a:avLst/>
          </a:prstGeom>
        </p:spPr>
        <p:txBody>
          <a:bodyPr anchor="b"/>
          <a:lstStyle>
            <a:lvl1pPr marL="0" indent="0">
              <a:buClrTx/>
              <a:buSzTx/>
              <a:buNone/>
              <a:defRPr b="1"/>
            </a:lvl1pPr>
            <a:lvl2pPr indent="0">
              <a:buClrTx/>
              <a:buFontTx/>
              <a:defRPr b="1"/>
            </a:lvl2pPr>
            <a:lvl3pPr indent="0">
              <a:buClrTx/>
              <a:buFontTx/>
              <a:defRPr b="1"/>
            </a:lvl3pPr>
            <a:lvl4pPr indent="0">
              <a:buClrTx/>
              <a:buFontTx/>
              <a:defRPr b="1"/>
            </a:lvl4pPr>
            <a:lvl5pPr indent="0">
              <a:buClrTx/>
              <a:buFontTx/>
              <a:defRPr b="1"/>
            </a:lvl5pPr>
          </a:lstStyle>
          <a:p>
            <a:r>
              <a:t>Body Level One</a:t>
            </a:r>
          </a:p>
          <a:p>
            <a:pPr lvl="1"/>
            <a:r>
              <a:t>Body Level Two</a:t>
            </a:r>
          </a:p>
          <a:p>
            <a:pPr lvl="2"/>
            <a:r>
              <a:t>Body Level Three</a:t>
            </a:r>
          </a:p>
          <a:p>
            <a:pPr lvl="3"/>
            <a:r>
              <a:t>Body Level Four</a:t>
            </a:r>
          </a:p>
          <a:p>
            <a:pPr lvl="4"/>
            <a:r>
              <a:t>Body Level Five</a:t>
            </a:r>
          </a:p>
        </p:txBody>
      </p:sp>
      <p:sp>
        <p:nvSpPr>
          <p:cNvPr id="97" name="Rectangle"/>
          <p:cNvSpPr>
            <a:spLocks noGrp="1"/>
          </p:cNvSpPr>
          <p:nvPr>
            <p:ph type="body" sz="quarter" idx="13"/>
          </p:nvPr>
        </p:nvSpPr>
        <p:spPr>
          <a:xfrm>
            <a:off x="4645025" y="1535112"/>
            <a:ext cx="4041775" cy="639765"/>
          </a:xfrm>
          <a:prstGeom prst="rect">
            <a:avLst/>
          </a:prstGeom>
        </p:spPr>
        <p:txBody>
          <a:bodyPr anchor="b"/>
          <a:lstStyle/>
          <a:p>
            <a:endParaRPr/>
          </a:p>
        </p:txBody>
      </p:sp>
      <p:sp>
        <p:nvSpPr>
          <p:cNvPr id="9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Only">
    <p:spTree>
      <p:nvGrpSpPr>
        <p:cNvPr id="1" name=""/>
        <p:cNvGrpSpPr/>
        <p:nvPr/>
      </p:nvGrpSpPr>
      <p:grpSpPr>
        <a:xfrm>
          <a:off x="0" y="0"/>
          <a:ext cx="0" cy="0"/>
          <a:chOff x="0" y="0"/>
          <a:chExt cx="0" cy="0"/>
        </a:xfrm>
      </p:grpSpPr>
      <p:sp>
        <p:nvSpPr>
          <p:cNvPr id="10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0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07"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08"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115"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16"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17"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124"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25"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26" name="Title Text"/>
          <p:cNvSpPr txBox="1">
            <a:spLocks noGrp="1"/>
          </p:cNvSpPr>
          <p:nvPr>
            <p:ph type="title"/>
          </p:nvPr>
        </p:nvSpPr>
        <p:spPr>
          <a:xfrm>
            <a:off x="457200" y="273050"/>
            <a:ext cx="3008316" cy="1162050"/>
          </a:xfrm>
          <a:prstGeom prst="rect">
            <a:avLst/>
          </a:prstGeom>
        </p:spPr>
        <p:txBody>
          <a:bodyPr anchor="b"/>
          <a:lstStyle>
            <a:lvl1pPr>
              <a:defRPr sz="2000" b="1"/>
            </a:lvl1pPr>
          </a:lstStyle>
          <a:p>
            <a:r>
              <a:t>Title Text</a:t>
            </a:r>
          </a:p>
        </p:txBody>
      </p:sp>
      <p:sp>
        <p:nvSpPr>
          <p:cNvPr id="127" name="Body Level One…"/>
          <p:cNvSpPr txBox="1">
            <a:spLocks noGrp="1"/>
          </p:cNvSpPr>
          <p:nvPr>
            <p:ph type="body" idx="1"/>
          </p:nvPr>
        </p:nvSpPr>
        <p:spPr>
          <a:xfrm>
            <a:off x="3575050" y="273050"/>
            <a:ext cx="5111750" cy="5656282"/>
          </a:xfrm>
          <a:prstGeom prst="rect">
            <a:avLst/>
          </a:prstGeom>
        </p:spPr>
        <p:txBody>
          <a:bodyPr/>
          <a:lstStyle>
            <a:lvl1pPr>
              <a:spcBef>
                <a:spcPts val="1100"/>
              </a:spcBef>
              <a:defRPr sz="3200"/>
            </a:lvl1pPr>
            <a:lvl2pPr indent="0">
              <a:spcBef>
                <a:spcPts val="1100"/>
              </a:spcBef>
              <a:defRPr sz="3200"/>
            </a:lvl2pPr>
            <a:lvl3pPr indent="0">
              <a:spcBef>
                <a:spcPts val="1100"/>
              </a:spcBef>
              <a:defRPr sz="3200"/>
            </a:lvl3pPr>
            <a:lvl4pPr indent="0">
              <a:spcBef>
                <a:spcPts val="1100"/>
              </a:spcBef>
              <a:defRPr sz="3200"/>
            </a:lvl4pPr>
            <a:lvl5pPr indent="0">
              <a:spcBef>
                <a:spcPts val="1100"/>
              </a:spcBef>
              <a:defRPr sz="3200"/>
            </a:lvl5pPr>
          </a:lstStyle>
          <a:p>
            <a:r>
              <a:t>Body Level One</a:t>
            </a:r>
          </a:p>
          <a:p>
            <a:pPr lvl="1"/>
            <a:r>
              <a:t>Body Level Two</a:t>
            </a:r>
          </a:p>
          <a:p>
            <a:pPr lvl="2"/>
            <a:r>
              <a:t>Body Level Three</a:t>
            </a:r>
          </a:p>
          <a:p>
            <a:pPr lvl="3"/>
            <a:r>
              <a:t>Body Level Four</a:t>
            </a:r>
          </a:p>
          <a:p>
            <a:pPr lvl="4"/>
            <a:r>
              <a:t>Body Level Five</a:t>
            </a:r>
          </a:p>
        </p:txBody>
      </p:sp>
      <p:sp>
        <p:nvSpPr>
          <p:cNvPr id="128" name="Rectangle"/>
          <p:cNvSpPr>
            <a:spLocks noGrp="1"/>
          </p:cNvSpPr>
          <p:nvPr>
            <p:ph type="body" sz="half" idx="13"/>
          </p:nvPr>
        </p:nvSpPr>
        <p:spPr>
          <a:xfrm>
            <a:off x="457198" y="1435099"/>
            <a:ext cx="3008317" cy="4494234"/>
          </a:xfrm>
          <a:prstGeom prst="rect">
            <a:avLst/>
          </a:prstGeom>
        </p:spPr>
        <p:txBody>
          <a:bodyPr/>
          <a:lstStyle/>
          <a:p>
            <a:endParaRPr/>
          </a:p>
        </p:txBody>
      </p:sp>
      <p:sp>
        <p:nvSpPr>
          <p:cNvPr id="129"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136"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37"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38" name="Title Text"/>
          <p:cNvSpPr txBox="1">
            <a:spLocks noGrp="1"/>
          </p:cNvSpPr>
          <p:nvPr>
            <p:ph type="title"/>
          </p:nvPr>
        </p:nvSpPr>
        <p:spPr>
          <a:xfrm>
            <a:off x="1792288" y="4800600"/>
            <a:ext cx="5486403" cy="566738"/>
          </a:xfrm>
          <a:prstGeom prst="rect">
            <a:avLst/>
          </a:prstGeom>
        </p:spPr>
        <p:txBody>
          <a:bodyPr anchor="b"/>
          <a:lstStyle>
            <a:lvl1pPr>
              <a:defRPr sz="2000" b="1"/>
            </a:lvl1pPr>
          </a:lstStyle>
          <a:p>
            <a:r>
              <a:t>Title Text</a:t>
            </a:r>
          </a:p>
        </p:txBody>
      </p:sp>
      <p:sp>
        <p:nvSpPr>
          <p:cNvPr id="139" name="Image"/>
          <p:cNvSpPr>
            <a:spLocks noGrp="1"/>
          </p:cNvSpPr>
          <p:nvPr>
            <p:ph type="pic" sz="half" idx="13"/>
          </p:nvPr>
        </p:nvSpPr>
        <p:spPr>
          <a:xfrm>
            <a:off x="1792288" y="612775"/>
            <a:ext cx="5486403" cy="4114800"/>
          </a:xfrm>
          <a:prstGeom prst="rect">
            <a:avLst/>
          </a:prstGeom>
        </p:spPr>
        <p:txBody>
          <a:bodyPr lIns="91439" tIns="45719" rIns="91439" bIns="45719">
            <a:noAutofit/>
          </a:bodyPr>
          <a:lstStyle/>
          <a:p>
            <a:endParaRPr/>
          </a:p>
        </p:txBody>
      </p:sp>
      <p:sp>
        <p:nvSpPr>
          <p:cNvPr id="140" name="Body Level One…"/>
          <p:cNvSpPr txBox="1">
            <a:spLocks noGrp="1"/>
          </p:cNvSpPr>
          <p:nvPr>
            <p:ph type="body" sz="quarter" idx="1"/>
          </p:nvPr>
        </p:nvSpPr>
        <p:spPr>
          <a:xfrm>
            <a:off x="1792288" y="5367337"/>
            <a:ext cx="5486403" cy="490557"/>
          </a:xfrm>
          <a:prstGeom prst="rect">
            <a:avLst/>
          </a:prstGeom>
        </p:spPr>
        <p:txBody>
          <a:bodyPr/>
          <a:lstStyle>
            <a:lvl1pPr marL="0" indent="0">
              <a:spcBef>
                <a:spcPts val="500"/>
              </a:spcBef>
              <a:buClrTx/>
              <a:buSzTx/>
              <a:buNone/>
              <a:defRPr sz="1400"/>
            </a:lvl1pPr>
            <a:lvl2pPr indent="0">
              <a:spcBef>
                <a:spcPts val="500"/>
              </a:spcBef>
              <a:buClrTx/>
              <a:buFontTx/>
              <a:defRPr sz="1400"/>
            </a:lvl2pPr>
            <a:lvl3pPr indent="0">
              <a:spcBef>
                <a:spcPts val="500"/>
              </a:spcBef>
              <a:buClrTx/>
              <a:buFontTx/>
              <a:defRPr sz="1400"/>
            </a:lvl3pPr>
            <a:lvl4pPr indent="0">
              <a:spcBef>
                <a:spcPts val="500"/>
              </a:spcBef>
              <a:buClrTx/>
              <a:buFontTx/>
              <a:defRPr sz="1400"/>
            </a:lvl4pPr>
            <a:lvl5pPr indent="0">
              <a:spcBef>
                <a:spcPts val="500"/>
              </a:spcBef>
              <a:buClrTx/>
              <a:buFontTx/>
              <a:defRPr sz="1400"/>
            </a:lvl5pPr>
          </a:lstStyle>
          <a:p>
            <a:r>
              <a:t>Body Level One</a:t>
            </a:r>
          </a:p>
          <a:p>
            <a:pPr lvl="1"/>
            <a:r>
              <a:t>Body Level Two</a:t>
            </a:r>
          </a:p>
          <a:p>
            <a:pPr lvl="2"/>
            <a:r>
              <a:t>Body Level Three</a:t>
            </a:r>
          </a:p>
          <a:p>
            <a:pPr lvl="3"/>
            <a:r>
              <a:t>Body Level Four</a:t>
            </a:r>
          </a:p>
          <a:p>
            <a:pPr lvl="4"/>
            <a:r>
              <a:t>Body Level Five</a:t>
            </a:r>
          </a:p>
        </p:txBody>
      </p:sp>
      <p:sp>
        <p:nvSpPr>
          <p:cNvPr id="141"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and Vertical Text">
    <p:spTree>
      <p:nvGrpSpPr>
        <p:cNvPr id="1" name=""/>
        <p:cNvGrpSpPr/>
        <p:nvPr/>
      </p:nvGrpSpPr>
      <p:grpSpPr>
        <a:xfrm>
          <a:off x="0" y="0"/>
          <a:ext cx="0" cy="0"/>
          <a:chOff x="0" y="0"/>
          <a:chExt cx="0" cy="0"/>
        </a:xfrm>
      </p:grpSpPr>
      <p:sp>
        <p:nvSpPr>
          <p:cNvPr id="148"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49"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50" name="Title Text"/>
          <p:cNvSpPr txBox="1">
            <a:spLocks noGrp="1"/>
          </p:cNvSpPr>
          <p:nvPr>
            <p:ph type="title"/>
          </p:nvPr>
        </p:nvSpPr>
        <p:spPr>
          <a:xfrm>
            <a:off x="468312" y="560387"/>
            <a:ext cx="8207376" cy="996951"/>
          </a:xfrm>
          <a:prstGeom prst="rect">
            <a:avLst/>
          </a:prstGeom>
        </p:spPr>
        <p:txBody>
          <a:bodyPr/>
          <a:lstStyle/>
          <a:p>
            <a:r>
              <a:t>Title Text</a:t>
            </a:r>
          </a:p>
        </p:txBody>
      </p:sp>
      <p:sp>
        <p:nvSpPr>
          <p:cNvPr id="151" name="Body Level One…"/>
          <p:cNvSpPr txBox="1">
            <a:spLocks noGrp="1"/>
          </p:cNvSpPr>
          <p:nvPr>
            <p:ph type="body" idx="1"/>
          </p:nvPr>
        </p:nvSpPr>
        <p:spPr>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52"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Vertical Title and Text">
    <p:spTree>
      <p:nvGrpSpPr>
        <p:cNvPr id="1" name=""/>
        <p:cNvGrpSpPr/>
        <p:nvPr/>
      </p:nvGrpSpPr>
      <p:grpSpPr>
        <a:xfrm>
          <a:off x="0" y="0"/>
          <a:ext cx="0" cy="0"/>
          <a:chOff x="0" y="0"/>
          <a:chExt cx="0" cy="0"/>
        </a:xfrm>
      </p:grpSpPr>
      <p:sp>
        <p:nvSpPr>
          <p:cNvPr id="159" name="Curtin University is a trademark of Curtin University of Technology…"/>
          <p:cNvSpPr txBox="1"/>
          <p:nvPr/>
        </p:nvSpPr>
        <p:spPr>
          <a:xfrm>
            <a:off x="468311"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160" name="curtinPowerPointBGContent-Alpha.gif" descr="curtinPowerPointBGContent-Alpha.gif"/>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161" name="Title Text"/>
          <p:cNvSpPr txBox="1">
            <a:spLocks noGrp="1"/>
          </p:cNvSpPr>
          <p:nvPr>
            <p:ph type="title"/>
          </p:nvPr>
        </p:nvSpPr>
        <p:spPr>
          <a:xfrm>
            <a:off x="6629400" y="560387"/>
            <a:ext cx="2057400" cy="5389565"/>
          </a:xfrm>
          <a:prstGeom prst="rect">
            <a:avLst/>
          </a:prstGeom>
        </p:spPr>
        <p:txBody>
          <a:bodyPr/>
          <a:lstStyle/>
          <a:p>
            <a:r>
              <a:t>Title Text</a:t>
            </a:r>
          </a:p>
        </p:txBody>
      </p:sp>
      <p:sp>
        <p:nvSpPr>
          <p:cNvPr id="162" name="Body Level One…"/>
          <p:cNvSpPr txBox="1">
            <a:spLocks noGrp="1"/>
          </p:cNvSpPr>
          <p:nvPr>
            <p:ph type="body" idx="1"/>
          </p:nvPr>
        </p:nvSpPr>
        <p:spPr>
          <a:xfrm>
            <a:off x="457200" y="560387"/>
            <a:ext cx="6019800" cy="5389565"/>
          </a:xfrm>
          <a:prstGeom prst="rect">
            <a:avLst/>
          </a:prstGeom>
        </p:spPr>
        <p:txBody>
          <a:bodyPr/>
          <a:lstStyle>
            <a:lvl2pPr indent="0"/>
            <a:lvl3pPr indent="0"/>
            <a:lvl4pPr indent="0"/>
            <a:lvl5pPr indent="0"/>
          </a:lstStyle>
          <a:p>
            <a:r>
              <a:t>Body Level One</a:t>
            </a:r>
          </a:p>
          <a:p>
            <a:pPr lvl="1"/>
            <a:r>
              <a:t>Body Level Two</a:t>
            </a:r>
          </a:p>
          <a:p>
            <a:pPr lvl="2"/>
            <a:r>
              <a:t>Body Level Three</a:t>
            </a:r>
          </a:p>
          <a:p>
            <a:pPr lvl="3"/>
            <a:r>
              <a:t>Body Level Four</a:t>
            </a:r>
          </a:p>
          <a:p>
            <a:pPr lvl="4"/>
            <a:r>
              <a:t>Body Level Five</a:t>
            </a:r>
          </a:p>
        </p:txBody>
      </p:sp>
      <p:sp>
        <p:nvSpPr>
          <p:cNvPr id="163" name="Slide Number"/>
          <p:cNvSpPr txBox="1">
            <a:spLocks noGrp="1"/>
          </p:cNvSpPr>
          <p:nvPr>
            <p:ph type="sldNum" sz="quarter" idx="2"/>
          </p:nvPr>
        </p:nvSpPr>
        <p:spPr>
          <a:xfrm>
            <a:off x="6279548" y="6224225"/>
            <a:ext cx="273652" cy="26425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0"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77" name="Slide Number"/>
          <p:cNvSpPr txBox="1">
            <a:spLocks noGrp="1"/>
          </p:cNvSpPr>
          <p:nvPr>
            <p:ph type="sldNum" sz="quarter" idx="2"/>
          </p:nvPr>
        </p:nvSpPr>
        <p:spPr>
          <a:xfrm>
            <a:off x="6279548" y="6224225"/>
            <a:ext cx="273652" cy="26425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x">
  <p:cSld name="Default">
    <p:spTree>
      <p:nvGrpSpPr>
        <p:cNvPr id="1" name=""/>
        <p:cNvGrpSpPr/>
        <p:nvPr/>
      </p:nvGrpSpPr>
      <p:grpSpPr>
        <a:xfrm>
          <a:off x="0" y="0"/>
          <a:ext cx="0" cy="0"/>
          <a:chOff x="0" y="0"/>
          <a:chExt cx="0" cy="0"/>
        </a:xfrm>
      </p:grpSpPr>
      <p:sp>
        <p:nvSpPr>
          <p:cNvPr id="184" name="Slide Number"/>
          <p:cNvSpPr txBox="1">
            <a:spLocks noGrp="1"/>
          </p:cNvSpPr>
          <p:nvPr>
            <p:ph type="sldNum" sz="quarter" idx="2"/>
          </p:nvPr>
        </p:nvSpPr>
        <p:spPr>
          <a:xfrm>
            <a:off x="6553200" y="6356350"/>
            <a:ext cx="335862" cy="333084"/>
          </a:xfrm>
          <a:prstGeom prst="rect">
            <a:avLst/>
          </a:prstGeom>
        </p:spPr>
        <p:txBody>
          <a:bodyPr anchor="t"/>
          <a:lstStyle>
            <a:lvl1pPr algn="l">
              <a:defRPr sz="1800">
                <a:solidFill>
                  <a:srgbClr val="000000"/>
                </a:solidFill>
                <a:latin typeface="Calibri"/>
                <a:ea typeface="Calibri"/>
                <a:cs typeface="Calibri"/>
                <a:sym typeface="Calibri"/>
              </a:defRPr>
            </a:lvl1pPr>
          </a:lstStyle>
          <a:p>
            <a:fld id="{86CB4B4D-7CA3-9044-876B-883B54F8677D}" type="slidenum">
              <a:t>‹#›</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x">
  <p:cSld name="Default">
    <p:bg>
      <p:bgPr>
        <a:solidFill>
          <a:schemeClr val="accent3">
            <a:lumOff val="38860"/>
          </a:schemeClr>
        </a:solidFill>
        <a:effectLst/>
      </p:bgPr>
    </p:bg>
    <p:spTree>
      <p:nvGrpSpPr>
        <p:cNvPr id="1" name=""/>
        <p:cNvGrpSpPr/>
        <p:nvPr/>
      </p:nvGrpSpPr>
      <p:grpSpPr>
        <a:xfrm>
          <a:off x="0" y="0"/>
          <a:ext cx="0" cy="0"/>
          <a:chOff x="0" y="0"/>
          <a:chExt cx="0" cy="0"/>
        </a:xfrm>
      </p:grpSpPr>
      <p:sp>
        <p:nvSpPr>
          <p:cNvPr id="191" name="Slide Number"/>
          <p:cNvSpPr txBox="1">
            <a:spLocks noGrp="1"/>
          </p:cNvSpPr>
          <p:nvPr>
            <p:ph type="sldNum" sz="quarter" idx="2"/>
          </p:nvPr>
        </p:nvSpPr>
        <p:spPr>
          <a:xfrm>
            <a:off x="4419600" y="6172200"/>
            <a:ext cx="2133600" cy="368301"/>
          </a:xfrm>
          <a:prstGeom prst="rect">
            <a:avLst/>
          </a:prstGeom>
        </p:spPr>
        <p:txBody>
          <a:bodyPr/>
          <a:lstStyle>
            <a:lvl1pPr>
              <a:defRPr>
                <a:solidFill>
                  <a:srgbClr val="000000"/>
                </a:solidFill>
              </a:defRPr>
            </a:lvl1pPr>
          </a:lstStyle>
          <a:p>
            <a:fld id="{86CB4B4D-7CA3-9044-876B-883B54F8677D}" type="slidenum">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gi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urtin University is a trademark of Curtin University of Technology…"/>
          <p:cNvSpPr txBox="1"/>
          <p:nvPr/>
        </p:nvSpPr>
        <p:spPr>
          <a:xfrm>
            <a:off x="468312" y="6302375"/>
            <a:ext cx="2230389" cy="14990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p>
            <a:pPr>
              <a:defRPr sz="600">
                <a:solidFill>
                  <a:srgbClr val="969696"/>
                </a:solidFill>
                <a:latin typeface="+mj-lt"/>
                <a:ea typeface="+mj-ea"/>
                <a:cs typeface="+mj-cs"/>
                <a:sym typeface="Arial"/>
              </a:defRPr>
            </a:pPr>
            <a:r>
              <a:t>Curtin University is a trademark of Curtin University of Technology</a:t>
            </a:r>
          </a:p>
          <a:p>
            <a:pPr>
              <a:defRPr sz="600">
                <a:solidFill>
                  <a:srgbClr val="969696"/>
                </a:solidFill>
                <a:latin typeface="+mj-lt"/>
                <a:ea typeface="+mj-ea"/>
                <a:cs typeface="+mj-cs"/>
                <a:sym typeface="Arial"/>
              </a:defRPr>
            </a:pPr>
            <a:r>
              <a:t>CRICOS Provider Code 00301J</a:t>
            </a:r>
          </a:p>
        </p:txBody>
      </p:sp>
      <p:pic>
        <p:nvPicPr>
          <p:cNvPr id="3" name="curtinPowerPointBGContent-Alpha.gif" descr="curtinPowerPointBGContent-Alpha.gif"/>
          <p:cNvPicPr>
            <a:picLocks noChangeAspect="1"/>
          </p:cNvPicPr>
          <p:nvPr userDrawn="1"/>
        </p:nvPicPr>
        <p:blipFill>
          <a:blip r:embed="rId20"/>
          <a:stretch>
            <a:fillRect/>
          </a:stretch>
        </p:blipFill>
        <p:spPr>
          <a:xfrm>
            <a:off x="0" y="0"/>
            <a:ext cx="9144000" cy="6858000"/>
          </a:xfrm>
          <a:prstGeom prst="rect">
            <a:avLst/>
          </a:prstGeom>
          <a:ln w="12700">
            <a:miter lim="400000"/>
          </a:ln>
        </p:spPr>
      </p:pic>
      <p:sp>
        <p:nvSpPr>
          <p:cNvPr id="4" name="Title Text"/>
          <p:cNvSpPr txBox="1">
            <a:spLocks noGrp="1"/>
          </p:cNvSpPr>
          <p:nvPr>
            <p:ph type="title"/>
          </p:nvPr>
        </p:nvSpPr>
        <p:spPr>
          <a:xfrm>
            <a:off x="468312" y="560387"/>
            <a:ext cx="8207376" cy="99695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Title Text</a:t>
            </a:r>
          </a:p>
        </p:txBody>
      </p:sp>
      <p:sp>
        <p:nvSpPr>
          <p:cNvPr id="5" name="Body Level One…"/>
          <p:cNvSpPr txBox="1">
            <a:spLocks noGrp="1"/>
          </p:cNvSpPr>
          <p:nvPr>
            <p:ph type="body" idx="1"/>
          </p:nvPr>
        </p:nvSpPr>
        <p:spPr>
          <a:xfrm>
            <a:off x="457200" y="1600200"/>
            <a:ext cx="8229600" cy="434975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t>Body Level One</a:t>
            </a:r>
          </a:p>
          <a:p>
            <a:pPr lvl="1"/>
            <a:r>
              <a:t>Body Level Two</a:t>
            </a:r>
          </a:p>
          <a:p>
            <a:pPr lvl="2"/>
            <a:r>
              <a:t>Body Level Three</a:t>
            </a:r>
          </a:p>
          <a:p>
            <a:pPr lvl="3"/>
            <a:r>
              <a:t>Body Level Four</a:t>
            </a:r>
          </a:p>
          <a:p>
            <a:pPr lvl="4"/>
            <a:r>
              <a:t>Body Level Five</a:t>
            </a:r>
          </a:p>
        </p:txBody>
      </p:sp>
      <p:sp>
        <p:nvSpPr>
          <p:cNvPr id="6" name="INSYS5002 - Introduction to Visual C#"/>
          <p:cNvSpPr txBox="1"/>
          <p:nvPr/>
        </p:nvSpPr>
        <p:spPr>
          <a:xfrm>
            <a:off x="468312" y="6143725"/>
            <a:ext cx="1697581" cy="15388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defRPr sz="1200">
                <a:solidFill>
                  <a:srgbClr val="666666"/>
                </a:solidFill>
                <a:latin typeface="+mj-lt"/>
                <a:ea typeface="+mj-ea"/>
                <a:cs typeface="+mj-cs"/>
                <a:sym typeface="Arial"/>
              </a:defRPr>
            </a:lvl1pPr>
          </a:lstStyle>
          <a:p>
            <a:r>
              <a:rPr sz="1000" dirty="0"/>
              <a:t>ISY</a:t>
            </a:r>
            <a:r>
              <a:rPr lang="en-AU" sz="1000" dirty="0"/>
              <a:t>S</a:t>
            </a:r>
            <a:r>
              <a:rPr sz="1000" dirty="0"/>
              <a:t>S2</a:t>
            </a:r>
            <a:r>
              <a:rPr lang="en-AU" sz="1000" dirty="0"/>
              <a:t>001</a:t>
            </a:r>
            <a:r>
              <a:rPr sz="1000" dirty="0"/>
              <a:t> </a:t>
            </a:r>
            <a:r>
              <a:rPr lang="en-AU" sz="1000" dirty="0"/>
              <a:t>– Managing Code</a:t>
            </a:r>
            <a:endParaRPr sz="10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ransition spd="med"/>
  <p:txStyles>
    <p:titleStyle>
      <a:lvl1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1pPr>
      <a:lvl2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2pPr>
      <a:lvl3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3pPr>
      <a:lvl4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4pPr>
      <a:lvl5pPr marL="0" marR="0" indent="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5pPr>
      <a:lvl6pPr marL="0" marR="0" indent="4572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6pPr>
      <a:lvl7pPr marL="0" marR="0" indent="9144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7pPr>
      <a:lvl8pPr marL="0" marR="0" indent="13716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8pPr>
      <a:lvl9pPr marL="0" marR="0" indent="1828800" algn="l" defTabSz="914400" latinLnBrk="0">
        <a:lnSpc>
          <a:spcPct val="100000"/>
        </a:lnSpc>
        <a:spcBef>
          <a:spcPts val="0"/>
        </a:spcBef>
        <a:spcAft>
          <a:spcPts val="0"/>
        </a:spcAft>
        <a:buClrTx/>
        <a:buSzTx/>
        <a:buFontTx/>
        <a:buNone/>
        <a:tabLst/>
        <a:defRPr sz="3200" b="0" i="0" u="none" strike="noStrike" cap="none" spc="0" baseline="0">
          <a:solidFill>
            <a:schemeClr val="accent4">
              <a:lumOff val="20882"/>
            </a:schemeClr>
          </a:solidFill>
          <a:uFillTx/>
          <a:latin typeface="+mj-lt"/>
          <a:ea typeface="+mj-ea"/>
          <a:cs typeface="+mj-cs"/>
          <a:sym typeface="Arial"/>
        </a:defRPr>
      </a:lvl9pPr>
    </p:titleStyle>
    <p:bodyStyle>
      <a:lvl1pPr marL="266700" marR="0" indent="-266700" algn="l" defTabSz="914400" latinLnBrk="0">
        <a:lnSpc>
          <a:spcPct val="110000"/>
        </a:lnSpc>
        <a:spcBef>
          <a:spcPts val="800"/>
        </a:spcBef>
        <a:spcAft>
          <a:spcPts val="0"/>
        </a:spcAft>
        <a:buClr>
          <a:schemeClr val="accent1"/>
        </a:buClr>
        <a:buSzPct val="100000"/>
        <a:buFontTx/>
        <a:buChar char="▪"/>
        <a:tabLst/>
        <a:defRPr sz="2400" b="0" i="0" u="none" strike="noStrike" cap="none" spc="0" baseline="0">
          <a:solidFill>
            <a:srgbClr val="333333"/>
          </a:solidFill>
          <a:uFillTx/>
          <a:latin typeface="+mj-lt"/>
          <a:ea typeface="+mj-ea"/>
          <a:cs typeface="+mj-cs"/>
          <a:sym typeface="Arial"/>
        </a:defRPr>
      </a:lvl1pPr>
      <a:lvl2pPr marL="0" marR="0" indent="53816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2pPr>
      <a:lvl3pPr marL="0" marR="0" indent="985837"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3pPr>
      <a:lvl4pPr marL="0" marR="0" indent="1433512"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4pPr>
      <a:lvl5pPr marL="0" marR="0" indent="17907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5pPr>
      <a:lvl6pPr marL="0" marR="0" indent="22479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6pPr>
      <a:lvl7pPr marL="0" marR="0" indent="27051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7pPr>
      <a:lvl8pPr marL="0" marR="0" indent="31623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8pPr>
      <a:lvl9pPr marL="0" marR="0" indent="3619500" algn="l" defTabSz="914400" latinLnBrk="0">
        <a:lnSpc>
          <a:spcPct val="110000"/>
        </a:lnSpc>
        <a:spcBef>
          <a:spcPts val="800"/>
        </a:spcBef>
        <a:spcAft>
          <a:spcPts val="0"/>
        </a:spcAft>
        <a:buClr>
          <a:schemeClr val="accent1"/>
        </a:buClr>
        <a:buSzTx/>
        <a:buFont typeface="Wingdings"/>
        <a:buNone/>
        <a:tabLst/>
        <a:defRPr sz="2400" b="0" i="0" u="none" strike="noStrike" cap="none" spc="0" baseline="0">
          <a:solidFill>
            <a:srgbClr val="333333"/>
          </a:solidFill>
          <a:uFillTx/>
          <a:latin typeface="+mj-lt"/>
          <a:ea typeface="+mj-ea"/>
          <a:cs typeface="+mj-cs"/>
          <a:sym typeface="Arial"/>
        </a:defRPr>
      </a:lvl9pPr>
    </p:bodyStyle>
    <p:otherStyle>
      <a:lvl1pPr marL="0" marR="0" indent="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t="-16000" b="-16000"/>
          </a:stretch>
        </a:blipFill>
        <a:effectLst/>
      </p:bgPr>
    </p:bg>
    <p:spTree>
      <p:nvGrpSpPr>
        <p:cNvPr id="1" name=""/>
        <p:cNvGrpSpPr/>
        <p:nvPr/>
      </p:nvGrpSpPr>
      <p:grpSpPr>
        <a:xfrm>
          <a:off x="0" y="0"/>
          <a:ext cx="0" cy="0"/>
          <a:chOff x="0" y="0"/>
          <a:chExt cx="0" cy="0"/>
        </a:xfrm>
      </p:grpSpPr>
      <p:sp>
        <p:nvSpPr>
          <p:cNvPr id="200" name="ISYS5002 Lecture 1, Department of Information Systems"/>
          <p:cNvSpPr txBox="1">
            <a:spLocks noGrp="1"/>
          </p:cNvSpPr>
          <p:nvPr>
            <p:ph type="body" sz="quarter" idx="1"/>
          </p:nvPr>
        </p:nvSpPr>
        <p:spPr>
          <a:xfrm>
            <a:off x="69850" y="5054603"/>
            <a:ext cx="5211763" cy="346078"/>
          </a:xfrm>
          <a:prstGeom prst="rect">
            <a:avLst/>
          </a:prstGeom>
        </p:spPr>
        <p:txBody>
          <a:bodyPr/>
          <a:lstStyle>
            <a:lvl1pPr defTabSz="704087">
              <a:spcBef>
                <a:spcPts val="700"/>
              </a:spcBef>
              <a:defRPr sz="1200"/>
            </a:lvl1pPr>
          </a:lstStyle>
          <a:p>
            <a:r>
              <a:rPr dirty="0"/>
              <a:t>ISYS2</a:t>
            </a:r>
            <a:r>
              <a:rPr lang="en-AU" dirty="0"/>
              <a:t>001</a:t>
            </a:r>
            <a:r>
              <a:rPr dirty="0"/>
              <a:t>, </a:t>
            </a:r>
            <a:r>
              <a:rPr lang="en-AU" dirty="0"/>
              <a:t>School of Marketing and Management</a:t>
            </a:r>
            <a:endParaRPr dirty="0"/>
          </a:p>
        </p:txBody>
      </p:sp>
      <p:sp>
        <p:nvSpPr>
          <p:cNvPr id="201" name="Introduction to Visual C#"/>
          <p:cNvSpPr txBox="1">
            <a:spLocks noGrp="1"/>
          </p:cNvSpPr>
          <p:nvPr>
            <p:ph type="title"/>
          </p:nvPr>
        </p:nvSpPr>
        <p:spPr>
          <a:xfrm>
            <a:off x="12700" y="4268437"/>
            <a:ext cx="5760000" cy="786166"/>
          </a:xfrm>
          <a:prstGeom prst="rect">
            <a:avLst/>
          </a:prstGeom>
        </p:spPr>
        <p:txBody>
          <a:bodyPr>
            <a:normAutofit/>
          </a:bodyPr>
          <a:lstStyle>
            <a:lvl1pPr defTabSz="768094">
              <a:defRPr sz="3600"/>
            </a:lvl1pPr>
          </a:lstStyle>
          <a:p>
            <a:r>
              <a:rPr lang="en-AU" dirty="0"/>
              <a:t>Managing Code</a:t>
            </a:r>
            <a:endParaRPr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 name="Image" descr="Image"/>
          <p:cNvPicPr>
            <a:picLocks noChangeAspect="1"/>
          </p:cNvPicPr>
          <p:nvPr/>
        </p:nvPicPr>
        <p:blipFill>
          <a:blip r:embed="rId2"/>
          <a:srcRect l="17137" t="11714" r="17137" b="14544"/>
          <a:stretch>
            <a:fillRect/>
          </a:stretch>
        </p:blipFill>
        <p:spPr>
          <a:xfrm>
            <a:off x="652654" y="626076"/>
            <a:ext cx="8011053" cy="5055798"/>
          </a:xfrm>
          <a:prstGeom prst="rect">
            <a:avLst/>
          </a:prstGeom>
          <a:ln w="12700">
            <a:miter lim="400000"/>
          </a:ln>
        </p:spPr>
      </p:pic>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7" name="Curtin University would like to pay our respect to the Aboriginal and Torres Strait Islander members of our community by acknowledging the traditional owners of the land on which the Bentley Campus is located, the Wadjuk people of the Nyungar NNation; and on our Kalgoorlie Campus, the Wongutha people of the North-Eastern Goldfields."/>
          <p:cNvSpPr txBox="1">
            <a:spLocks noGrp="1"/>
          </p:cNvSpPr>
          <p:nvPr>
            <p:ph type="body" idx="1"/>
          </p:nvPr>
        </p:nvSpPr>
        <p:spPr>
          <a:xfrm>
            <a:off x="446448" y="2028825"/>
            <a:ext cx="8251104" cy="2800350"/>
          </a:xfrm>
          <a:prstGeom prst="rect">
            <a:avLst/>
          </a:prstGeom>
        </p:spPr>
        <p:txBody>
          <a:bodyPr>
            <a:noAutofit/>
          </a:bodyPr>
          <a:lstStyle>
            <a:lvl1pPr marL="0" indent="0">
              <a:buClrTx/>
              <a:buSzTx/>
              <a:buNone/>
            </a:lvl1pPr>
          </a:lstStyle>
          <a:p>
            <a:pPr algn="ctr"/>
            <a:r>
              <a:rPr lang="en-AU" sz="3200" dirty="0"/>
              <a:t>I acknowledge the traditional custodians of the land on which I work and live, and recognise their continuing connection to land, water and community. I pay respect to elders past, present and emerging.</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65F14-1141-8E43-8BE9-94E05B191AAA}"/>
              </a:ext>
            </a:extLst>
          </p:cNvPr>
          <p:cNvSpPr>
            <a:spLocks noGrp="1"/>
          </p:cNvSpPr>
          <p:nvPr>
            <p:ph type="title"/>
          </p:nvPr>
        </p:nvSpPr>
        <p:spPr/>
        <p:txBody>
          <a:bodyPr/>
          <a:lstStyle/>
          <a:p>
            <a:r>
              <a:rPr lang="en-AU" dirty="0"/>
              <a:t>Today</a:t>
            </a:r>
          </a:p>
        </p:txBody>
      </p:sp>
      <p:sp>
        <p:nvSpPr>
          <p:cNvPr id="3" name="Text Placeholder 2">
            <a:extLst>
              <a:ext uri="{FF2B5EF4-FFF2-40B4-BE49-F238E27FC236}">
                <a16:creationId xmlns:a16="http://schemas.microsoft.com/office/drawing/2014/main" id="{1C28E161-CA12-0048-BD22-B6CFA54B9061}"/>
              </a:ext>
            </a:extLst>
          </p:cNvPr>
          <p:cNvSpPr>
            <a:spLocks noGrp="1"/>
          </p:cNvSpPr>
          <p:nvPr>
            <p:ph type="body" idx="1"/>
          </p:nvPr>
        </p:nvSpPr>
        <p:spPr/>
        <p:txBody>
          <a:bodyPr/>
          <a:lstStyle/>
          <a:p>
            <a:r>
              <a:rPr lang="en-AU" dirty="0"/>
              <a:t>Enterprise Software</a:t>
            </a:r>
          </a:p>
          <a:p>
            <a:r>
              <a:rPr lang="en-AU" dirty="0"/>
              <a:t>Features of Software Ecosystem</a:t>
            </a:r>
          </a:p>
          <a:p>
            <a:r>
              <a:rPr lang="en-AU" dirty="0"/>
              <a:t>Development </a:t>
            </a:r>
            <a:r>
              <a:rPr lang="en-AU" dirty="0">
                <a:sym typeface="Wingdings" pitchFamily="2" charset="2"/>
              </a:rPr>
              <a:t> Production Workflow</a:t>
            </a:r>
          </a:p>
          <a:p>
            <a:r>
              <a:rPr lang="en-AU" dirty="0">
                <a:sym typeface="Wingdings" pitchFamily="2" charset="2"/>
              </a:rPr>
              <a:t>Deployment</a:t>
            </a:r>
          </a:p>
          <a:p>
            <a:r>
              <a:rPr lang="en-AU" dirty="0">
                <a:sym typeface="Wingdings" pitchFamily="2" charset="2"/>
              </a:rPr>
              <a:t>Future</a:t>
            </a:r>
            <a:endParaRPr lang="en-AU" dirty="0"/>
          </a:p>
        </p:txBody>
      </p:sp>
    </p:spTree>
    <p:extLst>
      <p:ext uri="{BB962C8B-B14F-4D97-AF65-F5344CB8AC3E}">
        <p14:creationId xmlns:p14="http://schemas.microsoft.com/office/powerpoint/2010/main" val="2465423367"/>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689C1-AF19-A74B-91B6-6382CC726CFB}"/>
              </a:ext>
            </a:extLst>
          </p:cNvPr>
          <p:cNvSpPr>
            <a:spLocks noGrp="1"/>
          </p:cNvSpPr>
          <p:nvPr>
            <p:ph type="title"/>
          </p:nvPr>
        </p:nvSpPr>
        <p:spPr/>
        <p:txBody>
          <a:bodyPr/>
          <a:lstStyle/>
          <a:p>
            <a:r>
              <a:rPr lang="en-AU" dirty="0"/>
              <a:t>Enterprise Software Today</a:t>
            </a:r>
          </a:p>
        </p:txBody>
      </p:sp>
      <p:sp>
        <p:nvSpPr>
          <p:cNvPr id="3" name="Text Placeholder 2">
            <a:extLst>
              <a:ext uri="{FF2B5EF4-FFF2-40B4-BE49-F238E27FC236}">
                <a16:creationId xmlns:a16="http://schemas.microsoft.com/office/drawing/2014/main" id="{5CC89A91-73E8-4C40-9799-501591B73542}"/>
              </a:ext>
            </a:extLst>
          </p:cNvPr>
          <p:cNvSpPr>
            <a:spLocks noGrp="1"/>
          </p:cNvSpPr>
          <p:nvPr>
            <p:ph type="body" idx="1"/>
          </p:nvPr>
        </p:nvSpPr>
        <p:spPr/>
        <p:txBody>
          <a:bodyPr/>
          <a:lstStyle/>
          <a:p>
            <a:r>
              <a:rPr lang="en-AU" dirty="0"/>
              <a:t>Cloud Based</a:t>
            </a:r>
          </a:p>
          <a:p>
            <a:r>
              <a:rPr lang="en-AU" dirty="0"/>
              <a:t>Complex</a:t>
            </a:r>
          </a:p>
          <a:p>
            <a:r>
              <a:rPr lang="en-AU" dirty="0"/>
              <a:t>Independent of Operating System</a:t>
            </a:r>
          </a:p>
          <a:p>
            <a:pPr lvl="1"/>
            <a:r>
              <a:rPr lang="en-AU" dirty="0"/>
              <a:t>Browser Based</a:t>
            </a:r>
          </a:p>
        </p:txBody>
      </p:sp>
    </p:spTree>
    <p:extLst>
      <p:ext uri="{BB962C8B-B14F-4D97-AF65-F5344CB8AC3E}">
        <p14:creationId xmlns:p14="http://schemas.microsoft.com/office/powerpoint/2010/main" val="2780498357"/>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A4CA38-428F-934B-BE00-0720E93A23BC}"/>
              </a:ext>
            </a:extLst>
          </p:cNvPr>
          <p:cNvSpPr>
            <a:spLocks noGrp="1"/>
          </p:cNvSpPr>
          <p:nvPr>
            <p:ph type="title"/>
          </p:nvPr>
        </p:nvSpPr>
        <p:spPr/>
        <p:txBody>
          <a:bodyPr/>
          <a:lstStyle/>
          <a:p>
            <a:r>
              <a:rPr lang="en-AU" dirty="0"/>
              <a:t>Features of Software Ecosystem</a:t>
            </a:r>
          </a:p>
        </p:txBody>
      </p:sp>
      <p:sp>
        <p:nvSpPr>
          <p:cNvPr id="3" name="Text Placeholder 2">
            <a:extLst>
              <a:ext uri="{FF2B5EF4-FFF2-40B4-BE49-F238E27FC236}">
                <a16:creationId xmlns:a16="http://schemas.microsoft.com/office/drawing/2014/main" id="{3E7B6A24-DE47-FA4B-8BBE-5DECC2214CA8}"/>
              </a:ext>
            </a:extLst>
          </p:cNvPr>
          <p:cNvSpPr>
            <a:spLocks noGrp="1"/>
          </p:cNvSpPr>
          <p:nvPr>
            <p:ph type="body" idx="1"/>
          </p:nvPr>
        </p:nvSpPr>
        <p:spPr/>
        <p:txBody>
          <a:bodyPr/>
          <a:lstStyle/>
          <a:p>
            <a:r>
              <a:rPr lang="en-AU" dirty="0"/>
              <a:t>Reliability</a:t>
            </a:r>
          </a:p>
          <a:p>
            <a:r>
              <a:rPr lang="en-AU" dirty="0"/>
              <a:t>Accessibility</a:t>
            </a:r>
          </a:p>
          <a:p>
            <a:r>
              <a:rPr lang="en-AU" dirty="0"/>
              <a:t>Reusability</a:t>
            </a:r>
          </a:p>
          <a:p>
            <a:r>
              <a:rPr lang="en-AU" dirty="0"/>
              <a:t>Interpretability</a:t>
            </a:r>
          </a:p>
          <a:p>
            <a:r>
              <a:rPr lang="en-AU" dirty="0"/>
              <a:t>Flexibility</a:t>
            </a:r>
          </a:p>
          <a:p>
            <a:r>
              <a:rPr lang="en-AU" dirty="0"/>
              <a:t>Agility</a:t>
            </a:r>
          </a:p>
        </p:txBody>
      </p:sp>
    </p:spTree>
    <p:extLst>
      <p:ext uri="{BB962C8B-B14F-4D97-AF65-F5344CB8AC3E}">
        <p14:creationId xmlns:p14="http://schemas.microsoft.com/office/powerpoint/2010/main" val="312491894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980BE-BAD1-FD42-8979-58F778437996}"/>
              </a:ext>
            </a:extLst>
          </p:cNvPr>
          <p:cNvSpPr>
            <a:spLocks noGrp="1"/>
          </p:cNvSpPr>
          <p:nvPr>
            <p:ph type="title"/>
          </p:nvPr>
        </p:nvSpPr>
        <p:spPr/>
        <p:txBody>
          <a:bodyPr/>
          <a:lstStyle/>
          <a:p>
            <a:r>
              <a:rPr lang="en-AU" dirty="0"/>
              <a:t>Ecosystem Considerations</a:t>
            </a:r>
          </a:p>
        </p:txBody>
      </p:sp>
      <p:sp>
        <p:nvSpPr>
          <p:cNvPr id="3" name="Text Placeholder 2">
            <a:extLst>
              <a:ext uri="{FF2B5EF4-FFF2-40B4-BE49-F238E27FC236}">
                <a16:creationId xmlns:a16="http://schemas.microsoft.com/office/drawing/2014/main" id="{8E53F0C6-4C35-814C-A972-CBB1A0621E35}"/>
              </a:ext>
            </a:extLst>
          </p:cNvPr>
          <p:cNvSpPr>
            <a:spLocks noGrp="1"/>
          </p:cNvSpPr>
          <p:nvPr>
            <p:ph type="body" idx="1"/>
          </p:nvPr>
        </p:nvSpPr>
        <p:spPr/>
        <p:txBody>
          <a:bodyPr/>
          <a:lstStyle/>
          <a:p>
            <a:r>
              <a:rPr lang="en-AU" dirty="0"/>
              <a:t>How do you get the data?</a:t>
            </a:r>
          </a:p>
          <a:p>
            <a:r>
              <a:rPr lang="en-AU" dirty="0"/>
              <a:t>Where does the code run?</a:t>
            </a:r>
          </a:p>
          <a:p>
            <a:r>
              <a:rPr lang="en-AU" dirty="0"/>
              <a:t>How is your code organised?</a:t>
            </a:r>
          </a:p>
          <a:p>
            <a:r>
              <a:rPr lang="en-AU" dirty="0"/>
              <a:t>Where do your outputs go?</a:t>
            </a:r>
          </a:p>
        </p:txBody>
      </p:sp>
    </p:spTree>
    <p:extLst>
      <p:ext uri="{BB962C8B-B14F-4D97-AF65-F5344CB8AC3E}">
        <p14:creationId xmlns:p14="http://schemas.microsoft.com/office/powerpoint/2010/main" val="89516425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34F6-0A68-AC45-8DEA-09DD81F8E93E}"/>
              </a:ext>
            </a:extLst>
          </p:cNvPr>
          <p:cNvSpPr>
            <a:spLocks noGrp="1"/>
          </p:cNvSpPr>
          <p:nvPr>
            <p:ph type="title"/>
          </p:nvPr>
        </p:nvSpPr>
        <p:spPr/>
        <p:txBody>
          <a:bodyPr/>
          <a:lstStyle/>
          <a:p>
            <a:r>
              <a:rPr lang="en-AU" dirty="0"/>
              <a:t>Application</a:t>
            </a:r>
          </a:p>
        </p:txBody>
      </p:sp>
      <p:sp>
        <p:nvSpPr>
          <p:cNvPr id="3" name="Text Placeholder 2">
            <a:extLst>
              <a:ext uri="{FF2B5EF4-FFF2-40B4-BE49-F238E27FC236}">
                <a16:creationId xmlns:a16="http://schemas.microsoft.com/office/drawing/2014/main" id="{7B271582-9147-8B49-A486-30F1913D2B0D}"/>
              </a:ext>
            </a:extLst>
          </p:cNvPr>
          <p:cNvSpPr>
            <a:spLocks noGrp="1"/>
          </p:cNvSpPr>
          <p:nvPr>
            <p:ph type="body" idx="1"/>
          </p:nvPr>
        </p:nvSpPr>
        <p:spPr/>
        <p:txBody>
          <a:bodyPr/>
          <a:lstStyle/>
          <a:p>
            <a:r>
              <a:rPr lang="en-AU" dirty="0"/>
              <a:t>Development</a:t>
            </a:r>
          </a:p>
          <a:p>
            <a:r>
              <a:rPr lang="en-AU" dirty="0"/>
              <a:t>Production</a:t>
            </a:r>
          </a:p>
          <a:p>
            <a:r>
              <a:rPr lang="en-AU" dirty="0"/>
              <a:t>Interface - Widgets + Code</a:t>
            </a:r>
          </a:p>
          <a:p>
            <a:r>
              <a:rPr lang="en-AU" dirty="0"/>
              <a:t>Deployment</a:t>
            </a:r>
          </a:p>
          <a:p>
            <a:pPr marL="0" indent="0">
              <a:buNone/>
            </a:pPr>
            <a:endParaRPr lang="en-AU" dirty="0"/>
          </a:p>
        </p:txBody>
      </p:sp>
    </p:spTree>
    <p:extLst>
      <p:ext uri="{BB962C8B-B14F-4D97-AF65-F5344CB8AC3E}">
        <p14:creationId xmlns:p14="http://schemas.microsoft.com/office/powerpoint/2010/main" val="73664577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6CC2F8-CF6B-484D-A188-23D5ABDEBC6F}"/>
              </a:ext>
            </a:extLst>
          </p:cNvPr>
          <p:cNvSpPr>
            <a:spLocks noGrp="1"/>
          </p:cNvSpPr>
          <p:nvPr>
            <p:ph type="title"/>
          </p:nvPr>
        </p:nvSpPr>
        <p:spPr/>
        <p:txBody>
          <a:bodyPr/>
          <a:lstStyle/>
          <a:p>
            <a:r>
              <a:rPr lang="en-AU" dirty="0"/>
              <a:t>Virtual environments</a:t>
            </a:r>
          </a:p>
        </p:txBody>
      </p:sp>
      <p:sp>
        <p:nvSpPr>
          <p:cNvPr id="3" name="Content Placeholder 2">
            <a:extLst>
              <a:ext uri="{FF2B5EF4-FFF2-40B4-BE49-F238E27FC236}">
                <a16:creationId xmlns:a16="http://schemas.microsoft.com/office/drawing/2014/main" id="{90EF9131-33F9-1746-9B74-EB463A986C1F}"/>
              </a:ext>
            </a:extLst>
          </p:cNvPr>
          <p:cNvSpPr>
            <a:spLocks noGrp="1"/>
          </p:cNvSpPr>
          <p:nvPr>
            <p:ph idx="1"/>
          </p:nvPr>
        </p:nvSpPr>
        <p:spPr/>
        <p:txBody>
          <a:bodyPr/>
          <a:lstStyle/>
          <a:p>
            <a:r>
              <a:rPr lang="en-AU" dirty="0"/>
              <a:t>Create virtual environment</a:t>
            </a:r>
          </a:p>
          <a:p>
            <a:r>
              <a:rPr lang="en-AU" dirty="0"/>
              <a:t>Activate virtual environment</a:t>
            </a:r>
          </a:p>
          <a:p>
            <a:r>
              <a:rPr lang="en-AU" dirty="0"/>
              <a:t>Install required packages</a:t>
            </a:r>
          </a:p>
          <a:p>
            <a:r>
              <a:rPr lang="en-AU" dirty="0"/>
              <a:t>Deactivate environment</a:t>
            </a:r>
          </a:p>
        </p:txBody>
      </p:sp>
    </p:spTree>
    <p:extLst>
      <p:ext uri="{BB962C8B-B14F-4D97-AF65-F5344CB8AC3E}">
        <p14:creationId xmlns:p14="http://schemas.microsoft.com/office/powerpoint/2010/main" val="177684068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008F9D1F-A6DA-AA48-AC6D-BAF4907D777F}"/>
              </a:ext>
            </a:extLst>
          </p:cNvPr>
          <p:cNvGrpSpPr/>
          <p:nvPr/>
        </p:nvGrpSpPr>
        <p:grpSpPr>
          <a:xfrm>
            <a:off x="522002" y="1179745"/>
            <a:ext cx="8099995" cy="3590980"/>
            <a:chOff x="468314" y="1823212"/>
            <a:chExt cx="8099995" cy="3590980"/>
          </a:xfrm>
        </p:grpSpPr>
        <p:sp>
          <p:nvSpPr>
            <p:cNvPr id="6" name="TextBox 5">
              <a:extLst>
                <a:ext uri="{FF2B5EF4-FFF2-40B4-BE49-F238E27FC236}">
                  <a16:creationId xmlns:a16="http://schemas.microsoft.com/office/drawing/2014/main" id="{5F832BB1-AAE3-2A49-889B-489D21C353A9}"/>
                </a:ext>
              </a:extLst>
            </p:cNvPr>
            <p:cNvSpPr txBox="1"/>
            <p:nvPr/>
          </p:nvSpPr>
          <p:spPr>
            <a:xfrm rot="16200000">
              <a:off x="-72860" y="2364386"/>
              <a:ext cx="145167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Development</a:t>
              </a:r>
              <a:endParaRPr kumimoji="0" lang="en-AU" sz="1800" b="0" i="0" u="none" strike="noStrike" cap="none" spc="0" normalizeH="0" baseline="0" dirty="0">
                <a:ln>
                  <a:noFill/>
                </a:ln>
                <a:solidFill>
                  <a:srgbClr val="333333"/>
                </a:solidFill>
                <a:effectLst/>
                <a:uFillTx/>
                <a:latin typeface="+mn-lt"/>
                <a:ea typeface="+mn-ea"/>
                <a:cs typeface="+mn-cs"/>
                <a:sym typeface="Helvetica"/>
              </a:endParaRPr>
            </a:p>
          </p:txBody>
        </p:sp>
        <p:sp>
          <p:nvSpPr>
            <p:cNvPr id="7" name="TextBox 6">
              <a:extLst>
                <a:ext uri="{FF2B5EF4-FFF2-40B4-BE49-F238E27FC236}">
                  <a16:creationId xmlns:a16="http://schemas.microsoft.com/office/drawing/2014/main" id="{49C9927B-E84F-D540-A679-31038EF991DD}"/>
                </a:ext>
              </a:extLst>
            </p:cNvPr>
            <p:cNvSpPr txBox="1"/>
            <p:nvPr/>
          </p:nvSpPr>
          <p:spPr>
            <a:xfrm rot="16200000">
              <a:off x="61353" y="4631931"/>
              <a:ext cx="1195195"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dirty="0"/>
                <a:t>Production</a:t>
              </a:r>
              <a:endParaRPr kumimoji="0" lang="en-AU" sz="1800" b="0" i="0" u="none" strike="noStrike" cap="none" spc="0" normalizeH="0" baseline="0" dirty="0">
                <a:ln>
                  <a:noFill/>
                </a:ln>
                <a:solidFill>
                  <a:srgbClr val="333333"/>
                </a:solidFill>
                <a:effectLst/>
                <a:uFillTx/>
                <a:latin typeface="+mn-lt"/>
                <a:ea typeface="+mn-ea"/>
                <a:cs typeface="+mn-cs"/>
                <a:sym typeface="Helvetica"/>
              </a:endParaRPr>
            </a:p>
          </p:txBody>
        </p:sp>
        <p:sp>
          <p:nvSpPr>
            <p:cNvPr id="10" name="Rounded Rectangle 9">
              <a:extLst>
                <a:ext uri="{FF2B5EF4-FFF2-40B4-BE49-F238E27FC236}">
                  <a16:creationId xmlns:a16="http://schemas.microsoft.com/office/drawing/2014/main" id="{32F414C7-222E-7841-B380-FA513264B1CA}"/>
                </a:ext>
              </a:extLst>
            </p:cNvPr>
            <p:cNvSpPr/>
            <p:nvPr/>
          </p:nvSpPr>
          <p:spPr>
            <a:xfrm>
              <a:off x="1484611" y="2339939"/>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b="0" i="0" u="none" strike="noStrike" cap="none" spc="0" normalizeH="0" baseline="0" dirty="0">
                <a:ln>
                  <a:noFill/>
                </a:ln>
                <a:solidFill>
                  <a:srgbClr val="333333"/>
                </a:solidFill>
                <a:effectLst/>
                <a:uFillTx/>
                <a:latin typeface="+mn-lt"/>
                <a:ea typeface="+mn-ea"/>
                <a:cs typeface="+mn-cs"/>
                <a:sym typeface="Helvetica"/>
              </a:endParaRPr>
            </a:p>
          </p:txBody>
        </p:sp>
        <p:sp>
          <p:nvSpPr>
            <p:cNvPr id="11" name="Rounded Rectangle 10">
              <a:extLst>
                <a:ext uri="{FF2B5EF4-FFF2-40B4-BE49-F238E27FC236}">
                  <a16:creationId xmlns:a16="http://schemas.microsoft.com/office/drawing/2014/main" id="{24D64ECA-701B-D94B-B905-C680D0C884EF}"/>
                </a:ext>
              </a:extLst>
            </p:cNvPr>
            <p:cNvSpPr/>
            <p:nvPr/>
          </p:nvSpPr>
          <p:spPr>
            <a:xfrm>
              <a:off x="2967518" y="2339939"/>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2" name="Rounded Rectangle 11">
              <a:extLst>
                <a:ext uri="{FF2B5EF4-FFF2-40B4-BE49-F238E27FC236}">
                  <a16:creationId xmlns:a16="http://schemas.microsoft.com/office/drawing/2014/main" id="{78C529E9-A67C-7C4E-A79D-327500BBE0AC}"/>
                </a:ext>
              </a:extLst>
            </p:cNvPr>
            <p:cNvSpPr/>
            <p:nvPr/>
          </p:nvSpPr>
          <p:spPr>
            <a:xfrm>
              <a:off x="4450425" y="2339938"/>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3" name="Rounded Rectangle 12">
              <a:extLst>
                <a:ext uri="{FF2B5EF4-FFF2-40B4-BE49-F238E27FC236}">
                  <a16:creationId xmlns:a16="http://schemas.microsoft.com/office/drawing/2014/main" id="{31E9C956-A1E0-2D4F-B9FE-A818DC1A62E7}"/>
                </a:ext>
              </a:extLst>
            </p:cNvPr>
            <p:cNvSpPr/>
            <p:nvPr/>
          </p:nvSpPr>
          <p:spPr>
            <a:xfrm>
              <a:off x="4387027" y="4415902"/>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4" name="Rounded Rectangle 13">
              <a:extLst>
                <a:ext uri="{FF2B5EF4-FFF2-40B4-BE49-F238E27FC236}">
                  <a16:creationId xmlns:a16="http://schemas.microsoft.com/office/drawing/2014/main" id="{55943C27-0D66-5A43-9F77-CC542FB83A5C}"/>
                </a:ext>
              </a:extLst>
            </p:cNvPr>
            <p:cNvSpPr/>
            <p:nvPr/>
          </p:nvSpPr>
          <p:spPr>
            <a:xfrm>
              <a:off x="5902315" y="4415901"/>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5" name="Rounded Rectangle 14">
              <a:extLst>
                <a:ext uri="{FF2B5EF4-FFF2-40B4-BE49-F238E27FC236}">
                  <a16:creationId xmlns:a16="http://schemas.microsoft.com/office/drawing/2014/main" id="{1D65124C-1B9D-4A40-95F7-32CB5F277F25}"/>
                </a:ext>
              </a:extLst>
            </p:cNvPr>
            <p:cNvSpPr/>
            <p:nvPr/>
          </p:nvSpPr>
          <p:spPr>
            <a:xfrm>
              <a:off x="7417603" y="4415900"/>
              <a:ext cx="1150706"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6" name="Rounded Rectangle 15">
              <a:extLst>
                <a:ext uri="{FF2B5EF4-FFF2-40B4-BE49-F238E27FC236}">
                  <a16:creationId xmlns:a16="http://schemas.microsoft.com/office/drawing/2014/main" id="{F355FA31-B8A9-DB41-95A6-A47DE7992D93}"/>
                </a:ext>
              </a:extLst>
            </p:cNvPr>
            <p:cNvSpPr/>
            <p:nvPr/>
          </p:nvSpPr>
          <p:spPr>
            <a:xfrm>
              <a:off x="3143816" y="3407050"/>
              <a:ext cx="3637128" cy="801385"/>
            </a:xfrm>
            <a:prstGeom prst="roundRect">
              <a:avLst/>
            </a:prstGeom>
            <a:solidFill>
              <a:srgbClr val="FFFFFF"/>
            </a:solid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cxnSp>
          <p:nvCxnSpPr>
            <p:cNvPr id="18" name="Straight Arrow Connector 17">
              <a:extLst>
                <a:ext uri="{FF2B5EF4-FFF2-40B4-BE49-F238E27FC236}">
                  <a16:creationId xmlns:a16="http://schemas.microsoft.com/office/drawing/2014/main" id="{B8047E6E-B3B0-B940-BEBC-99B57AA09FFA}"/>
                </a:ext>
              </a:extLst>
            </p:cNvPr>
            <p:cNvCxnSpPr>
              <a:stCxn id="10" idx="3"/>
              <a:endCxn id="11" idx="1"/>
            </p:cNvCxnSpPr>
            <p:nvPr/>
          </p:nvCxnSpPr>
          <p:spPr>
            <a:xfrm>
              <a:off x="2635317" y="2740632"/>
              <a:ext cx="332201" cy="0"/>
            </a:xfrm>
            <a:prstGeom prst="straightConnector1">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23" name="Straight Arrow Connector 22">
              <a:extLst>
                <a:ext uri="{FF2B5EF4-FFF2-40B4-BE49-F238E27FC236}">
                  <a16:creationId xmlns:a16="http://schemas.microsoft.com/office/drawing/2014/main" id="{0862F1F3-659F-D24D-8418-D96EFE089319}"/>
                </a:ext>
              </a:extLst>
            </p:cNvPr>
            <p:cNvCxnSpPr>
              <a:stCxn id="11" idx="3"/>
              <a:endCxn id="12" idx="1"/>
            </p:cNvCxnSpPr>
            <p:nvPr/>
          </p:nvCxnSpPr>
          <p:spPr>
            <a:xfrm flipV="1">
              <a:off x="4118224" y="2740631"/>
              <a:ext cx="332201" cy="1"/>
            </a:xfrm>
            <a:prstGeom prst="straightConnector1">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26" name="Straight Arrow Connector 25">
              <a:extLst>
                <a:ext uri="{FF2B5EF4-FFF2-40B4-BE49-F238E27FC236}">
                  <a16:creationId xmlns:a16="http://schemas.microsoft.com/office/drawing/2014/main" id="{40DB56BE-EA0D-BE46-B045-CE160331E55C}"/>
                </a:ext>
              </a:extLst>
            </p:cNvPr>
            <p:cNvCxnSpPr>
              <a:stCxn id="13" idx="3"/>
              <a:endCxn id="14" idx="1"/>
            </p:cNvCxnSpPr>
            <p:nvPr/>
          </p:nvCxnSpPr>
          <p:spPr>
            <a:xfrm flipV="1">
              <a:off x="5537733" y="4816594"/>
              <a:ext cx="364582" cy="1"/>
            </a:xfrm>
            <a:prstGeom prst="straightConnector1">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29" name="Straight Arrow Connector 28">
              <a:extLst>
                <a:ext uri="{FF2B5EF4-FFF2-40B4-BE49-F238E27FC236}">
                  <a16:creationId xmlns:a16="http://schemas.microsoft.com/office/drawing/2014/main" id="{D73E98C7-009D-D040-91EA-EE0A52E15953}"/>
                </a:ext>
              </a:extLst>
            </p:cNvPr>
            <p:cNvCxnSpPr>
              <a:stCxn id="14" idx="3"/>
              <a:endCxn id="15" idx="1"/>
            </p:cNvCxnSpPr>
            <p:nvPr/>
          </p:nvCxnSpPr>
          <p:spPr>
            <a:xfrm flipV="1">
              <a:off x="7053021" y="4816593"/>
              <a:ext cx="364582" cy="1"/>
            </a:xfrm>
            <a:prstGeom prst="straightConnector1">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39" name="Elbow Connector 38">
              <a:extLst>
                <a:ext uri="{FF2B5EF4-FFF2-40B4-BE49-F238E27FC236}">
                  <a16:creationId xmlns:a16="http://schemas.microsoft.com/office/drawing/2014/main" id="{2E259500-93D9-434C-99FB-387D7167DC6F}"/>
                </a:ext>
              </a:extLst>
            </p:cNvPr>
            <p:cNvCxnSpPr>
              <a:cxnSpLocks/>
              <a:stCxn id="12" idx="3"/>
              <a:endCxn id="16" idx="3"/>
            </p:cNvCxnSpPr>
            <p:nvPr/>
          </p:nvCxnSpPr>
          <p:spPr>
            <a:xfrm>
              <a:off x="5601131" y="2740631"/>
              <a:ext cx="1179813" cy="1067112"/>
            </a:xfrm>
            <a:prstGeom prst="bentConnector3">
              <a:avLst>
                <a:gd name="adj1" fmla="val 119376"/>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cxnSp>
          <p:nvCxnSpPr>
            <p:cNvPr id="42" name="Elbow Connector 41">
              <a:extLst>
                <a:ext uri="{FF2B5EF4-FFF2-40B4-BE49-F238E27FC236}">
                  <a16:creationId xmlns:a16="http://schemas.microsoft.com/office/drawing/2014/main" id="{4834453C-B054-2D47-862F-B31ED77903FC}"/>
                </a:ext>
              </a:extLst>
            </p:cNvPr>
            <p:cNvCxnSpPr>
              <a:cxnSpLocks/>
              <a:stCxn id="16" idx="1"/>
              <a:endCxn id="13" idx="1"/>
            </p:cNvCxnSpPr>
            <p:nvPr/>
          </p:nvCxnSpPr>
          <p:spPr>
            <a:xfrm rot="10800000" flipH="1" flipV="1">
              <a:off x="3143815" y="3807743"/>
              <a:ext cx="1243211" cy="1008852"/>
            </a:xfrm>
            <a:prstGeom prst="bentConnector3">
              <a:avLst>
                <a:gd name="adj1" fmla="val -18388"/>
              </a:avLst>
            </a:prstGeom>
            <a:noFill/>
            <a:ln w="25400" cap="flat">
              <a:solidFill>
                <a:schemeClr val="accent1"/>
              </a:solidFill>
              <a:prstDash val="solid"/>
              <a:round/>
              <a:tailEnd type="triangle"/>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cxnSp>
      </p:grpSp>
      <p:sp>
        <p:nvSpPr>
          <p:cNvPr id="47" name="TextBox 46">
            <a:extLst>
              <a:ext uri="{FF2B5EF4-FFF2-40B4-BE49-F238E27FC236}">
                <a16:creationId xmlns:a16="http://schemas.microsoft.com/office/drawing/2014/main" id="{323E2B00-0CF0-6142-B6EB-AC3E832EA498}"/>
              </a:ext>
            </a:extLst>
          </p:cNvPr>
          <p:cNvSpPr txBox="1"/>
          <p:nvPr/>
        </p:nvSpPr>
        <p:spPr>
          <a:xfrm>
            <a:off x="1570043" y="1943276"/>
            <a:ext cx="1078176" cy="307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400" b="0" i="0" u="none" strike="noStrike" cap="none" spc="0" normalizeH="0" baseline="0" dirty="0">
                <a:ln>
                  <a:noFill/>
                </a:ln>
                <a:solidFill>
                  <a:srgbClr val="333333"/>
                </a:solidFill>
                <a:effectLst/>
                <a:uFillTx/>
                <a:latin typeface="+mn-lt"/>
                <a:ea typeface="+mn-ea"/>
                <a:cs typeface="+mn-cs"/>
                <a:sym typeface="Helvetica"/>
              </a:rPr>
              <a:t>Extract Data</a:t>
            </a:r>
          </a:p>
        </p:txBody>
      </p:sp>
      <p:sp>
        <p:nvSpPr>
          <p:cNvPr id="48" name="TextBox 47">
            <a:extLst>
              <a:ext uri="{FF2B5EF4-FFF2-40B4-BE49-F238E27FC236}">
                <a16:creationId xmlns:a16="http://schemas.microsoft.com/office/drawing/2014/main" id="{6CC0524C-429F-A54D-80AB-521B8E913A8E}"/>
              </a:ext>
            </a:extLst>
          </p:cNvPr>
          <p:cNvSpPr txBox="1"/>
          <p:nvPr/>
        </p:nvSpPr>
        <p:spPr>
          <a:xfrm>
            <a:off x="3121124" y="1882233"/>
            <a:ext cx="913171" cy="523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400" b="0" i="0" u="none" strike="noStrike" cap="none" spc="0" normalizeH="0" baseline="0" dirty="0">
                <a:ln>
                  <a:noFill/>
                </a:ln>
                <a:solidFill>
                  <a:srgbClr val="333333"/>
                </a:solidFill>
                <a:effectLst/>
                <a:uFillTx/>
                <a:latin typeface="+mn-lt"/>
                <a:ea typeface="+mn-ea"/>
                <a:cs typeface="+mn-cs"/>
                <a:sym typeface="Helvetica"/>
              </a:rPr>
              <a:t>Develop Notebook</a:t>
            </a:r>
          </a:p>
        </p:txBody>
      </p:sp>
      <p:sp>
        <p:nvSpPr>
          <p:cNvPr id="49" name="TextBox 48">
            <a:extLst>
              <a:ext uri="{FF2B5EF4-FFF2-40B4-BE49-F238E27FC236}">
                <a16:creationId xmlns:a16="http://schemas.microsoft.com/office/drawing/2014/main" id="{B307E7F2-3294-F143-9BE8-BFCA9F810E7C}"/>
              </a:ext>
            </a:extLst>
          </p:cNvPr>
          <p:cNvSpPr txBox="1"/>
          <p:nvPr/>
        </p:nvSpPr>
        <p:spPr>
          <a:xfrm>
            <a:off x="6130195" y="4063516"/>
            <a:ext cx="802322" cy="307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1400" dirty="0"/>
              <a:t>Run App</a:t>
            </a:r>
            <a:endParaRPr kumimoji="0" lang="en-AU" sz="1400" b="0" i="0" u="none" strike="noStrike" cap="none" spc="0" normalizeH="0" baseline="0" dirty="0">
              <a:ln>
                <a:noFill/>
              </a:ln>
              <a:solidFill>
                <a:srgbClr val="333333"/>
              </a:solidFill>
              <a:effectLst/>
              <a:uFillTx/>
              <a:latin typeface="+mn-lt"/>
              <a:ea typeface="+mn-ea"/>
              <a:cs typeface="+mn-cs"/>
              <a:sym typeface="Helvetica"/>
            </a:endParaRPr>
          </a:p>
        </p:txBody>
      </p:sp>
      <p:sp>
        <p:nvSpPr>
          <p:cNvPr id="50" name="TextBox 49">
            <a:extLst>
              <a:ext uri="{FF2B5EF4-FFF2-40B4-BE49-F238E27FC236}">
                <a16:creationId xmlns:a16="http://schemas.microsoft.com/office/drawing/2014/main" id="{E3543C10-BDFD-6740-BA45-4038D21C2C28}"/>
              </a:ext>
            </a:extLst>
          </p:cNvPr>
          <p:cNvSpPr txBox="1"/>
          <p:nvPr/>
        </p:nvSpPr>
        <p:spPr>
          <a:xfrm>
            <a:off x="4595983" y="1727832"/>
            <a:ext cx="1019101" cy="738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lang="en-AU" sz="1400" dirty="0"/>
              <a:t>Prototype model and outputs</a:t>
            </a:r>
            <a:endParaRPr kumimoji="0" lang="en-AU" sz="1400" b="0" i="0" u="none" strike="noStrike" cap="none" spc="0" normalizeH="0" baseline="0" dirty="0">
              <a:ln>
                <a:noFill/>
              </a:ln>
              <a:solidFill>
                <a:srgbClr val="333333"/>
              </a:solidFill>
              <a:effectLst/>
              <a:uFillTx/>
              <a:latin typeface="+mn-lt"/>
              <a:ea typeface="+mn-ea"/>
              <a:cs typeface="+mn-cs"/>
              <a:sym typeface="Helvetica"/>
            </a:endParaRPr>
          </a:p>
        </p:txBody>
      </p:sp>
      <p:sp>
        <p:nvSpPr>
          <p:cNvPr id="51" name="TextBox 50">
            <a:extLst>
              <a:ext uri="{FF2B5EF4-FFF2-40B4-BE49-F238E27FC236}">
                <a16:creationId xmlns:a16="http://schemas.microsoft.com/office/drawing/2014/main" id="{103EDDCB-42EA-4544-AAF7-7D7A6AE9076C}"/>
              </a:ext>
            </a:extLst>
          </p:cNvPr>
          <p:cNvSpPr txBox="1"/>
          <p:nvPr/>
        </p:nvSpPr>
        <p:spPr>
          <a:xfrm>
            <a:off x="4591595" y="4019238"/>
            <a:ext cx="848946" cy="3077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sz="1400" dirty="0"/>
              <a:t>Live</a:t>
            </a:r>
            <a:r>
              <a:rPr kumimoji="0" lang="en-AU" sz="1400" b="0" i="0" u="none" strike="noStrike" cap="none" spc="0" normalizeH="0" baseline="0" dirty="0">
                <a:ln>
                  <a:noFill/>
                </a:ln>
                <a:solidFill>
                  <a:srgbClr val="333333"/>
                </a:solidFill>
                <a:effectLst/>
                <a:uFillTx/>
                <a:latin typeface="+mn-lt"/>
                <a:ea typeface="+mn-ea"/>
                <a:cs typeface="+mn-cs"/>
                <a:sym typeface="Helvetica"/>
              </a:rPr>
              <a:t> Data</a:t>
            </a:r>
          </a:p>
        </p:txBody>
      </p:sp>
      <p:sp>
        <p:nvSpPr>
          <p:cNvPr id="52" name="TextBox 51">
            <a:extLst>
              <a:ext uri="{FF2B5EF4-FFF2-40B4-BE49-F238E27FC236}">
                <a16:creationId xmlns:a16="http://schemas.microsoft.com/office/drawing/2014/main" id="{99E779FC-0A13-A047-9A6D-E4E610AE7021}"/>
              </a:ext>
            </a:extLst>
          </p:cNvPr>
          <p:cNvSpPr txBox="1"/>
          <p:nvPr/>
        </p:nvSpPr>
        <p:spPr>
          <a:xfrm>
            <a:off x="7658449" y="3911516"/>
            <a:ext cx="913171" cy="523216"/>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ctr" defTabSz="914400" rtl="0" fontAlgn="auto" latinLnBrk="0" hangingPunct="0">
              <a:lnSpc>
                <a:spcPct val="100000"/>
              </a:lnSpc>
              <a:spcBef>
                <a:spcPts val="0"/>
              </a:spcBef>
              <a:spcAft>
                <a:spcPts val="0"/>
              </a:spcAft>
              <a:buClrTx/>
              <a:buSzTx/>
              <a:buFontTx/>
              <a:buNone/>
              <a:tabLst/>
            </a:pPr>
            <a:r>
              <a:rPr kumimoji="0" lang="en-AU" sz="1400" b="0" i="0" u="none" strike="noStrike" cap="none" spc="0" normalizeH="0" baseline="0" dirty="0">
                <a:ln>
                  <a:noFill/>
                </a:ln>
                <a:solidFill>
                  <a:srgbClr val="333333"/>
                </a:solidFill>
                <a:effectLst/>
                <a:uFillTx/>
                <a:latin typeface="+mn-lt"/>
                <a:ea typeface="+mn-ea"/>
                <a:cs typeface="+mn-cs"/>
                <a:sym typeface="Helvetica"/>
              </a:rPr>
              <a:t>Store Outputs</a:t>
            </a:r>
          </a:p>
        </p:txBody>
      </p:sp>
      <p:sp>
        <p:nvSpPr>
          <p:cNvPr id="53" name="TextBox 52">
            <a:extLst>
              <a:ext uri="{FF2B5EF4-FFF2-40B4-BE49-F238E27FC236}">
                <a16:creationId xmlns:a16="http://schemas.microsoft.com/office/drawing/2014/main" id="{EFCDE36B-35A3-4548-9EA1-E285A6A6B963}"/>
              </a:ext>
            </a:extLst>
          </p:cNvPr>
          <p:cNvSpPr txBox="1"/>
          <p:nvPr/>
        </p:nvSpPr>
        <p:spPr>
          <a:xfrm>
            <a:off x="3740745" y="2765399"/>
            <a:ext cx="2326107" cy="73866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400" b="0" i="0" u="none" strike="noStrike" cap="none" spc="0" normalizeH="0" baseline="0" dirty="0">
                <a:ln>
                  <a:noFill/>
                </a:ln>
                <a:solidFill>
                  <a:srgbClr val="333333"/>
                </a:solidFill>
                <a:effectLst/>
                <a:uFillTx/>
                <a:latin typeface="+mn-lt"/>
                <a:ea typeface="+mn-ea"/>
                <a:cs typeface="+mn-cs"/>
                <a:sym typeface="Helvetica"/>
              </a:rPr>
              <a:t>Notebook </a:t>
            </a:r>
            <a:r>
              <a:rPr kumimoji="0" lang="en-AU" sz="1400" b="0" i="0" u="none" strike="noStrike" cap="none" spc="0" normalizeH="0" baseline="0" dirty="0">
                <a:ln>
                  <a:noFill/>
                </a:ln>
                <a:solidFill>
                  <a:srgbClr val="333333"/>
                </a:solidFill>
                <a:effectLst/>
                <a:uFillTx/>
                <a:latin typeface="+mn-lt"/>
                <a:ea typeface="+mn-ea"/>
                <a:cs typeface="+mn-cs"/>
                <a:sym typeface="Wingdings" pitchFamily="2" charset="2"/>
              </a:rPr>
              <a:t> Script  exe</a:t>
            </a:r>
          </a:p>
          <a:p>
            <a:pPr marL="0" marR="0" indent="0" algn="l" defTabSz="914400" rtl="0" fontAlgn="auto" latinLnBrk="0" hangingPunct="0">
              <a:lnSpc>
                <a:spcPct val="100000"/>
              </a:lnSpc>
              <a:spcBef>
                <a:spcPts val="0"/>
              </a:spcBef>
              <a:spcAft>
                <a:spcPts val="0"/>
              </a:spcAft>
              <a:buClrTx/>
              <a:buSzTx/>
              <a:buFontTx/>
              <a:buNone/>
              <a:tabLst/>
            </a:pPr>
            <a:r>
              <a:rPr lang="en-AU" sz="1400" dirty="0">
                <a:sym typeface="Wingdings" pitchFamily="2" charset="2"/>
              </a:rPr>
              <a:t>                 Web App</a:t>
            </a:r>
          </a:p>
          <a:p>
            <a:pPr marL="0" marR="0" indent="0" algn="l" defTabSz="914400" rtl="0" fontAlgn="auto" latinLnBrk="0" hangingPunct="0">
              <a:lnSpc>
                <a:spcPct val="100000"/>
              </a:lnSpc>
              <a:spcBef>
                <a:spcPts val="0"/>
              </a:spcBef>
              <a:spcAft>
                <a:spcPts val="0"/>
              </a:spcAft>
              <a:buClrTx/>
              <a:buSzTx/>
              <a:buFontTx/>
              <a:buNone/>
              <a:tabLst/>
            </a:pPr>
            <a:r>
              <a:rPr lang="en-AU" sz="1400" dirty="0">
                <a:sym typeface="Wingdings" pitchFamily="2" charset="2"/>
              </a:rPr>
              <a:t>               </a:t>
            </a:r>
            <a:r>
              <a:rPr kumimoji="0" lang="en-AU" sz="1400" b="0" i="0" u="none" strike="noStrike" cap="none" spc="0" normalizeH="0" baseline="0" dirty="0">
                <a:ln>
                  <a:noFill/>
                </a:ln>
                <a:solidFill>
                  <a:srgbClr val="333333"/>
                </a:solidFill>
                <a:effectLst/>
                <a:uFillTx/>
                <a:latin typeface="+mn-lt"/>
                <a:ea typeface="+mn-ea"/>
                <a:cs typeface="+mn-cs"/>
                <a:sym typeface="Wingdings" pitchFamily="2" charset="2"/>
              </a:rPr>
              <a:t>  Container</a:t>
            </a:r>
            <a:endParaRPr kumimoji="0" lang="en-AU" sz="1400" b="0" i="0" u="none" strike="noStrike" cap="none" spc="0" normalizeH="0" baseline="0" dirty="0">
              <a:ln>
                <a:noFill/>
              </a:ln>
              <a:solidFill>
                <a:srgbClr val="333333"/>
              </a:solidFill>
              <a:effectLst/>
              <a:uFillTx/>
              <a:latin typeface="+mn-lt"/>
              <a:ea typeface="+mn-ea"/>
              <a:cs typeface="+mn-cs"/>
              <a:sym typeface="Helvetica"/>
            </a:endParaRPr>
          </a:p>
        </p:txBody>
      </p:sp>
      <p:sp>
        <p:nvSpPr>
          <p:cNvPr id="54" name="Title 1">
            <a:extLst>
              <a:ext uri="{FF2B5EF4-FFF2-40B4-BE49-F238E27FC236}">
                <a16:creationId xmlns:a16="http://schemas.microsoft.com/office/drawing/2014/main" id="{5156D2D7-EB1E-CE44-BC80-5711D42DFFE9}"/>
              </a:ext>
            </a:extLst>
          </p:cNvPr>
          <p:cNvSpPr>
            <a:spLocks noGrp="1"/>
          </p:cNvSpPr>
          <p:nvPr>
            <p:ph type="title"/>
          </p:nvPr>
        </p:nvSpPr>
        <p:spPr>
          <a:xfrm>
            <a:off x="468312" y="560387"/>
            <a:ext cx="8207376" cy="996951"/>
          </a:xfrm>
        </p:spPr>
        <p:txBody>
          <a:bodyPr/>
          <a:lstStyle/>
          <a:p>
            <a:r>
              <a:rPr lang="en-AU" dirty="0"/>
              <a:t>Typical Workflow</a:t>
            </a:r>
          </a:p>
        </p:txBody>
      </p:sp>
    </p:spTree>
    <p:extLst>
      <p:ext uri="{BB962C8B-B14F-4D97-AF65-F5344CB8AC3E}">
        <p14:creationId xmlns:p14="http://schemas.microsoft.com/office/powerpoint/2010/main" val="1537889824"/>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615EE-183C-914F-84CD-FB0F72C26E0F}"/>
              </a:ext>
            </a:extLst>
          </p:cNvPr>
          <p:cNvSpPr>
            <a:spLocks noGrp="1"/>
          </p:cNvSpPr>
          <p:nvPr>
            <p:ph type="title"/>
          </p:nvPr>
        </p:nvSpPr>
        <p:spPr/>
        <p:txBody>
          <a:bodyPr/>
          <a:lstStyle/>
          <a:p>
            <a:r>
              <a:rPr lang="en-AU" dirty="0"/>
              <a:t>Development</a:t>
            </a:r>
          </a:p>
        </p:txBody>
      </p:sp>
      <p:sp>
        <p:nvSpPr>
          <p:cNvPr id="3" name="Text Placeholder 2">
            <a:extLst>
              <a:ext uri="{FF2B5EF4-FFF2-40B4-BE49-F238E27FC236}">
                <a16:creationId xmlns:a16="http://schemas.microsoft.com/office/drawing/2014/main" id="{20D7F79C-62D5-CE4A-980C-8C8944D16053}"/>
              </a:ext>
            </a:extLst>
          </p:cNvPr>
          <p:cNvSpPr>
            <a:spLocks noGrp="1"/>
          </p:cNvSpPr>
          <p:nvPr>
            <p:ph type="body" idx="1"/>
          </p:nvPr>
        </p:nvSpPr>
        <p:spPr/>
        <p:txBody>
          <a:bodyPr/>
          <a:lstStyle/>
          <a:p>
            <a:r>
              <a:rPr lang="en-AU" dirty="0"/>
              <a:t>Local Environment</a:t>
            </a:r>
          </a:p>
          <a:p>
            <a:pPr lvl="1"/>
            <a:r>
              <a:rPr lang="en-AU" dirty="0" err="1"/>
              <a:t>Jupyter</a:t>
            </a:r>
            <a:r>
              <a:rPr lang="en-AU" dirty="0"/>
              <a:t> Lab, </a:t>
            </a:r>
            <a:r>
              <a:rPr lang="en-AU" dirty="0" err="1"/>
              <a:t>VSCode</a:t>
            </a:r>
            <a:r>
              <a:rPr lang="en-AU" dirty="0"/>
              <a:t>, </a:t>
            </a:r>
          </a:p>
          <a:p>
            <a:r>
              <a:rPr lang="en-AU" dirty="0"/>
              <a:t>Cloud Environment</a:t>
            </a:r>
          </a:p>
          <a:p>
            <a:pPr lvl="1"/>
            <a:r>
              <a:rPr lang="en-AU" dirty="0"/>
              <a:t>AWS, Google Compute, </a:t>
            </a:r>
            <a:r>
              <a:rPr lang="en-AU" dirty="0" err="1"/>
              <a:t>Asure</a:t>
            </a:r>
            <a:endParaRPr lang="en-AU" dirty="0"/>
          </a:p>
          <a:p>
            <a:r>
              <a:rPr lang="en-AU" dirty="0"/>
              <a:t>Notebook Specific</a:t>
            </a:r>
          </a:p>
          <a:p>
            <a:pPr lvl="1"/>
            <a:r>
              <a:rPr lang="en-AU" dirty="0" err="1"/>
              <a:t>Paperspace</a:t>
            </a:r>
            <a:r>
              <a:rPr lang="en-AU" dirty="0"/>
              <a:t>, </a:t>
            </a:r>
            <a:r>
              <a:rPr lang="en-AU" dirty="0" err="1"/>
              <a:t>Colab</a:t>
            </a:r>
            <a:endParaRPr lang="en-AU" dirty="0"/>
          </a:p>
        </p:txBody>
      </p:sp>
    </p:spTree>
    <p:extLst>
      <p:ext uri="{BB962C8B-B14F-4D97-AF65-F5344CB8AC3E}">
        <p14:creationId xmlns:p14="http://schemas.microsoft.com/office/powerpoint/2010/main" val="145827816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8F7120-D961-494B-A08B-673095F5142B}"/>
              </a:ext>
            </a:extLst>
          </p:cNvPr>
          <p:cNvSpPr>
            <a:spLocks noGrp="1"/>
          </p:cNvSpPr>
          <p:nvPr>
            <p:ph type="title"/>
          </p:nvPr>
        </p:nvSpPr>
        <p:spPr/>
        <p:txBody>
          <a:bodyPr/>
          <a:lstStyle/>
          <a:p>
            <a:r>
              <a:rPr lang="en-AU" dirty="0"/>
              <a:t>Deployment</a:t>
            </a:r>
          </a:p>
        </p:txBody>
      </p:sp>
      <p:sp>
        <p:nvSpPr>
          <p:cNvPr id="3" name="Text Placeholder 2">
            <a:extLst>
              <a:ext uri="{FF2B5EF4-FFF2-40B4-BE49-F238E27FC236}">
                <a16:creationId xmlns:a16="http://schemas.microsoft.com/office/drawing/2014/main" id="{30D42E70-B025-8A48-B7C9-03AAB844CB32}"/>
              </a:ext>
            </a:extLst>
          </p:cNvPr>
          <p:cNvSpPr>
            <a:spLocks noGrp="1"/>
          </p:cNvSpPr>
          <p:nvPr>
            <p:ph type="body" idx="1"/>
          </p:nvPr>
        </p:nvSpPr>
        <p:spPr/>
        <p:txBody>
          <a:bodyPr>
            <a:normAutofit/>
          </a:bodyPr>
          <a:lstStyle/>
          <a:p>
            <a:r>
              <a:rPr lang="en-AU" dirty="0"/>
              <a:t>Notebooks as Packages</a:t>
            </a:r>
          </a:p>
          <a:p>
            <a:pPr lvl="1"/>
            <a:r>
              <a:rPr lang="en-AU" dirty="0" err="1"/>
              <a:t>NBDev</a:t>
            </a:r>
            <a:endParaRPr lang="en-AU" dirty="0"/>
          </a:p>
          <a:p>
            <a:r>
              <a:rPr lang="en-AU" dirty="0"/>
              <a:t>Notebooks as (Web) Apps</a:t>
            </a:r>
          </a:p>
          <a:p>
            <a:pPr lvl="1"/>
            <a:r>
              <a:rPr lang="en-AU" dirty="0" err="1"/>
              <a:t>Ipywidgets</a:t>
            </a:r>
            <a:r>
              <a:rPr lang="en-AU" dirty="0"/>
              <a:t>, Voila, </a:t>
            </a:r>
            <a:r>
              <a:rPr lang="en-AU" dirty="0" err="1"/>
              <a:t>Appmode</a:t>
            </a:r>
            <a:r>
              <a:rPr lang="en-AU" dirty="0"/>
              <a:t>, </a:t>
            </a:r>
            <a:r>
              <a:rPr lang="en-AU" dirty="0" err="1"/>
              <a:t>Anvill</a:t>
            </a:r>
            <a:endParaRPr lang="en-AU" dirty="0"/>
          </a:p>
          <a:p>
            <a:r>
              <a:rPr lang="en-AU" dirty="0"/>
              <a:t>Deploy/Share</a:t>
            </a:r>
          </a:p>
          <a:p>
            <a:pPr lvl="1"/>
            <a:r>
              <a:rPr lang="en-AU" dirty="0" err="1"/>
              <a:t>nbviewer</a:t>
            </a:r>
            <a:r>
              <a:rPr lang="en-AU" dirty="0"/>
              <a:t>, GitHub, Binder, Docker</a:t>
            </a:r>
          </a:p>
          <a:p>
            <a:pPr lvl="1"/>
            <a:r>
              <a:rPr lang="en-AU" dirty="0" err="1"/>
              <a:t>nbconvert</a:t>
            </a:r>
            <a:r>
              <a:rPr lang="en-AU" dirty="0"/>
              <a:t> </a:t>
            </a:r>
            <a:r>
              <a:rPr lang="en-AU" dirty="0">
                <a:sym typeface="Wingdings" pitchFamily="2" charset="2"/>
              </a:rPr>
              <a:t> Script  Package/Exe</a:t>
            </a:r>
            <a:r>
              <a:rPr lang="en-AU" dirty="0"/>
              <a:t> </a:t>
            </a:r>
          </a:p>
          <a:p>
            <a:pPr lvl="1"/>
            <a:endParaRPr lang="en-AU" dirty="0"/>
          </a:p>
        </p:txBody>
      </p:sp>
    </p:spTree>
    <p:extLst>
      <p:ext uri="{BB962C8B-B14F-4D97-AF65-F5344CB8AC3E}">
        <p14:creationId xmlns:p14="http://schemas.microsoft.com/office/powerpoint/2010/main" val="366815400"/>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2BF4D-B4FC-4044-A748-117AA141C12E}"/>
              </a:ext>
            </a:extLst>
          </p:cNvPr>
          <p:cNvSpPr>
            <a:spLocks noGrp="1"/>
          </p:cNvSpPr>
          <p:nvPr>
            <p:ph type="title"/>
          </p:nvPr>
        </p:nvSpPr>
        <p:spPr/>
        <p:txBody>
          <a:bodyPr/>
          <a:lstStyle/>
          <a:p>
            <a:r>
              <a:rPr lang="en-AU" dirty="0"/>
              <a:t>Binder</a:t>
            </a:r>
          </a:p>
        </p:txBody>
      </p:sp>
      <p:pic>
        <p:nvPicPr>
          <p:cNvPr id="10" name="Picture 9" descr="Graphical user interface, text, application, email&#10;&#10;Description automatically generated">
            <a:extLst>
              <a:ext uri="{FF2B5EF4-FFF2-40B4-BE49-F238E27FC236}">
                <a16:creationId xmlns:a16="http://schemas.microsoft.com/office/drawing/2014/main" id="{731426F7-CB2F-3B45-833C-21CD163F75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3243" y="1390447"/>
            <a:ext cx="7585023" cy="4077106"/>
          </a:xfrm>
          <a:prstGeom prst="rect">
            <a:avLst/>
          </a:prstGeom>
        </p:spPr>
      </p:pic>
      <p:sp>
        <p:nvSpPr>
          <p:cNvPr id="11" name="Rounded Rectangle 10">
            <a:extLst>
              <a:ext uri="{FF2B5EF4-FFF2-40B4-BE49-F238E27FC236}">
                <a16:creationId xmlns:a16="http://schemas.microsoft.com/office/drawing/2014/main" id="{83625628-1647-6848-81F3-47092D74319B}"/>
              </a:ext>
            </a:extLst>
          </p:cNvPr>
          <p:cNvSpPr/>
          <p:nvPr/>
        </p:nvSpPr>
        <p:spPr>
          <a:xfrm>
            <a:off x="573243" y="2188564"/>
            <a:ext cx="820842" cy="404734"/>
          </a:xfrm>
          <a:prstGeom prst="roundRect">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2" name="Rounded Rectangle 11">
            <a:extLst>
              <a:ext uri="{FF2B5EF4-FFF2-40B4-BE49-F238E27FC236}">
                <a16:creationId xmlns:a16="http://schemas.microsoft.com/office/drawing/2014/main" id="{1C8A63B7-C52D-854F-9F21-4727CF6C60FA}"/>
              </a:ext>
            </a:extLst>
          </p:cNvPr>
          <p:cNvSpPr/>
          <p:nvPr/>
        </p:nvSpPr>
        <p:spPr>
          <a:xfrm>
            <a:off x="1409075" y="2185031"/>
            <a:ext cx="3792512" cy="404734"/>
          </a:xfrm>
          <a:prstGeom prst="roundRect">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3" name="Rounded Rectangle 12">
            <a:extLst>
              <a:ext uri="{FF2B5EF4-FFF2-40B4-BE49-F238E27FC236}">
                <a16:creationId xmlns:a16="http://schemas.microsoft.com/office/drawing/2014/main" id="{97A6C690-712E-BD46-8F10-E2A0773D6835}"/>
              </a:ext>
            </a:extLst>
          </p:cNvPr>
          <p:cNvSpPr/>
          <p:nvPr/>
        </p:nvSpPr>
        <p:spPr>
          <a:xfrm>
            <a:off x="7525062" y="4065869"/>
            <a:ext cx="419725" cy="404734"/>
          </a:xfrm>
          <a:prstGeom prst="roundRect">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5" name="Rounded Rectangle 14">
            <a:extLst>
              <a:ext uri="{FF2B5EF4-FFF2-40B4-BE49-F238E27FC236}">
                <a16:creationId xmlns:a16="http://schemas.microsoft.com/office/drawing/2014/main" id="{D01B41CD-45ED-C74F-9900-72C3072DBD3B}"/>
              </a:ext>
            </a:extLst>
          </p:cNvPr>
          <p:cNvSpPr/>
          <p:nvPr/>
        </p:nvSpPr>
        <p:spPr>
          <a:xfrm>
            <a:off x="6882983" y="2976334"/>
            <a:ext cx="1061804" cy="404734"/>
          </a:xfrm>
          <a:prstGeom prst="roundRect">
            <a:avLst/>
          </a:prstGeom>
          <a:noFill/>
          <a:ln w="25400" cap="flat">
            <a:solidFill>
              <a:schemeClr val="accent1"/>
            </a:solidFill>
            <a:prstDash val="solid"/>
            <a:round/>
          </a:ln>
          <a:effectLst>
            <a:outerShdw blurRad="38100" dist="23000" dir="5400000" rotWithShape="0">
              <a:srgbClr val="000000">
                <a:alpha val="35000"/>
              </a:srgbClr>
            </a:outerShd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AU" sz="1800" b="0" i="0" u="none" strike="noStrike" cap="none" spc="0" normalizeH="0" baseline="0">
              <a:ln>
                <a:noFill/>
              </a:ln>
              <a:solidFill>
                <a:srgbClr val="333333"/>
              </a:solidFill>
              <a:effectLst/>
              <a:uFillTx/>
              <a:latin typeface="+mn-lt"/>
              <a:ea typeface="+mn-ea"/>
              <a:cs typeface="+mn-cs"/>
              <a:sym typeface="Helvetica"/>
            </a:endParaRPr>
          </a:p>
        </p:txBody>
      </p:sp>
      <p:sp>
        <p:nvSpPr>
          <p:cNvPr id="16" name="TextBox 15">
            <a:extLst>
              <a:ext uri="{FF2B5EF4-FFF2-40B4-BE49-F238E27FC236}">
                <a16:creationId xmlns:a16="http://schemas.microsoft.com/office/drawing/2014/main" id="{0AF8BF0B-9FFB-0E49-9F7D-04C4E9E85B93}"/>
              </a:ext>
            </a:extLst>
          </p:cNvPr>
          <p:cNvSpPr txBox="1"/>
          <p:nvPr/>
        </p:nvSpPr>
        <p:spPr>
          <a:xfrm>
            <a:off x="575717" y="2055366"/>
            <a:ext cx="41544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1" i="0" u="none" strike="noStrike" cap="none" spc="0" normalizeH="0" baseline="0" dirty="0">
                <a:ln>
                  <a:noFill/>
                </a:ln>
                <a:solidFill>
                  <a:srgbClr val="333333"/>
                </a:solidFill>
                <a:effectLst/>
                <a:uFillTx/>
                <a:latin typeface="+mn-lt"/>
                <a:ea typeface="+mn-ea"/>
                <a:cs typeface="+mn-cs"/>
                <a:sym typeface="Helvetica"/>
              </a:rPr>
              <a:t>1</a:t>
            </a:r>
          </a:p>
        </p:txBody>
      </p:sp>
      <p:sp>
        <p:nvSpPr>
          <p:cNvPr id="17" name="TextBox 16">
            <a:extLst>
              <a:ext uri="{FF2B5EF4-FFF2-40B4-BE49-F238E27FC236}">
                <a16:creationId xmlns:a16="http://schemas.microsoft.com/office/drawing/2014/main" id="{F66848E6-0AF3-B244-9EEA-53BC50C88D8C}"/>
              </a:ext>
            </a:extLst>
          </p:cNvPr>
          <p:cNvSpPr txBox="1"/>
          <p:nvPr/>
        </p:nvSpPr>
        <p:spPr>
          <a:xfrm>
            <a:off x="1499016" y="2055366"/>
            <a:ext cx="41544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1" i="0" u="none" strike="noStrike" cap="none" spc="0" normalizeH="0" baseline="0" dirty="0">
                <a:ln>
                  <a:noFill/>
                </a:ln>
                <a:solidFill>
                  <a:srgbClr val="333333"/>
                </a:solidFill>
                <a:effectLst/>
                <a:uFillTx/>
                <a:latin typeface="+mn-lt"/>
                <a:ea typeface="+mn-ea"/>
                <a:cs typeface="+mn-cs"/>
                <a:sym typeface="Helvetica"/>
              </a:rPr>
              <a:t>2</a:t>
            </a:r>
          </a:p>
        </p:txBody>
      </p:sp>
      <p:sp>
        <p:nvSpPr>
          <p:cNvPr id="18" name="TextBox 17">
            <a:extLst>
              <a:ext uri="{FF2B5EF4-FFF2-40B4-BE49-F238E27FC236}">
                <a16:creationId xmlns:a16="http://schemas.microsoft.com/office/drawing/2014/main" id="{144F3CE9-7E1E-0E44-BFB5-767BA55699D5}"/>
              </a:ext>
            </a:extLst>
          </p:cNvPr>
          <p:cNvSpPr txBox="1"/>
          <p:nvPr/>
        </p:nvSpPr>
        <p:spPr>
          <a:xfrm>
            <a:off x="7525062" y="3898908"/>
            <a:ext cx="41544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lang="en-AU" b="1" dirty="0"/>
              <a:t>3</a:t>
            </a:r>
            <a:endParaRPr kumimoji="0" lang="en-AU" sz="1800" b="1" i="0" u="none" strike="noStrike" cap="none" spc="0" normalizeH="0" baseline="0" dirty="0">
              <a:ln>
                <a:noFill/>
              </a:ln>
              <a:solidFill>
                <a:srgbClr val="333333"/>
              </a:solidFill>
              <a:effectLst/>
              <a:uFillTx/>
              <a:latin typeface="+mn-lt"/>
              <a:ea typeface="+mn-ea"/>
              <a:cs typeface="+mn-cs"/>
              <a:sym typeface="Helvetica"/>
            </a:endParaRPr>
          </a:p>
        </p:txBody>
      </p:sp>
      <p:sp>
        <p:nvSpPr>
          <p:cNvPr id="19" name="TextBox 18">
            <a:extLst>
              <a:ext uri="{FF2B5EF4-FFF2-40B4-BE49-F238E27FC236}">
                <a16:creationId xmlns:a16="http://schemas.microsoft.com/office/drawing/2014/main" id="{CFEB2060-9B19-1841-9B67-905D29FFFB95}"/>
              </a:ext>
            </a:extLst>
          </p:cNvPr>
          <p:cNvSpPr txBox="1"/>
          <p:nvPr/>
        </p:nvSpPr>
        <p:spPr>
          <a:xfrm>
            <a:off x="6942944" y="2922722"/>
            <a:ext cx="415442" cy="36932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8" tIns="45718" rIns="45718" bIns="45718"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AU" sz="1800" b="1" i="0" u="none" strike="noStrike" cap="none" spc="0" normalizeH="0" baseline="0" dirty="0">
                <a:ln>
                  <a:noFill/>
                </a:ln>
                <a:solidFill>
                  <a:srgbClr val="333333"/>
                </a:solidFill>
                <a:effectLst/>
                <a:uFillTx/>
                <a:latin typeface="+mn-lt"/>
                <a:ea typeface="+mn-ea"/>
                <a:cs typeface="+mn-cs"/>
                <a:sym typeface="Helvetica"/>
              </a:rPr>
              <a:t>4</a:t>
            </a:r>
          </a:p>
        </p:txBody>
      </p:sp>
    </p:spTree>
    <p:extLst>
      <p:ext uri="{BB962C8B-B14F-4D97-AF65-F5344CB8AC3E}">
        <p14:creationId xmlns:p14="http://schemas.microsoft.com/office/powerpoint/2010/main" val="3557474393"/>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87B3-6AC4-A548-811A-C3E592418E55}"/>
              </a:ext>
            </a:extLst>
          </p:cNvPr>
          <p:cNvSpPr>
            <a:spLocks noGrp="1"/>
          </p:cNvSpPr>
          <p:nvPr>
            <p:ph type="title"/>
          </p:nvPr>
        </p:nvSpPr>
        <p:spPr/>
        <p:txBody>
          <a:bodyPr/>
          <a:lstStyle/>
          <a:p>
            <a:r>
              <a:rPr lang="en-AU" dirty="0" err="1"/>
              <a:t>Appmode</a:t>
            </a:r>
            <a:endParaRPr lang="en-AU" dirty="0"/>
          </a:p>
        </p:txBody>
      </p:sp>
      <p:pic>
        <p:nvPicPr>
          <p:cNvPr id="1026" name="Picture 2">
            <a:extLst>
              <a:ext uri="{FF2B5EF4-FFF2-40B4-BE49-F238E27FC236}">
                <a16:creationId xmlns:a16="http://schemas.microsoft.com/office/drawing/2014/main" id="{8CA8B1F0-88D8-794D-A0D1-861EDEB453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23" y="1229708"/>
            <a:ext cx="8622407" cy="4706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7723949"/>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BFD7BD-DCF5-D946-9CB2-CA808B7089AA}"/>
              </a:ext>
            </a:extLst>
          </p:cNvPr>
          <p:cNvSpPr>
            <a:spLocks noGrp="1"/>
          </p:cNvSpPr>
          <p:nvPr>
            <p:ph type="title"/>
          </p:nvPr>
        </p:nvSpPr>
        <p:spPr/>
        <p:txBody>
          <a:bodyPr/>
          <a:lstStyle/>
          <a:p>
            <a:r>
              <a:rPr lang="en-AU" dirty="0"/>
              <a:t>Future</a:t>
            </a:r>
          </a:p>
        </p:txBody>
      </p:sp>
      <p:sp>
        <p:nvSpPr>
          <p:cNvPr id="3" name="Text Placeholder 2">
            <a:extLst>
              <a:ext uri="{FF2B5EF4-FFF2-40B4-BE49-F238E27FC236}">
                <a16:creationId xmlns:a16="http://schemas.microsoft.com/office/drawing/2014/main" id="{0F3CDB8E-570B-4443-B83E-B4123C06DE6C}"/>
              </a:ext>
            </a:extLst>
          </p:cNvPr>
          <p:cNvSpPr>
            <a:spLocks noGrp="1"/>
          </p:cNvSpPr>
          <p:nvPr>
            <p:ph type="body" idx="1"/>
          </p:nvPr>
        </p:nvSpPr>
        <p:spPr/>
        <p:txBody>
          <a:bodyPr/>
          <a:lstStyle/>
          <a:p>
            <a:r>
              <a:rPr lang="en-AU" dirty="0"/>
              <a:t>Notebooks as Applications</a:t>
            </a:r>
          </a:p>
          <a:p>
            <a:r>
              <a:rPr lang="en-AU" dirty="0"/>
              <a:t>Rise of Containers</a:t>
            </a:r>
          </a:p>
          <a:p>
            <a:r>
              <a:rPr lang="en-AU" dirty="0"/>
              <a:t>New Platforms</a:t>
            </a:r>
          </a:p>
          <a:p>
            <a:r>
              <a:rPr lang="en-AU" dirty="0"/>
              <a:t>New Capabilities</a:t>
            </a:r>
          </a:p>
        </p:txBody>
      </p:sp>
    </p:spTree>
    <p:extLst>
      <p:ext uri="{BB962C8B-B14F-4D97-AF65-F5344CB8AC3E}">
        <p14:creationId xmlns:p14="http://schemas.microsoft.com/office/powerpoint/2010/main" val="211882426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65F14-1141-8E43-8BE9-94E05B191AAA}"/>
              </a:ext>
            </a:extLst>
          </p:cNvPr>
          <p:cNvSpPr>
            <a:spLocks noGrp="1"/>
          </p:cNvSpPr>
          <p:nvPr>
            <p:ph type="title"/>
          </p:nvPr>
        </p:nvSpPr>
        <p:spPr/>
        <p:txBody>
          <a:bodyPr/>
          <a:lstStyle/>
          <a:p>
            <a:r>
              <a:rPr lang="en-AU" dirty="0"/>
              <a:t>Can you?</a:t>
            </a:r>
          </a:p>
        </p:txBody>
      </p:sp>
      <p:sp>
        <p:nvSpPr>
          <p:cNvPr id="3" name="Text Placeholder 2">
            <a:extLst>
              <a:ext uri="{FF2B5EF4-FFF2-40B4-BE49-F238E27FC236}">
                <a16:creationId xmlns:a16="http://schemas.microsoft.com/office/drawing/2014/main" id="{1C28E161-CA12-0048-BD22-B6CFA54B9061}"/>
              </a:ext>
            </a:extLst>
          </p:cNvPr>
          <p:cNvSpPr>
            <a:spLocks noGrp="1"/>
          </p:cNvSpPr>
          <p:nvPr>
            <p:ph type="body" idx="1"/>
          </p:nvPr>
        </p:nvSpPr>
        <p:spPr/>
        <p:txBody>
          <a:bodyPr/>
          <a:lstStyle/>
          <a:p>
            <a:r>
              <a:rPr lang="en-AU" dirty="0"/>
              <a:t>State the direction of enterprise software today</a:t>
            </a:r>
          </a:p>
          <a:p>
            <a:r>
              <a:rPr lang="en-AU" dirty="0"/>
              <a:t>List the features of software ecosystem</a:t>
            </a:r>
          </a:p>
          <a:p>
            <a:r>
              <a:rPr lang="en-AU" dirty="0"/>
              <a:t>Describe a development </a:t>
            </a:r>
            <a:r>
              <a:rPr lang="en-AU" dirty="0">
                <a:sym typeface="Wingdings" pitchFamily="2" charset="2"/>
              </a:rPr>
              <a:t>to production workflow</a:t>
            </a:r>
          </a:p>
          <a:p>
            <a:r>
              <a:rPr lang="en-AU" dirty="0">
                <a:sym typeface="Wingdings" pitchFamily="2" charset="2"/>
              </a:rPr>
              <a:t>Suggest how to deploy and share code</a:t>
            </a:r>
          </a:p>
          <a:p>
            <a:r>
              <a:rPr lang="en-AU" dirty="0">
                <a:sym typeface="Wingdings" pitchFamily="2" charset="2"/>
              </a:rPr>
              <a:t>Outline a possible future for notebooks</a:t>
            </a:r>
            <a:endParaRPr lang="en-AU" dirty="0"/>
          </a:p>
        </p:txBody>
      </p:sp>
    </p:spTree>
    <p:extLst>
      <p:ext uri="{BB962C8B-B14F-4D97-AF65-F5344CB8AC3E}">
        <p14:creationId xmlns:p14="http://schemas.microsoft.com/office/powerpoint/2010/main" val="2923793755"/>
      </p:ext>
    </p:extLst>
  </p:cSld>
  <p:clrMapOvr>
    <a:masterClrMapping/>
  </p:clrMapOvr>
  <p:transition spd="med"/>
</p:sld>
</file>

<file path=ppt/theme/theme1.xml><?xml version="1.0" encoding="utf-8"?>
<a:theme xmlns:a="http://schemas.openxmlformats.org/drawingml/2006/main" name="curtin2010-PP2003">
  <a:themeElements>
    <a:clrScheme name="curtin2010-PP2003">
      <a:dk1>
        <a:srgbClr val="333333"/>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curtin2010-PP2003">
  <a:themeElements>
    <a:clrScheme name="curtin2010-PP2003">
      <a:dk1>
        <a:srgbClr val="000000"/>
      </a:dk1>
      <a:lt1>
        <a:srgbClr val="FFFFFF"/>
      </a:lt1>
      <a:dk2>
        <a:srgbClr val="A7A7A7"/>
      </a:dk2>
      <a:lt2>
        <a:srgbClr val="535353"/>
      </a:lt2>
      <a:accent1>
        <a:srgbClr val="CC9900"/>
      </a:accent1>
      <a:accent2>
        <a:srgbClr val="333399"/>
      </a:accent2>
      <a:accent3>
        <a:srgbClr val="8F8F8F"/>
      </a:accent3>
      <a:accent4>
        <a:srgbClr val="2A2A2A"/>
      </a:accent4>
      <a:accent5>
        <a:srgbClr val="E2CAAA"/>
      </a:accent5>
      <a:accent6>
        <a:srgbClr val="2D2D8A"/>
      </a:accent6>
      <a:hlink>
        <a:srgbClr val="0000FF"/>
      </a:hlink>
      <a:folHlink>
        <a:srgbClr val="FF00FF"/>
      </a:folHlink>
    </a:clrScheme>
    <a:fontScheme name="curtin2010-PP2003">
      <a:majorFont>
        <a:latin typeface="Arial"/>
        <a:ea typeface="Arial"/>
        <a:cs typeface="Arial"/>
      </a:majorFont>
      <a:minorFont>
        <a:latin typeface="Helvetica"/>
        <a:ea typeface="Helvetica"/>
        <a:cs typeface="Helvetica"/>
      </a:minorFont>
    </a:fontScheme>
    <a:fmtScheme name="curtin2010-PP2003">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8" tIns="45718" rIns="45718" bIns="45718"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333333"/>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1970</TotalTime>
  <Words>1194</Words>
  <Application>Microsoft Macintosh PowerPoint</Application>
  <PresentationFormat>On-screen Show (4:3)</PresentationFormat>
  <Paragraphs>165</Paragraphs>
  <Slides>16</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Helvetica</vt:lpstr>
      <vt:lpstr>Wingdings</vt:lpstr>
      <vt:lpstr>curtin2010-PP2003</vt:lpstr>
      <vt:lpstr>Managing Code</vt:lpstr>
      <vt:lpstr>PowerPoint Presentation</vt:lpstr>
      <vt:lpstr>PowerPoint Presentation</vt:lpstr>
      <vt:lpstr>Today</vt:lpstr>
      <vt:lpstr>Enterprise Software Today</vt:lpstr>
      <vt:lpstr>Features of Software Ecosystem</vt:lpstr>
      <vt:lpstr>Ecosystem Considerations</vt:lpstr>
      <vt:lpstr>Application</vt:lpstr>
      <vt:lpstr>Virtual environments</vt:lpstr>
      <vt:lpstr>Typical Workflow</vt:lpstr>
      <vt:lpstr>Development</vt:lpstr>
      <vt:lpstr>Deployment</vt:lpstr>
      <vt:lpstr>Binder</vt:lpstr>
      <vt:lpstr>Appmode</vt:lpstr>
      <vt:lpstr>Future</vt:lpstr>
      <vt:lpstr>Can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Programming?</dc:title>
  <cp:lastModifiedBy>Michael Borck</cp:lastModifiedBy>
  <cp:revision>59</cp:revision>
  <cp:lastPrinted>2021-09-14T20:06:34Z</cp:lastPrinted>
  <dcterms:modified xsi:type="dcterms:W3CDTF">2022-04-12T00:42:06Z</dcterms:modified>
</cp:coreProperties>
</file>