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88" r:id="rId5"/>
    <p:sldId id="295" r:id="rId6"/>
    <p:sldId id="259" r:id="rId7"/>
    <p:sldId id="261" r:id="rId8"/>
    <p:sldId id="262" r:id="rId9"/>
    <p:sldId id="263" r:id="rId10"/>
    <p:sldId id="264" r:id="rId11"/>
    <p:sldId id="268" r:id="rId12"/>
    <p:sldId id="267" r:id="rId13"/>
    <p:sldId id="265" r:id="rId14"/>
    <p:sldId id="289" r:id="rId15"/>
    <p:sldId id="269" r:id="rId16"/>
    <p:sldId id="260" r:id="rId17"/>
    <p:sldId id="270" r:id="rId18"/>
    <p:sldId id="271" r:id="rId19"/>
    <p:sldId id="272" r:id="rId20"/>
    <p:sldId id="273" r:id="rId21"/>
    <p:sldId id="274" r:id="rId22"/>
    <p:sldId id="266" r:id="rId23"/>
    <p:sldId id="293" r:id="rId24"/>
    <p:sldId id="292" r:id="rId25"/>
    <p:sldId id="275" r:id="rId26"/>
    <p:sldId id="291" r:id="rId27"/>
    <p:sldId id="276" r:id="rId28"/>
    <p:sldId id="290" r:id="rId29"/>
    <p:sldId id="277" r:id="rId30"/>
    <p:sldId id="278" r:id="rId31"/>
    <p:sldId id="279" r:id="rId32"/>
    <p:sldId id="280" r:id="rId33"/>
    <p:sldId id="281" r:id="rId34"/>
    <p:sldId id="294" r:id="rId35"/>
    <p:sldId id="282" r:id="rId36"/>
    <p:sldId id="283" r:id="rId37"/>
    <p:sldId id="284" r:id="rId38"/>
    <p:sldId id="285" r:id="rId39"/>
    <p:sldId id="286" r:id="rId40"/>
    <p:sldId id="287" r:id="rId41"/>
    <p:sldId id="297" r:id="rId4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73"/>
    <p:restoredTop sz="67239"/>
  </p:normalViewPr>
  <p:slideViewPr>
    <p:cSldViewPr snapToGrid="0" snapToObjects="1">
      <p:cViewPr varScale="1">
        <p:scale>
          <a:sx n="72" d="100"/>
          <a:sy n="72" d="100"/>
        </p:scale>
        <p:origin x="3232" y="192"/>
      </p:cViewPr>
      <p:guideLst/>
    </p:cSldViewPr>
  </p:slideViewPr>
  <p:notesTextViewPr>
    <p:cViewPr>
      <p:scale>
        <a:sx n="1" d="1"/>
        <a:sy n="1" d="1"/>
      </p:scale>
      <p:origin x="0" y="-1248"/>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programming, data refers to any information or input that is processed by a program. Every piece of data has a value and a type. The value represents the actual data itself, while the type specifies what kind of data it is.</a:t>
            </a:r>
          </a:p>
          <a:p>
            <a:endParaRPr lang="en-AU" dirty="0"/>
          </a:p>
          <a:p>
            <a:r>
              <a:rPr lang="en-AU" dirty="0"/>
              <a:t>For example, the value of the number 5 is the number 5 itself, while the type is integer (int) since it is a whole number without a decimal point. Similarly, the value of the string "Hello, world!" is the actual text "Hello, world!", while the type is string (str) since it is a sequence of characters.</a:t>
            </a:r>
          </a:p>
          <a:p>
            <a:endParaRPr lang="en-AU" dirty="0"/>
          </a:p>
          <a:p>
            <a:r>
              <a:rPr lang="en-AU" dirty="0"/>
              <a:t>The type of data determines what operations can be performed on it and how it can be used in a program. For instance, arithmetic operations such as addition and subtraction can only be performed on numeric data types like integers and floating-point numbers. On the other hand, string data types can be concatenated, sliced, and searched using string-specific operations.</a:t>
            </a:r>
          </a:p>
          <a:p>
            <a:endParaRPr lang="en-AU" dirty="0"/>
          </a:p>
          <a:p>
            <a:r>
              <a:rPr lang="en-AU" dirty="0"/>
              <a:t>In programming, it is essential to understand the data types and values that are used in a program to ensure that the program is accurate and efficient. By correctly defining the types and values of data, programmers can create robust and reliable programs that can perform a wide range of tasks.</a:t>
            </a:r>
          </a:p>
          <a:p>
            <a:endParaRPr lang="en-AU" dirty="0"/>
          </a:p>
          <a:p>
            <a:r>
              <a:rPr lang="en-AU" dirty="0"/>
              <a:t>An algorithm is a sequence of instructions or a set of rules that are followed to solve a problem or perform a task. It is a step-by-step process designed to perform a specific task or solve a specific problem. Algorithms can be implemented using programming languages or can be carried out manually, depending on the complexity of the problem and the resources available.</a:t>
            </a:r>
          </a:p>
          <a:p>
            <a:endParaRPr lang="en-AU" dirty="0"/>
          </a:p>
          <a:p>
            <a:r>
              <a:rPr lang="en-AU" dirty="0"/>
              <a:t>An algorithm should have the following characteristics: it should be unambiguous, i.e., the instructions should be clear and easy to understand; it should be well-defined, i.e., the inputs and outputs should be clearly specified; it should be finite, i.e., it should terminate after a finite number of steps; and it should be effective, i.e., it should solve the problem or perform the task efficiently.</a:t>
            </a:r>
          </a:p>
          <a:p>
            <a:r>
              <a:rPr lang="en-AU" dirty="0"/>
              <a:t>In computer programming, algorithms are the foundation of program design, as they provide a clear and concise way to solve problems using code. Programmers use algorithms to create software applications, automate tasks, and solve complex computational problems.</a:t>
            </a:r>
          </a:p>
          <a:p>
            <a:endParaRPr lang="en-AU" dirty="0"/>
          </a:p>
          <a:p>
            <a:r>
              <a:rPr lang="en-AU" dirty="0"/>
              <a:t>Sequence, selection, and repetition are three fundamental control structures or programming constructs used in computer programming to control the flow of execution of a program. Putting things in order, using if-statement to select statement to run, using a loop structure to repeat statements.</a:t>
            </a:r>
          </a:p>
          <a:p>
            <a:endParaRPr lang="en-AU" dirty="0"/>
          </a:p>
          <a:p>
            <a:r>
              <a:rPr lang="en-AU" dirty="0"/>
              <a:t>Pseudocode is </a:t>
            </a:r>
            <a:r>
              <a:rPr lang="en-AU" b="1" dirty="0"/>
              <a:t>an artificial and informal language that helps programmers develop algorithms</a:t>
            </a:r>
            <a:r>
              <a:rPr lang="en-AU" dirty="0"/>
              <a:t>. Pseudocode is a "text-based" detail (algorithmic) design tool. The rules of Pseudocode are reasonably straightforward. All statements showing "dependency" are to be indented. These include while, do, for, if, switch.</a:t>
            </a:r>
          </a:p>
          <a:p>
            <a:endParaRPr lang="en-AU" dirty="0"/>
          </a:p>
          <a:p>
            <a:r>
              <a:rPr lang="en-AU" dirty="0"/>
              <a:t>The six basic operations that are essential to the functioning of a computer and form the foundation for all the complex tasks that modern computers can perform are: input, output, storage, arithmetic, comparison, and repetition. By using these six operations, we can express our pseudocode in a clear and concise manner, making it easy to convert into an actual program.</a:t>
            </a:r>
          </a:p>
          <a:p>
            <a:endParaRPr lang="en-AU" dirty="0"/>
          </a:p>
          <a:p>
            <a:r>
              <a:rPr lang="en-AU" dirty="0"/>
              <a:t>Input refers to the process of accepting data or information from input devices such as a keyboard or a mouse. Output involves presenting the processed data or information to the user through output devices such as a monitor or a printer. Storage involves the saving of data or information for later use in memory or other storage devices. Arithmetic operations involve performing mathematical calculations such as addition, subtraction, multiplication, and division. Comparison operations involve evaluating conditions and making decisions based on the comparison of values. Finally, repetition operations allow the program to repeat a set of instructions multiple times based on specific conditions.</a:t>
            </a:r>
          </a:p>
          <a:p>
            <a:endParaRPr lang="en-AU" dirty="0"/>
          </a:p>
          <a:p>
            <a:r>
              <a:rPr lang="en-AU" dirty="0"/>
              <a:t>By breaking down our program into these six fundamental operations, we can better understand the logic and flow of our code, making it easier to write, debug, and maintain. Moreover, using these operations as the building blocks for our programs ensures that they are well-structured and efficient, making them easier to scale and adapt to changing requirements.</a:t>
            </a:r>
          </a:p>
        </p:txBody>
      </p:sp>
    </p:spTree>
    <p:extLst>
      <p:ext uri="{BB962C8B-B14F-4D97-AF65-F5344CB8AC3E}">
        <p14:creationId xmlns:p14="http://schemas.microsoft.com/office/powerpoint/2010/main" val="307099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Large programs can become complex and difficult to manage as they grow. To overcome this complexity, we break them into smaller chunks of code that are easier to understand and remember. This can be achieved through three main methods: functions, objects, and modules. In this week's study, we will focus on functions.</a:t>
            </a:r>
          </a:p>
          <a:p>
            <a:endParaRPr lang="en-AU" dirty="0"/>
          </a:p>
          <a:p>
            <a:r>
              <a:rPr lang="en-AU" dirty="0"/>
              <a:t>Functions can be thought of as mini-programs that perform specific tasks or steps within a larger algorithm. By dividing our code into smaller functions, we can focus on one specific task at a time, making it easier to debug and maintain our code. We can also reuse the same function multiple times throughout our program, reducing code duplication and improving code efficiency. Additionally, if a function is particularly useful, it can be shared with other programmers by making it available for installation and use in their programs. In this week's exploration, we will dive deeper into the concept of functions and learn how to use them effectively to manage complexity in our programs.</a:t>
            </a:r>
          </a:p>
          <a:p>
            <a:endParaRPr lang="en-AU" dirty="0"/>
          </a:p>
        </p:txBody>
      </p:sp>
    </p:spTree>
    <p:extLst>
      <p:ext uri="{BB962C8B-B14F-4D97-AF65-F5344CB8AC3E}">
        <p14:creationId xmlns:p14="http://schemas.microsoft.com/office/powerpoint/2010/main" val="1668491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 </a:t>
            </a:r>
          </a:p>
        </p:txBody>
      </p:sp>
    </p:spTree>
    <p:extLst>
      <p:ext uri="{BB962C8B-B14F-4D97-AF65-F5344CB8AC3E}">
        <p14:creationId xmlns:p14="http://schemas.microsoft.com/office/powerpoint/2010/main" val="3252015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18315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516552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035547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211457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Large programs can become complex and difficult to manage as they grow. To overcome this complexity, we break them into smaller chunks of code that are easier to understand and remember. This can be achieved through three main methods: functions, objects, and modules. In this week's study, we will focus on functions.</a:t>
            </a:r>
          </a:p>
          <a:p>
            <a:endParaRPr lang="en-AU" dirty="0"/>
          </a:p>
          <a:p>
            <a:r>
              <a:rPr lang="en-AU" dirty="0"/>
              <a:t>Functions can be thought of as mini-programs that perform specific tasks or steps within a larger algorithm. By dividing our code into smaller functions, we can focus on one specific task at a time, making it easier to debug and maintain our code. We can also reuse the same function multiple times throughout our program, reducing code duplication and improving code efficiency. Additionally, if a function is particularly useful, it can be shared with other programmers by making it available for installation and use in their programs. In this week's exploration, we will dive deeper into the concept of functions and learn how to use them effectively to manage complexity in our programs.</a:t>
            </a:r>
          </a:p>
          <a:p>
            <a:endParaRPr lang="en-AU" dirty="0"/>
          </a:p>
        </p:txBody>
      </p:sp>
    </p:spTree>
    <p:extLst>
      <p:ext uri="{BB962C8B-B14F-4D97-AF65-F5344CB8AC3E}">
        <p14:creationId xmlns:p14="http://schemas.microsoft.com/office/powerpoint/2010/main" val="32963694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663917"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S2</a:t>
            </a:r>
            <a:r>
              <a:rPr lang="en-AU" sz="1000" dirty="0"/>
              <a:t>001</a:t>
            </a:r>
            <a:r>
              <a:rPr sz="1000" dirty="0"/>
              <a:t> </a:t>
            </a:r>
            <a:r>
              <a:rPr lang="en-AU" sz="1000" dirty="0"/>
              <a:t>– Building Blocks</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7000" r="-7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dirty="0"/>
              <a:t>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Building Blocks</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2960-4693-594A-8FD7-D48C759512DB}"/>
              </a:ext>
            </a:extLst>
          </p:cNvPr>
          <p:cNvSpPr>
            <a:spLocks noGrp="1"/>
          </p:cNvSpPr>
          <p:nvPr>
            <p:ph type="title"/>
          </p:nvPr>
        </p:nvSpPr>
        <p:spPr/>
        <p:txBody>
          <a:bodyPr/>
          <a:lstStyle/>
          <a:p>
            <a:r>
              <a:rPr lang="en-AU" dirty="0"/>
              <a:t>Previously</a:t>
            </a:r>
          </a:p>
        </p:txBody>
      </p:sp>
      <p:sp>
        <p:nvSpPr>
          <p:cNvPr id="3" name="Text Placeholder 2">
            <a:extLst>
              <a:ext uri="{FF2B5EF4-FFF2-40B4-BE49-F238E27FC236}">
                <a16:creationId xmlns:a16="http://schemas.microsoft.com/office/drawing/2014/main" id="{05582C87-E645-F642-843E-F4B3721A7AFD}"/>
              </a:ext>
            </a:extLst>
          </p:cNvPr>
          <p:cNvSpPr>
            <a:spLocks noGrp="1"/>
          </p:cNvSpPr>
          <p:nvPr>
            <p:ph type="body" idx="1"/>
          </p:nvPr>
        </p:nvSpPr>
        <p:spPr/>
        <p:txBody>
          <a:bodyPr/>
          <a:lstStyle/>
          <a:p>
            <a:r>
              <a:rPr lang="en-AU" dirty="0"/>
              <a:t>Data = Value + Type</a:t>
            </a:r>
          </a:p>
          <a:p>
            <a:r>
              <a:rPr lang="en-AU" dirty="0"/>
              <a:t>Algorithms</a:t>
            </a:r>
          </a:p>
          <a:p>
            <a:r>
              <a:rPr lang="en-AU" dirty="0"/>
              <a:t>Control Structures</a:t>
            </a:r>
          </a:p>
          <a:p>
            <a:pPr lvl="1"/>
            <a:r>
              <a:rPr lang="en-AU" dirty="0"/>
              <a:t>Sequence</a:t>
            </a:r>
          </a:p>
          <a:p>
            <a:pPr lvl="1"/>
            <a:r>
              <a:rPr lang="en-AU" dirty="0"/>
              <a:t>Selection</a:t>
            </a:r>
          </a:p>
          <a:p>
            <a:pPr lvl="1"/>
            <a:r>
              <a:rPr lang="en-AU" dirty="0"/>
              <a:t>Repetition</a:t>
            </a:r>
          </a:p>
          <a:p>
            <a:r>
              <a:rPr lang="en-AU" dirty="0"/>
              <a:t>Pseudocode</a:t>
            </a:r>
          </a:p>
          <a:p>
            <a:r>
              <a:rPr lang="en-AU" dirty="0"/>
              <a:t>Six things a computer can do (fast)</a:t>
            </a:r>
          </a:p>
          <a:p>
            <a:endParaRPr lang="en-AU" dirty="0"/>
          </a:p>
        </p:txBody>
      </p:sp>
    </p:spTree>
    <p:extLst>
      <p:ext uri="{BB962C8B-B14F-4D97-AF65-F5344CB8AC3E}">
        <p14:creationId xmlns:p14="http://schemas.microsoft.com/office/powerpoint/2010/main" val="394536329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2960-4693-594A-8FD7-D48C759512DB}"/>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05582C87-E645-F642-843E-F4B3721A7AFD}"/>
              </a:ext>
            </a:extLst>
          </p:cNvPr>
          <p:cNvSpPr>
            <a:spLocks noGrp="1"/>
          </p:cNvSpPr>
          <p:nvPr>
            <p:ph type="body" idx="1"/>
          </p:nvPr>
        </p:nvSpPr>
        <p:spPr/>
        <p:txBody>
          <a:bodyPr/>
          <a:lstStyle/>
          <a:p>
            <a:r>
              <a:rPr lang="en-AU" dirty="0"/>
              <a:t>Calling Functions</a:t>
            </a:r>
          </a:p>
          <a:p>
            <a:r>
              <a:rPr lang="en-AU" dirty="0"/>
              <a:t>Using Modules</a:t>
            </a:r>
          </a:p>
          <a:p>
            <a:r>
              <a:rPr lang="en-AU" dirty="0"/>
              <a:t>Creating Functions</a:t>
            </a:r>
          </a:p>
        </p:txBody>
      </p:sp>
    </p:spTree>
    <p:extLst>
      <p:ext uri="{BB962C8B-B14F-4D97-AF65-F5344CB8AC3E}">
        <p14:creationId xmlns:p14="http://schemas.microsoft.com/office/powerpoint/2010/main" val="230259736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C094AC-DD8F-DD42-A27B-5D8720EB4BE8}"/>
              </a:ext>
            </a:extLst>
          </p:cNvPr>
          <p:cNvSpPr>
            <a:spLocks noGrp="1"/>
          </p:cNvSpPr>
          <p:nvPr>
            <p:ph type="body" idx="1"/>
          </p:nvPr>
        </p:nvSpPr>
        <p:spPr>
          <a:xfrm>
            <a:off x="1813560" y="2788920"/>
            <a:ext cx="5516880" cy="1066800"/>
          </a:xfrm>
        </p:spPr>
        <p:txBody>
          <a:bodyPr>
            <a:normAutofit/>
          </a:bodyPr>
          <a:lstStyle/>
          <a:p>
            <a:pPr marL="0" indent="0">
              <a:buNone/>
            </a:pPr>
            <a:r>
              <a:rPr lang="en-AU" sz="4800" dirty="0"/>
              <a:t>print(”Hello, world!”)</a:t>
            </a:r>
          </a:p>
        </p:txBody>
      </p:sp>
    </p:spTree>
    <p:extLst>
      <p:ext uri="{BB962C8B-B14F-4D97-AF65-F5344CB8AC3E}">
        <p14:creationId xmlns:p14="http://schemas.microsoft.com/office/powerpoint/2010/main" val="130056055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C094AC-DD8F-DD42-A27B-5D8720EB4BE8}"/>
              </a:ext>
            </a:extLst>
          </p:cNvPr>
          <p:cNvSpPr>
            <a:spLocks noGrp="1"/>
          </p:cNvSpPr>
          <p:nvPr>
            <p:ph type="body" idx="1"/>
          </p:nvPr>
        </p:nvSpPr>
        <p:spPr>
          <a:xfrm>
            <a:off x="1813560" y="2788920"/>
            <a:ext cx="5516880" cy="1066800"/>
          </a:xfrm>
        </p:spPr>
        <p:txBody>
          <a:bodyPr>
            <a:normAutofit/>
          </a:bodyPr>
          <a:lstStyle/>
          <a:p>
            <a:pPr marL="0" indent="0">
              <a:buNone/>
            </a:pPr>
            <a:r>
              <a:rPr lang="en-AU" sz="4800" dirty="0"/>
              <a:t>print(”Hello, world!”)</a:t>
            </a:r>
          </a:p>
        </p:txBody>
      </p:sp>
      <p:sp>
        <p:nvSpPr>
          <p:cNvPr id="2" name="TextBox 1">
            <a:extLst>
              <a:ext uri="{FF2B5EF4-FFF2-40B4-BE49-F238E27FC236}">
                <a16:creationId xmlns:a16="http://schemas.microsoft.com/office/drawing/2014/main" id="{2C37CBBC-E6B7-0D4B-A635-B1BA9103CCF4}"/>
              </a:ext>
            </a:extLst>
          </p:cNvPr>
          <p:cNvSpPr txBox="1"/>
          <p:nvPr/>
        </p:nvSpPr>
        <p:spPr>
          <a:xfrm rot="21361482">
            <a:off x="50224" y="769791"/>
            <a:ext cx="2164079" cy="1524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We call or invoke a function by using it name in code</a:t>
            </a:r>
          </a:p>
        </p:txBody>
      </p:sp>
      <p:cxnSp>
        <p:nvCxnSpPr>
          <p:cNvPr id="5" name="Straight Arrow Connector 4">
            <a:extLst>
              <a:ext uri="{FF2B5EF4-FFF2-40B4-BE49-F238E27FC236}">
                <a16:creationId xmlns:a16="http://schemas.microsoft.com/office/drawing/2014/main" id="{A9FF7D1D-87C2-B24A-AF94-DCE1EA4F1314}"/>
              </a:ext>
            </a:extLst>
          </p:cNvPr>
          <p:cNvCxnSpPr>
            <a:cxnSpLocks/>
            <a:stCxn id="2" idx="2"/>
          </p:cNvCxnSpPr>
          <p:nvPr/>
        </p:nvCxnSpPr>
        <p:spPr>
          <a:xfrm>
            <a:off x="1185091" y="2291958"/>
            <a:ext cx="1024709" cy="664602"/>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53830368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C094AC-DD8F-DD42-A27B-5D8720EB4BE8}"/>
              </a:ext>
            </a:extLst>
          </p:cNvPr>
          <p:cNvSpPr>
            <a:spLocks noGrp="1"/>
          </p:cNvSpPr>
          <p:nvPr>
            <p:ph type="body" idx="1"/>
          </p:nvPr>
        </p:nvSpPr>
        <p:spPr>
          <a:xfrm>
            <a:off x="1813560" y="2788920"/>
            <a:ext cx="5516880" cy="1066800"/>
          </a:xfrm>
        </p:spPr>
        <p:txBody>
          <a:bodyPr>
            <a:normAutofit/>
          </a:bodyPr>
          <a:lstStyle/>
          <a:p>
            <a:pPr marL="0" indent="0">
              <a:buNone/>
            </a:pPr>
            <a:r>
              <a:rPr lang="en-AU" sz="4800" dirty="0"/>
              <a:t>print(”Hello, world!”)</a:t>
            </a:r>
          </a:p>
        </p:txBody>
      </p:sp>
      <p:sp>
        <p:nvSpPr>
          <p:cNvPr id="2" name="TextBox 1">
            <a:extLst>
              <a:ext uri="{FF2B5EF4-FFF2-40B4-BE49-F238E27FC236}">
                <a16:creationId xmlns:a16="http://schemas.microsoft.com/office/drawing/2014/main" id="{2C37CBBC-E6B7-0D4B-A635-B1BA9103CCF4}"/>
              </a:ext>
            </a:extLst>
          </p:cNvPr>
          <p:cNvSpPr txBox="1"/>
          <p:nvPr/>
        </p:nvSpPr>
        <p:spPr>
          <a:xfrm rot="21361482">
            <a:off x="50224" y="769791"/>
            <a:ext cx="2164079" cy="1524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We call or invoke a function by using it name in code</a:t>
            </a:r>
          </a:p>
        </p:txBody>
      </p:sp>
      <p:cxnSp>
        <p:nvCxnSpPr>
          <p:cNvPr id="5" name="Straight Arrow Connector 4">
            <a:extLst>
              <a:ext uri="{FF2B5EF4-FFF2-40B4-BE49-F238E27FC236}">
                <a16:creationId xmlns:a16="http://schemas.microsoft.com/office/drawing/2014/main" id="{A9FF7D1D-87C2-B24A-AF94-DCE1EA4F1314}"/>
              </a:ext>
            </a:extLst>
          </p:cNvPr>
          <p:cNvCxnSpPr>
            <a:cxnSpLocks/>
            <a:stCxn id="2" idx="2"/>
          </p:cNvCxnSpPr>
          <p:nvPr/>
        </p:nvCxnSpPr>
        <p:spPr>
          <a:xfrm>
            <a:off x="1185091" y="2291958"/>
            <a:ext cx="1024709" cy="664602"/>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6" name="Straight Arrow Connector 5">
            <a:extLst>
              <a:ext uri="{FF2B5EF4-FFF2-40B4-BE49-F238E27FC236}">
                <a16:creationId xmlns:a16="http://schemas.microsoft.com/office/drawing/2014/main" id="{6D296331-AB1D-C341-96AC-5EEB424A0FF1}"/>
              </a:ext>
            </a:extLst>
          </p:cNvPr>
          <p:cNvCxnSpPr>
            <a:cxnSpLocks/>
          </p:cNvCxnSpPr>
          <p:nvPr/>
        </p:nvCxnSpPr>
        <p:spPr>
          <a:xfrm>
            <a:off x="3063240" y="1889760"/>
            <a:ext cx="0" cy="1025852"/>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5690B91B-C19D-F747-A509-0984D424F177}"/>
              </a:ext>
            </a:extLst>
          </p:cNvPr>
          <p:cNvSpPr txBox="1"/>
          <p:nvPr/>
        </p:nvSpPr>
        <p:spPr>
          <a:xfrm>
            <a:off x="2209800" y="1112862"/>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name is followed by a parenthesis</a:t>
            </a:r>
          </a:p>
        </p:txBody>
      </p:sp>
    </p:spTree>
    <p:extLst>
      <p:ext uri="{BB962C8B-B14F-4D97-AF65-F5344CB8AC3E}">
        <p14:creationId xmlns:p14="http://schemas.microsoft.com/office/powerpoint/2010/main" val="159536914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C094AC-DD8F-DD42-A27B-5D8720EB4BE8}"/>
              </a:ext>
            </a:extLst>
          </p:cNvPr>
          <p:cNvSpPr>
            <a:spLocks noGrp="1"/>
          </p:cNvSpPr>
          <p:nvPr>
            <p:ph type="body" idx="1"/>
          </p:nvPr>
        </p:nvSpPr>
        <p:spPr>
          <a:xfrm>
            <a:off x="1813560" y="2788920"/>
            <a:ext cx="5516880" cy="1066800"/>
          </a:xfrm>
        </p:spPr>
        <p:txBody>
          <a:bodyPr>
            <a:normAutofit/>
          </a:bodyPr>
          <a:lstStyle/>
          <a:p>
            <a:pPr marL="0" indent="0">
              <a:buNone/>
            </a:pPr>
            <a:r>
              <a:rPr lang="en-AU" sz="4800" dirty="0"/>
              <a:t>print(”Hello, world!”)</a:t>
            </a:r>
          </a:p>
        </p:txBody>
      </p:sp>
      <p:sp>
        <p:nvSpPr>
          <p:cNvPr id="2" name="TextBox 1">
            <a:extLst>
              <a:ext uri="{FF2B5EF4-FFF2-40B4-BE49-F238E27FC236}">
                <a16:creationId xmlns:a16="http://schemas.microsoft.com/office/drawing/2014/main" id="{2C37CBBC-E6B7-0D4B-A635-B1BA9103CCF4}"/>
              </a:ext>
            </a:extLst>
          </p:cNvPr>
          <p:cNvSpPr txBox="1"/>
          <p:nvPr/>
        </p:nvSpPr>
        <p:spPr>
          <a:xfrm rot="21361482">
            <a:off x="50224" y="769791"/>
            <a:ext cx="2164079" cy="1524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We call or invoke a function by using it name in code</a:t>
            </a:r>
          </a:p>
        </p:txBody>
      </p:sp>
      <p:cxnSp>
        <p:nvCxnSpPr>
          <p:cNvPr id="5" name="Straight Arrow Connector 4">
            <a:extLst>
              <a:ext uri="{FF2B5EF4-FFF2-40B4-BE49-F238E27FC236}">
                <a16:creationId xmlns:a16="http://schemas.microsoft.com/office/drawing/2014/main" id="{A9FF7D1D-87C2-B24A-AF94-DCE1EA4F1314}"/>
              </a:ext>
            </a:extLst>
          </p:cNvPr>
          <p:cNvCxnSpPr>
            <a:cxnSpLocks/>
            <a:stCxn id="2" idx="2"/>
          </p:cNvCxnSpPr>
          <p:nvPr/>
        </p:nvCxnSpPr>
        <p:spPr>
          <a:xfrm>
            <a:off x="1185091" y="2291958"/>
            <a:ext cx="1024709" cy="664602"/>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6" name="Straight Arrow Connector 5">
            <a:extLst>
              <a:ext uri="{FF2B5EF4-FFF2-40B4-BE49-F238E27FC236}">
                <a16:creationId xmlns:a16="http://schemas.microsoft.com/office/drawing/2014/main" id="{6D296331-AB1D-C341-96AC-5EEB424A0FF1}"/>
              </a:ext>
            </a:extLst>
          </p:cNvPr>
          <p:cNvCxnSpPr>
            <a:cxnSpLocks/>
          </p:cNvCxnSpPr>
          <p:nvPr/>
        </p:nvCxnSpPr>
        <p:spPr>
          <a:xfrm>
            <a:off x="3063240" y="2036188"/>
            <a:ext cx="0" cy="8794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5690B91B-C19D-F747-A509-0984D424F177}"/>
              </a:ext>
            </a:extLst>
          </p:cNvPr>
          <p:cNvSpPr txBox="1"/>
          <p:nvPr/>
        </p:nvSpPr>
        <p:spPr>
          <a:xfrm>
            <a:off x="2209800" y="1112862"/>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name is followed by a parenthesis</a:t>
            </a:r>
          </a:p>
        </p:txBody>
      </p:sp>
      <p:sp>
        <p:nvSpPr>
          <p:cNvPr id="7" name="TextBox 6">
            <a:extLst>
              <a:ext uri="{FF2B5EF4-FFF2-40B4-BE49-F238E27FC236}">
                <a16:creationId xmlns:a16="http://schemas.microsoft.com/office/drawing/2014/main" id="{9814E01F-68D5-BB4C-882C-8D80FA6F62C3}"/>
              </a:ext>
            </a:extLst>
          </p:cNvPr>
          <p:cNvSpPr txBox="1"/>
          <p:nvPr/>
        </p:nvSpPr>
        <p:spPr>
          <a:xfrm rot="336906">
            <a:off x="4541409" y="630135"/>
            <a:ext cx="2164079" cy="1477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provide zero or more inputs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“pass arguments to the function”</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0" name="Straight Arrow Connector 9">
            <a:extLst>
              <a:ext uri="{FF2B5EF4-FFF2-40B4-BE49-F238E27FC236}">
                <a16:creationId xmlns:a16="http://schemas.microsoft.com/office/drawing/2014/main" id="{5F276E59-7988-0349-A408-ABF98935C6A4}"/>
              </a:ext>
            </a:extLst>
          </p:cNvPr>
          <p:cNvCxnSpPr>
            <a:cxnSpLocks/>
          </p:cNvCxnSpPr>
          <p:nvPr/>
        </p:nvCxnSpPr>
        <p:spPr>
          <a:xfrm flipH="1">
            <a:off x="4953000" y="2036188"/>
            <a:ext cx="411480" cy="83847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6688906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C094AC-DD8F-DD42-A27B-5D8720EB4BE8}"/>
              </a:ext>
            </a:extLst>
          </p:cNvPr>
          <p:cNvSpPr>
            <a:spLocks noGrp="1"/>
          </p:cNvSpPr>
          <p:nvPr>
            <p:ph type="body" idx="1"/>
          </p:nvPr>
        </p:nvSpPr>
        <p:spPr>
          <a:xfrm>
            <a:off x="1813560" y="2788920"/>
            <a:ext cx="5516880" cy="1066800"/>
          </a:xfrm>
        </p:spPr>
        <p:txBody>
          <a:bodyPr>
            <a:normAutofit/>
          </a:bodyPr>
          <a:lstStyle/>
          <a:p>
            <a:pPr marL="0" indent="0">
              <a:buNone/>
            </a:pPr>
            <a:r>
              <a:rPr lang="en-AU" sz="4800" dirty="0"/>
              <a:t>print(”Hello, world!”)</a:t>
            </a:r>
          </a:p>
        </p:txBody>
      </p:sp>
      <p:sp>
        <p:nvSpPr>
          <p:cNvPr id="2" name="TextBox 1">
            <a:extLst>
              <a:ext uri="{FF2B5EF4-FFF2-40B4-BE49-F238E27FC236}">
                <a16:creationId xmlns:a16="http://schemas.microsoft.com/office/drawing/2014/main" id="{2C37CBBC-E6B7-0D4B-A635-B1BA9103CCF4}"/>
              </a:ext>
            </a:extLst>
          </p:cNvPr>
          <p:cNvSpPr txBox="1"/>
          <p:nvPr/>
        </p:nvSpPr>
        <p:spPr>
          <a:xfrm rot="21361482">
            <a:off x="50224" y="769791"/>
            <a:ext cx="2164079" cy="1524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We call or invoke a function by using it name in code</a:t>
            </a:r>
          </a:p>
        </p:txBody>
      </p:sp>
      <p:cxnSp>
        <p:nvCxnSpPr>
          <p:cNvPr id="5" name="Straight Arrow Connector 4">
            <a:extLst>
              <a:ext uri="{FF2B5EF4-FFF2-40B4-BE49-F238E27FC236}">
                <a16:creationId xmlns:a16="http://schemas.microsoft.com/office/drawing/2014/main" id="{A9FF7D1D-87C2-B24A-AF94-DCE1EA4F1314}"/>
              </a:ext>
            </a:extLst>
          </p:cNvPr>
          <p:cNvCxnSpPr>
            <a:cxnSpLocks/>
            <a:stCxn id="2" idx="2"/>
          </p:cNvCxnSpPr>
          <p:nvPr/>
        </p:nvCxnSpPr>
        <p:spPr>
          <a:xfrm>
            <a:off x="1185091" y="2291958"/>
            <a:ext cx="1024709" cy="664602"/>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6" name="Straight Arrow Connector 5">
            <a:extLst>
              <a:ext uri="{FF2B5EF4-FFF2-40B4-BE49-F238E27FC236}">
                <a16:creationId xmlns:a16="http://schemas.microsoft.com/office/drawing/2014/main" id="{6D296331-AB1D-C341-96AC-5EEB424A0FF1}"/>
              </a:ext>
            </a:extLst>
          </p:cNvPr>
          <p:cNvCxnSpPr>
            <a:cxnSpLocks/>
          </p:cNvCxnSpPr>
          <p:nvPr/>
        </p:nvCxnSpPr>
        <p:spPr>
          <a:xfrm>
            <a:off x="3063240" y="2036188"/>
            <a:ext cx="0" cy="8794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5690B91B-C19D-F747-A509-0984D424F177}"/>
              </a:ext>
            </a:extLst>
          </p:cNvPr>
          <p:cNvSpPr txBox="1"/>
          <p:nvPr/>
        </p:nvSpPr>
        <p:spPr>
          <a:xfrm>
            <a:off x="2209800" y="1112862"/>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name is followed by a parenthesis</a:t>
            </a:r>
          </a:p>
        </p:txBody>
      </p:sp>
      <p:sp>
        <p:nvSpPr>
          <p:cNvPr id="7" name="TextBox 6">
            <a:extLst>
              <a:ext uri="{FF2B5EF4-FFF2-40B4-BE49-F238E27FC236}">
                <a16:creationId xmlns:a16="http://schemas.microsoft.com/office/drawing/2014/main" id="{9814E01F-68D5-BB4C-882C-8D80FA6F62C3}"/>
              </a:ext>
            </a:extLst>
          </p:cNvPr>
          <p:cNvSpPr txBox="1"/>
          <p:nvPr/>
        </p:nvSpPr>
        <p:spPr>
          <a:xfrm rot="336906">
            <a:off x="4541409" y="630135"/>
            <a:ext cx="2164079" cy="1477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provide zero or more inputs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“pass arguments to the function”</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0" name="Straight Arrow Connector 9">
            <a:extLst>
              <a:ext uri="{FF2B5EF4-FFF2-40B4-BE49-F238E27FC236}">
                <a16:creationId xmlns:a16="http://schemas.microsoft.com/office/drawing/2014/main" id="{5F276E59-7988-0349-A408-ABF98935C6A4}"/>
              </a:ext>
            </a:extLst>
          </p:cNvPr>
          <p:cNvCxnSpPr>
            <a:cxnSpLocks/>
          </p:cNvCxnSpPr>
          <p:nvPr/>
        </p:nvCxnSpPr>
        <p:spPr>
          <a:xfrm flipH="1">
            <a:off x="4953000" y="2036188"/>
            <a:ext cx="411480" cy="83847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F22A65EE-FCFA-6846-895A-C4F039D01993}"/>
              </a:ext>
            </a:extLst>
          </p:cNvPr>
          <p:cNvSpPr txBox="1"/>
          <p:nvPr/>
        </p:nvSpPr>
        <p:spPr>
          <a:xfrm rot="1147774">
            <a:off x="6727074" y="1536498"/>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Finally we end with a parenthesis</a:t>
            </a:r>
          </a:p>
        </p:txBody>
      </p:sp>
      <p:cxnSp>
        <p:nvCxnSpPr>
          <p:cNvPr id="12" name="Straight Arrow Connector 11">
            <a:extLst>
              <a:ext uri="{FF2B5EF4-FFF2-40B4-BE49-F238E27FC236}">
                <a16:creationId xmlns:a16="http://schemas.microsoft.com/office/drawing/2014/main" id="{1A79EF19-387A-704D-B31C-A5576BFD1FA2}"/>
              </a:ext>
            </a:extLst>
          </p:cNvPr>
          <p:cNvCxnSpPr>
            <a:cxnSpLocks/>
          </p:cNvCxnSpPr>
          <p:nvPr/>
        </p:nvCxnSpPr>
        <p:spPr>
          <a:xfrm flipH="1">
            <a:off x="7095606" y="2182025"/>
            <a:ext cx="411480" cy="83847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06330920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C094AC-DD8F-DD42-A27B-5D8720EB4BE8}"/>
              </a:ext>
            </a:extLst>
          </p:cNvPr>
          <p:cNvSpPr>
            <a:spLocks noGrp="1"/>
          </p:cNvSpPr>
          <p:nvPr>
            <p:ph type="body" idx="1"/>
          </p:nvPr>
        </p:nvSpPr>
        <p:spPr>
          <a:xfrm>
            <a:off x="441960" y="2788920"/>
            <a:ext cx="7833360" cy="1066800"/>
          </a:xfrm>
        </p:spPr>
        <p:txBody>
          <a:bodyPr>
            <a:normAutofit fontScale="77500" lnSpcReduction="20000"/>
          </a:bodyPr>
          <a:lstStyle/>
          <a:p>
            <a:pPr marL="0" indent="0">
              <a:buNone/>
            </a:pPr>
            <a:r>
              <a:rPr lang="en-AU" sz="4800" dirty="0"/>
              <a:t>name = input(”What is your name?”)</a:t>
            </a:r>
          </a:p>
        </p:txBody>
      </p:sp>
      <p:sp>
        <p:nvSpPr>
          <p:cNvPr id="7" name="TextBox 6">
            <a:extLst>
              <a:ext uri="{FF2B5EF4-FFF2-40B4-BE49-F238E27FC236}">
                <a16:creationId xmlns:a16="http://schemas.microsoft.com/office/drawing/2014/main" id="{9814E01F-68D5-BB4C-882C-8D80FA6F62C3}"/>
              </a:ext>
            </a:extLst>
          </p:cNvPr>
          <p:cNvSpPr txBox="1"/>
          <p:nvPr/>
        </p:nvSpPr>
        <p:spPr>
          <a:xfrm rot="336906">
            <a:off x="2340839" y="999912"/>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Some </a:t>
            </a:r>
            <a:r>
              <a:rPr lang="en-AU" dirty="0" err="1">
                <a:latin typeface="Lucida Handwriting" panose="03010101010101010101" pitchFamily="66" charset="77"/>
                <a:cs typeface="Lucida Grande" panose="020B0600040502020204" pitchFamily="34" charset="0"/>
              </a:rPr>
              <a:t>funtions</a:t>
            </a:r>
            <a:r>
              <a:rPr lang="en-AU" dirty="0">
                <a:latin typeface="Lucida Handwriting" panose="03010101010101010101" pitchFamily="66" charset="77"/>
                <a:cs typeface="Lucida Grande" panose="020B0600040502020204" pitchFamily="34" charset="0"/>
              </a:rPr>
              <a:t> ‘return’ a value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0" name="Straight Arrow Connector 9">
            <a:extLst>
              <a:ext uri="{FF2B5EF4-FFF2-40B4-BE49-F238E27FC236}">
                <a16:creationId xmlns:a16="http://schemas.microsoft.com/office/drawing/2014/main" id="{5F276E59-7988-0349-A408-ABF98935C6A4}"/>
              </a:ext>
            </a:extLst>
          </p:cNvPr>
          <p:cNvCxnSpPr>
            <a:cxnSpLocks/>
          </p:cNvCxnSpPr>
          <p:nvPr/>
        </p:nvCxnSpPr>
        <p:spPr>
          <a:xfrm flipH="1">
            <a:off x="2682240" y="1750561"/>
            <a:ext cx="518160" cy="10383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2" name="Rectangle 1">
            <a:extLst>
              <a:ext uri="{FF2B5EF4-FFF2-40B4-BE49-F238E27FC236}">
                <a16:creationId xmlns:a16="http://schemas.microsoft.com/office/drawing/2014/main" id="{0FC0E134-16DF-794C-A552-83B46EA0145E}"/>
              </a:ext>
            </a:extLst>
          </p:cNvPr>
          <p:cNvSpPr/>
          <p:nvPr/>
        </p:nvSpPr>
        <p:spPr>
          <a:xfrm>
            <a:off x="167640" y="2270760"/>
            <a:ext cx="1965960" cy="1706880"/>
          </a:xfrm>
          <a:prstGeom prst="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195729422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C094AC-DD8F-DD42-A27B-5D8720EB4BE8}"/>
              </a:ext>
            </a:extLst>
          </p:cNvPr>
          <p:cNvSpPr>
            <a:spLocks noGrp="1"/>
          </p:cNvSpPr>
          <p:nvPr>
            <p:ph type="body" idx="1"/>
          </p:nvPr>
        </p:nvSpPr>
        <p:spPr>
          <a:xfrm>
            <a:off x="441960" y="2788920"/>
            <a:ext cx="7833360" cy="1066800"/>
          </a:xfrm>
        </p:spPr>
        <p:txBody>
          <a:bodyPr>
            <a:normAutofit fontScale="77500" lnSpcReduction="20000"/>
          </a:bodyPr>
          <a:lstStyle/>
          <a:p>
            <a:pPr marL="0" indent="0">
              <a:buNone/>
            </a:pPr>
            <a:r>
              <a:rPr lang="en-AU" sz="4800" dirty="0"/>
              <a:t>name = input(”What is your name?”)</a:t>
            </a:r>
          </a:p>
        </p:txBody>
      </p:sp>
      <p:sp>
        <p:nvSpPr>
          <p:cNvPr id="7" name="TextBox 6">
            <a:extLst>
              <a:ext uri="{FF2B5EF4-FFF2-40B4-BE49-F238E27FC236}">
                <a16:creationId xmlns:a16="http://schemas.microsoft.com/office/drawing/2014/main" id="{9814E01F-68D5-BB4C-882C-8D80FA6F62C3}"/>
              </a:ext>
            </a:extLst>
          </p:cNvPr>
          <p:cNvSpPr txBox="1"/>
          <p:nvPr/>
        </p:nvSpPr>
        <p:spPr>
          <a:xfrm rot="336906">
            <a:off x="2340839" y="999912"/>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Some </a:t>
            </a:r>
            <a:r>
              <a:rPr lang="en-AU" dirty="0" err="1">
                <a:latin typeface="Lucida Handwriting" panose="03010101010101010101" pitchFamily="66" charset="77"/>
                <a:cs typeface="Lucida Grande" panose="020B0600040502020204" pitchFamily="34" charset="0"/>
              </a:rPr>
              <a:t>funtions</a:t>
            </a:r>
            <a:r>
              <a:rPr lang="en-AU" dirty="0">
                <a:latin typeface="Lucida Handwriting" panose="03010101010101010101" pitchFamily="66" charset="77"/>
                <a:cs typeface="Lucida Grande" panose="020B0600040502020204" pitchFamily="34" charset="0"/>
              </a:rPr>
              <a:t> ‘return’ a </a:t>
            </a:r>
            <a:r>
              <a:rPr lang="en-AU" b="1" dirty="0">
                <a:latin typeface="Lucida Handwriting" panose="03010101010101010101" pitchFamily="66" charset="77"/>
                <a:cs typeface="Lucida Grande" panose="020B0600040502020204" pitchFamily="34" charset="0"/>
              </a:rPr>
              <a:t>value</a:t>
            </a:r>
            <a:endParaRPr kumimoji="0" lang="en-AU" sz="1800" b="1"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0" name="Straight Arrow Connector 9">
            <a:extLst>
              <a:ext uri="{FF2B5EF4-FFF2-40B4-BE49-F238E27FC236}">
                <a16:creationId xmlns:a16="http://schemas.microsoft.com/office/drawing/2014/main" id="{5F276E59-7988-0349-A408-ABF98935C6A4}"/>
              </a:ext>
            </a:extLst>
          </p:cNvPr>
          <p:cNvCxnSpPr>
            <a:cxnSpLocks/>
          </p:cNvCxnSpPr>
          <p:nvPr/>
        </p:nvCxnSpPr>
        <p:spPr>
          <a:xfrm flipH="1">
            <a:off x="2682240" y="1750561"/>
            <a:ext cx="518160" cy="10383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05AF22D3-4BE3-6046-B2AD-9ED02B613B42}"/>
              </a:ext>
            </a:extLst>
          </p:cNvPr>
          <p:cNvSpPr txBox="1"/>
          <p:nvPr/>
        </p:nvSpPr>
        <p:spPr>
          <a:xfrm rot="21359610">
            <a:off x="1136880" y="4432416"/>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Save the return </a:t>
            </a:r>
            <a:r>
              <a:rPr lang="en-AU" b="1" dirty="0">
                <a:latin typeface="Lucida Handwriting" panose="03010101010101010101" pitchFamily="66" charset="77"/>
                <a:cs typeface="Lucida Grande" panose="020B0600040502020204" pitchFamily="34" charset="0"/>
              </a:rPr>
              <a:t>value </a:t>
            </a:r>
            <a:r>
              <a:rPr lang="en-AU" dirty="0">
                <a:latin typeface="Lucida Handwriting" panose="03010101010101010101" pitchFamily="66" charset="77"/>
                <a:cs typeface="Lucida Grande" panose="020B0600040502020204" pitchFamily="34" charset="0"/>
              </a:rPr>
              <a:t>in a variable</a:t>
            </a:r>
            <a:endParaRPr kumimoji="0" lang="en-AU" sz="180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8" name="Straight Arrow Connector 7">
            <a:extLst>
              <a:ext uri="{FF2B5EF4-FFF2-40B4-BE49-F238E27FC236}">
                <a16:creationId xmlns:a16="http://schemas.microsoft.com/office/drawing/2014/main" id="{8685F6C9-9008-7842-9C96-FFF8DF99BE6C}"/>
              </a:ext>
            </a:extLst>
          </p:cNvPr>
          <p:cNvCxnSpPr>
            <a:cxnSpLocks/>
          </p:cNvCxnSpPr>
          <p:nvPr/>
        </p:nvCxnSpPr>
        <p:spPr>
          <a:xfrm flipH="1" flipV="1">
            <a:off x="1158240" y="3429000"/>
            <a:ext cx="624840" cy="86867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60545338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4B103-78D3-8643-B0BD-09A2CE530F4B}"/>
              </a:ext>
            </a:extLst>
          </p:cNvPr>
          <p:cNvSpPr>
            <a:spLocks noGrp="1"/>
          </p:cNvSpPr>
          <p:nvPr>
            <p:ph type="title"/>
          </p:nvPr>
        </p:nvSpPr>
        <p:spPr/>
        <p:txBody>
          <a:bodyPr/>
          <a:lstStyle/>
          <a:p>
            <a:r>
              <a:rPr lang="en-AU" dirty="0"/>
              <a:t>Calling Functions</a:t>
            </a:r>
          </a:p>
        </p:txBody>
      </p:sp>
      <p:sp>
        <p:nvSpPr>
          <p:cNvPr id="3" name="Text Placeholder 2">
            <a:extLst>
              <a:ext uri="{FF2B5EF4-FFF2-40B4-BE49-F238E27FC236}">
                <a16:creationId xmlns:a16="http://schemas.microsoft.com/office/drawing/2014/main" id="{E136F554-8A2F-A647-B9E8-5533F8011AB6}"/>
              </a:ext>
            </a:extLst>
          </p:cNvPr>
          <p:cNvSpPr>
            <a:spLocks noGrp="1"/>
          </p:cNvSpPr>
          <p:nvPr>
            <p:ph type="body" idx="1"/>
          </p:nvPr>
        </p:nvSpPr>
        <p:spPr/>
        <p:txBody>
          <a:bodyPr/>
          <a:lstStyle/>
          <a:p>
            <a:r>
              <a:rPr lang="en-AU" dirty="0"/>
              <a:t>Call/invoke using name</a:t>
            </a:r>
          </a:p>
          <a:p>
            <a:r>
              <a:rPr lang="en-AU" dirty="0"/>
              <a:t>Provide zero or more arguments (inputs)</a:t>
            </a:r>
          </a:p>
          <a:p>
            <a:r>
              <a:rPr lang="en-AU" dirty="0"/>
              <a:t>Save the return value to a variable (optional)</a:t>
            </a:r>
          </a:p>
        </p:txBody>
      </p:sp>
    </p:spTree>
    <p:extLst>
      <p:ext uri="{BB962C8B-B14F-4D97-AF65-F5344CB8AC3E}">
        <p14:creationId xmlns:p14="http://schemas.microsoft.com/office/powerpoint/2010/main" val="368079571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FE4E-7881-884D-9D94-E73A0DB70EFE}"/>
              </a:ext>
            </a:extLst>
          </p:cNvPr>
          <p:cNvSpPr>
            <a:spLocks noGrp="1"/>
          </p:cNvSpPr>
          <p:nvPr>
            <p:ph type="title"/>
          </p:nvPr>
        </p:nvSpPr>
        <p:spPr/>
        <p:txBody>
          <a:bodyPr/>
          <a:lstStyle/>
          <a:p>
            <a:r>
              <a:rPr lang="en-AU" dirty="0"/>
              <a:t>Modules</a:t>
            </a:r>
          </a:p>
        </p:txBody>
      </p:sp>
      <p:sp>
        <p:nvSpPr>
          <p:cNvPr id="3" name="Text Placeholder 2">
            <a:extLst>
              <a:ext uri="{FF2B5EF4-FFF2-40B4-BE49-F238E27FC236}">
                <a16:creationId xmlns:a16="http://schemas.microsoft.com/office/drawing/2014/main" id="{5F2EA95A-5339-5B44-9E41-2848FEF88001}"/>
              </a:ext>
            </a:extLst>
          </p:cNvPr>
          <p:cNvSpPr>
            <a:spLocks noGrp="1"/>
          </p:cNvSpPr>
          <p:nvPr>
            <p:ph type="body" idx="1"/>
          </p:nvPr>
        </p:nvSpPr>
        <p:spPr/>
        <p:txBody>
          <a:bodyPr/>
          <a:lstStyle/>
          <a:p>
            <a:r>
              <a:rPr lang="en-AU" dirty="0" err="1"/>
              <a:t>Builtins</a:t>
            </a:r>
            <a:endParaRPr lang="en-AU" dirty="0"/>
          </a:p>
          <a:p>
            <a:r>
              <a:rPr lang="en-AU" dirty="0"/>
              <a:t>3</a:t>
            </a:r>
            <a:r>
              <a:rPr lang="en-AU" baseline="30000" dirty="0"/>
              <a:t>rd</a:t>
            </a:r>
            <a:r>
              <a:rPr lang="en-AU" dirty="0"/>
              <a:t> Party</a:t>
            </a:r>
          </a:p>
        </p:txBody>
      </p:sp>
    </p:spTree>
    <p:extLst>
      <p:ext uri="{BB962C8B-B14F-4D97-AF65-F5344CB8AC3E}">
        <p14:creationId xmlns:p14="http://schemas.microsoft.com/office/powerpoint/2010/main" val="378027393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E3E48-F93F-914E-9142-DA957105E8DB}"/>
              </a:ext>
            </a:extLst>
          </p:cNvPr>
          <p:cNvSpPr>
            <a:spLocks noGrp="1"/>
          </p:cNvSpPr>
          <p:nvPr>
            <p:ph type="title"/>
          </p:nvPr>
        </p:nvSpPr>
        <p:spPr/>
        <p:txBody>
          <a:bodyPr/>
          <a:lstStyle/>
          <a:p>
            <a:r>
              <a:rPr lang="en-AU" dirty="0"/>
              <a:t>Built-In Functions</a:t>
            </a:r>
          </a:p>
        </p:txBody>
      </p:sp>
      <p:sp>
        <p:nvSpPr>
          <p:cNvPr id="3" name="Text Placeholder 2">
            <a:extLst>
              <a:ext uri="{FF2B5EF4-FFF2-40B4-BE49-F238E27FC236}">
                <a16:creationId xmlns:a16="http://schemas.microsoft.com/office/drawing/2014/main" id="{0D4E8EFA-D506-C947-99BB-90BD72AAD9FA}"/>
              </a:ext>
            </a:extLst>
          </p:cNvPr>
          <p:cNvSpPr>
            <a:spLocks noGrp="1"/>
          </p:cNvSpPr>
          <p:nvPr>
            <p:ph type="body" idx="1"/>
          </p:nvPr>
        </p:nvSpPr>
        <p:spPr>
          <a:xfrm>
            <a:off x="670560" y="3916680"/>
            <a:ext cx="8218488" cy="1508760"/>
          </a:xfrm>
        </p:spPr>
        <p:txBody>
          <a:bodyPr>
            <a:normAutofit/>
          </a:bodyPr>
          <a:lstStyle/>
          <a:p>
            <a:pPr marL="0" indent="0">
              <a:buNone/>
            </a:pPr>
            <a:r>
              <a:rPr lang="en-AU" sz="2000" dirty="0"/>
              <a:t>Many more</a:t>
            </a:r>
          </a:p>
          <a:p>
            <a:pPr marL="0" indent="0">
              <a:buNone/>
            </a:pPr>
            <a:r>
              <a:rPr lang="en-AU" sz="2000" dirty="0"/>
              <a:t>https://www.w3schools.com/python/</a:t>
            </a:r>
            <a:r>
              <a:rPr lang="en-AU" sz="2000" dirty="0" err="1"/>
              <a:t>python_ref_functions.asp</a:t>
            </a:r>
            <a:endParaRPr lang="en-AU" sz="2000" dirty="0"/>
          </a:p>
        </p:txBody>
      </p:sp>
      <p:graphicFrame>
        <p:nvGraphicFramePr>
          <p:cNvPr id="5" name="Table 4">
            <a:extLst>
              <a:ext uri="{FF2B5EF4-FFF2-40B4-BE49-F238E27FC236}">
                <a16:creationId xmlns:a16="http://schemas.microsoft.com/office/drawing/2014/main" id="{40D1314B-D0E9-754E-9BAB-B9F188B47A7A}"/>
              </a:ext>
            </a:extLst>
          </p:cNvPr>
          <p:cNvGraphicFramePr>
            <a:graphicFrameLocks noGrp="1"/>
          </p:cNvGraphicFramePr>
          <p:nvPr/>
        </p:nvGraphicFramePr>
        <p:xfrm>
          <a:off x="670560" y="1557338"/>
          <a:ext cx="7791768" cy="1975195"/>
        </p:xfrm>
        <a:graphic>
          <a:graphicData uri="http://schemas.openxmlformats.org/drawingml/2006/table">
            <a:tbl>
              <a:tblPr/>
              <a:tblGrid>
                <a:gridCol w="1067760">
                  <a:extLst>
                    <a:ext uri="{9D8B030D-6E8A-4147-A177-3AD203B41FA5}">
                      <a16:colId xmlns:a16="http://schemas.microsoft.com/office/drawing/2014/main" val="3593229045"/>
                    </a:ext>
                  </a:extLst>
                </a:gridCol>
                <a:gridCol w="6724008">
                  <a:extLst>
                    <a:ext uri="{9D8B030D-6E8A-4147-A177-3AD203B41FA5}">
                      <a16:colId xmlns:a16="http://schemas.microsoft.com/office/drawing/2014/main" val="3679751025"/>
                    </a:ext>
                  </a:extLst>
                </a:gridCol>
              </a:tblGrid>
              <a:tr h="395039">
                <a:tc>
                  <a:txBody>
                    <a:bodyPr/>
                    <a:lstStyle/>
                    <a:p>
                      <a:pPr algn="l" fontAlgn="t"/>
                      <a:r>
                        <a:rPr lang="en-AU" sz="2000" dirty="0">
                          <a:effectLst/>
                        </a:rPr>
                        <a:t>input()</a:t>
                      </a:r>
                    </a:p>
                  </a:txBody>
                  <a:tcPr marL="79798"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AU" sz="2000">
                          <a:effectLst/>
                        </a:rPr>
                        <a:t>Allowing user input</a:t>
                      </a:r>
                    </a:p>
                  </a:txBody>
                  <a:tcPr marL="39899"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330628001"/>
                  </a:ext>
                </a:extLst>
              </a:tr>
              <a:tr h="395039">
                <a:tc>
                  <a:txBody>
                    <a:bodyPr/>
                    <a:lstStyle/>
                    <a:p>
                      <a:pPr algn="l" fontAlgn="t"/>
                      <a:r>
                        <a:rPr lang="en-AU" sz="2000" dirty="0">
                          <a:effectLst/>
                        </a:rPr>
                        <a:t>int()</a:t>
                      </a:r>
                    </a:p>
                  </a:txBody>
                  <a:tcPr marL="79798"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AU" sz="2000">
                          <a:effectLst/>
                        </a:rPr>
                        <a:t>Returns an integer number</a:t>
                      </a:r>
                    </a:p>
                  </a:txBody>
                  <a:tcPr marL="39899"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363863579"/>
                  </a:ext>
                </a:extLst>
              </a:tr>
              <a:tr h="395039">
                <a:tc>
                  <a:txBody>
                    <a:bodyPr/>
                    <a:lstStyle/>
                    <a:p>
                      <a:pPr algn="l" fontAlgn="t"/>
                      <a:r>
                        <a:rPr lang="en-AU" sz="2000" dirty="0" err="1">
                          <a:effectLst/>
                        </a:rPr>
                        <a:t>len</a:t>
                      </a:r>
                      <a:r>
                        <a:rPr lang="en-AU" sz="2000" dirty="0">
                          <a:effectLst/>
                        </a:rPr>
                        <a:t>()</a:t>
                      </a:r>
                    </a:p>
                  </a:txBody>
                  <a:tcPr marL="79798"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marR="0" lvl="0" indent="0" algn="l" defTabSz="914400" eaLnBrk="1" fontAlgn="t" latinLnBrk="0" hangingPunct="1">
                        <a:lnSpc>
                          <a:spcPct val="100000"/>
                        </a:lnSpc>
                        <a:spcBef>
                          <a:spcPts val="0"/>
                        </a:spcBef>
                        <a:spcAft>
                          <a:spcPts val="0"/>
                        </a:spcAft>
                        <a:buClrTx/>
                        <a:buSzTx/>
                        <a:buFontTx/>
                        <a:buNone/>
                        <a:tabLst/>
                        <a:defRPr/>
                      </a:pPr>
                      <a:r>
                        <a:rPr lang="en-AU" sz="2000" dirty="0">
                          <a:effectLst/>
                        </a:rPr>
                        <a:t>Returns the length of an object</a:t>
                      </a:r>
                    </a:p>
                  </a:txBody>
                  <a:tcPr marL="39899"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72623038"/>
                  </a:ext>
                </a:extLst>
              </a:tr>
              <a:tr h="395039">
                <a:tc>
                  <a:txBody>
                    <a:bodyPr/>
                    <a:lstStyle/>
                    <a:p>
                      <a:pPr algn="l" fontAlgn="t"/>
                      <a:r>
                        <a:rPr lang="en-AU" sz="2000" dirty="0">
                          <a:effectLst/>
                        </a:rPr>
                        <a:t>print()</a:t>
                      </a:r>
                    </a:p>
                  </a:txBody>
                  <a:tcPr marL="79798"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AU" sz="2000" b="0" i="0" u="none" strike="noStrike" cap="none" spc="0" baseline="0" dirty="0">
                          <a:solidFill>
                            <a:schemeClr val="tx1"/>
                          </a:solidFill>
                          <a:effectLst/>
                          <a:uFillTx/>
                          <a:latin typeface="+mn-lt"/>
                          <a:ea typeface="+mn-ea"/>
                          <a:cs typeface="+mn-cs"/>
                          <a:sym typeface="Arial"/>
                        </a:rPr>
                        <a:t>Prints to the standard output device</a:t>
                      </a:r>
                      <a:endParaRPr lang="en-AU" sz="2000" dirty="0">
                        <a:effectLst/>
                      </a:endParaRPr>
                    </a:p>
                  </a:txBody>
                  <a:tcPr marL="39899"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52837193"/>
                  </a:ext>
                </a:extLst>
              </a:tr>
              <a:tr h="395039">
                <a:tc>
                  <a:txBody>
                    <a:bodyPr/>
                    <a:lstStyle/>
                    <a:p>
                      <a:pPr algn="l" fontAlgn="t"/>
                      <a:r>
                        <a:rPr lang="en-AU" sz="2000" dirty="0">
                          <a:effectLst/>
                        </a:rPr>
                        <a:t>type()</a:t>
                      </a:r>
                    </a:p>
                  </a:txBody>
                  <a:tcPr marL="79798"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AU" sz="2000" dirty="0">
                          <a:effectLst/>
                        </a:rPr>
                        <a:t>Returns the type of </a:t>
                      </a:r>
                      <a:r>
                        <a:rPr lang="en-AU" sz="2000" dirty="0" err="1">
                          <a:effectLst/>
                        </a:rPr>
                        <a:t>anobject</a:t>
                      </a:r>
                      <a:endParaRPr lang="en-AU" sz="2000" dirty="0">
                        <a:effectLst/>
                      </a:endParaRPr>
                    </a:p>
                  </a:txBody>
                  <a:tcPr marL="39899" marR="39899" marT="39899" marB="3989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73312649"/>
                  </a:ext>
                </a:extLst>
              </a:tr>
            </a:tbl>
          </a:graphicData>
        </a:graphic>
      </p:graphicFrame>
    </p:spTree>
    <p:extLst>
      <p:ext uri="{BB962C8B-B14F-4D97-AF65-F5344CB8AC3E}">
        <p14:creationId xmlns:p14="http://schemas.microsoft.com/office/powerpoint/2010/main" val="283832424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Modules</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2514600" y="2930524"/>
            <a:ext cx="4114800" cy="996951"/>
          </a:xfrm>
        </p:spPr>
        <p:txBody>
          <a:bodyPr>
            <a:normAutofit/>
          </a:bodyPr>
          <a:lstStyle/>
          <a:p>
            <a:pPr marL="0" indent="0">
              <a:buNone/>
            </a:pPr>
            <a:r>
              <a:rPr lang="en-AU" sz="4800" dirty="0"/>
              <a:t>import  random</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1040329" y="1800033"/>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2514600" y="2133600"/>
            <a:ext cx="532367" cy="89797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03073290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Modules</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2514600" y="2930524"/>
            <a:ext cx="4114800" cy="996951"/>
          </a:xfrm>
        </p:spPr>
        <p:txBody>
          <a:bodyPr>
            <a:normAutofit/>
          </a:bodyPr>
          <a:lstStyle/>
          <a:p>
            <a:pPr marL="0" indent="0">
              <a:buNone/>
            </a:pPr>
            <a:r>
              <a:rPr lang="en-AU" sz="4800" dirty="0"/>
              <a:t>import  random</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1040329" y="1800033"/>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2514600" y="2133600"/>
            <a:ext cx="532367" cy="89797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3B494F45-6005-8441-B2AF-D0F2D05AE20A}"/>
              </a:ext>
            </a:extLst>
          </p:cNvPr>
          <p:cNvSpPr txBox="1"/>
          <p:nvPr/>
        </p:nvSpPr>
        <p:spPr>
          <a:xfrm rot="381676">
            <a:off x="4551238" y="1661534"/>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module we want to use</a:t>
            </a:r>
          </a:p>
        </p:txBody>
      </p:sp>
      <p:cxnSp>
        <p:nvCxnSpPr>
          <p:cNvPr id="7" name="Straight Arrow Connector 6">
            <a:extLst>
              <a:ext uri="{FF2B5EF4-FFF2-40B4-BE49-F238E27FC236}">
                <a16:creationId xmlns:a16="http://schemas.microsoft.com/office/drawing/2014/main" id="{1294BAC5-D9B5-A14C-868B-5999C8CC7CF9}"/>
              </a:ext>
            </a:extLst>
          </p:cNvPr>
          <p:cNvCxnSpPr>
            <a:cxnSpLocks/>
          </p:cNvCxnSpPr>
          <p:nvPr/>
        </p:nvCxnSpPr>
        <p:spPr>
          <a:xfrm flipH="1">
            <a:off x="5379834" y="2276857"/>
            <a:ext cx="9603" cy="75471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697233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Modules</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2514600" y="2930524"/>
            <a:ext cx="6161088" cy="1321436"/>
          </a:xfrm>
        </p:spPr>
        <p:txBody>
          <a:bodyPr>
            <a:noAutofit/>
          </a:bodyPr>
          <a:lstStyle/>
          <a:p>
            <a:pPr marL="0" indent="0">
              <a:buNone/>
            </a:pPr>
            <a:r>
              <a:rPr lang="en-AU" sz="4800" dirty="0"/>
              <a:t>import  random</a:t>
            </a:r>
          </a:p>
          <a:p>
            <a:pPr marL="0" indent="0">
              <a:buNone/>
            </a:pPr>
            <a:r>
              <a:rPr lang="en-AU" sz="4800" dirty="0" err="1"/>
              <a:t>random.choice</a:t>
            </a:r>
            <a:r>
              <a:rPr lang="en-AU" sz="4800" dirty="0"/>
              <a:t>([1,2,3])</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1040329" y="1800033"/>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2514600" y="2133600"/>
            <a:ext cx="532367" cy="89797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3B494F45-6005-8441-B2AF-D0F2D05AE20A}"/>
              </a:ext>
            </a:extLst>
          </p:cNvPr>
          <p:cNvSpPr txBox="1"/>
          <p:nvPr/>
        </p:nvSpPr>
        <p:spPr>
          <a:xfrm rot="381676">
            <a:off x="4551238" y="1661534"/>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module we want to use</a:t>
            </a:r>
          </a:p>
        </p:txBody>
      </p:sp>
      <p:cxnSp>
        <p:nvCxnSpPr>
          <p:cNvPr id="7" name="Straight Arrow Connector 6">
            <a:extLst>
              <a:ext uri="{FF2B5EF4-FFF2-40B4-BE49-F238E27FC236}">
                <a16:creationId xmlns:a16="http://schemas.microsoft.com/office/drawing/2014/main" id="{1294BAC5-D9B5-A14C-868B-5999C8CC7CF9}"/>
              </a:ext>
            </a:extLst>
          </p:cNvPr>
          <p:cNvCxnSpPr>
            <a:cxnSpLocks/>
          </p:cNvCxnSpPr>
          <p:nvPr/>
        </p:nvCxnSpPr>
        <p:spPr>
          <a:xfrm flipH="1">
            <a:off x="5379834" y="2276857"/>
            <a:ext cx="9603" cy="75471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664E09E7-05F9-8749-9060-F36023211B6F}"/>
              </a:ext>
            </a:extLst>
          </p:cNvPr>
          <p:cNvSpPr txBox="1"/>
          <p:nvPr/>
        </p:nvSpPr>
        <p:spPr>
          <a:xfrm>
            <a:off x="3214607" y="5374287"/>
            <a:ext cx="3067426"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Call the choice() function from the random module</a:t>
            </a:r>
          </a:p>
        </p:txBody>
      </p:sp>
      <p:cxnSp>
        <p:nvCxnSpPr>
          <p:cNvPr id="9" name="Straight Arrow Connector 8">
            <a:extLst>
              <a:ext uri="{FF2B5EF4-FFF2-40B4-BE49-F238E27FC236}">
                <a16:creationId xmlns:a16="http://schemas.microsoft.com/office/drawing/2014/main" id="{5F7FBB27-FF7C-5E48-A980-C1801F41AF64}"/>
              </a:ext>
            </a:extLst>
          </p:cNvPr>
          <p:cNvCxnSpPr>
            <a:cxnSpLocks/>
          </p:cNvCxnSpPr>
          <p:nvPr/>
        </p:nvCxnSpPr>
        <p:spPr>
          <a:xfrm flipH="1" flipV="1">
            <a:off x="3718560" y="4587240"/>
            <a:ext cx="321073" cy="7271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0" name="Straight Arrow Connector 9">
            <a:extLst>
              <a:ext uri="{FF2B5EF4-FFF2-40B4-BE49-F238E27FC236}">
                <a16:creationId xmlns:a16="http://schemas.microsoft.com/office/drawing/2014/main" id="{EDB8532D-D51D-3346-9B99-3E729EF9E7AA}"/>
              </a:ext>
            </a:extLst>
          </p:cNvPr>
          <p:cNvCxnSpPr>
            <a:cxnSpLocks/>
          </p:cNvCxnSpPr>
          <p:nvPr/>
        </p:nvCxnSpPr>
        <p:spPr>
          <a:xfrm flipV="1">
            <a:off x="5227320" y="4587240"/>
            <a:ext cx="533400" cy="7271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1239665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Modules</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2514600" y="2930524"/>
            <a:ext cx="6161088" cy="1321436"/>
          </a:xfrm>
        </p:spPr>
        <p:txBody>
          <a:bodyPr>
            <a:noAutofit/>
          </a:bodyPr>
          <a:lstStyle/>
          <a:p>
            <a:pPr marL="0" indent="0">
              <a:buNone/>
            </a:pPr>
            <a:r>
              <a:rPr lang="en-AU" sz="4800" dirty="0"/>
              <a:t>import  random</a:t>
            </a:r>
          </a:p>
          <a:p>
            <a:pPr marL="0" indent="0">
              <a:buNone/>
            </a:pPr>
            <a:r>
              <a:rPr lang="en-AU" sz="4800" dirty="0" err="1"/>
              <a:t>random.choice</a:t>
            </a:r>
            <a:r>
              <a:rPr lang="en-AU" sz="4800" dirty="0"/>
              <a:t>([1,2,3])</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1040329" y="1800033"/>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2514600" y="2133600"/>
            <a:ext cx="532367" cy="89797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3B494F45-6005-8441-B2AF-D0F2D05AE20A}"/>
              </a:ext>
            </a:extLst>
          </p:cNvPr>
          <p:cNvSpPr txBox="1"/>
          <p:nvPr/>
        </p:nvSpPr>
        <p:spPr>
          <a:xfrm rot="381676">
            <a:off x="4551238" y="1661534"/>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module we want to use</a:t>
            </a:r>
          </a:p>
        </p:txBody>
      </p:sp>
      <p:cxnSp>
        <p:nvCxnSpPr>
          <p:cNvPr id="7" name="Straight Arrow Connector 6">
            <a:extLst>
              <a:ext uri="{FF2B5EF4-FFF2-40B4-BE49-F238E27FC236}">
                <a16:creationId xmlns:a16="http://schemas.microsoft.com/office/drawing/2014/main" id="{1294BAC5-D9B5-A14C-868B-5999C8CC7CF9}"/>
              </a:ext>
            </a:extLst>
          </p:cNvPr>
          <p:cNvCxnSpPr>
            <a:cxnSpLocks/>
          </p:cNvCxnSpPr>
          <p:nvPr/>
        </p:nvCxnSpPr>
        <p:spPr>
          <a:xfrm flipH="1">
            <a:off x="5379834" y="2276857"/>
            <a:ext cx="9603" cy="75471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664E09E7-05F9-8749-9060-F36023211B6F}"/>
              </a:ext>
            </a:extLst>
          </p:cNvPr>
          <p:cNvSpPr txBox="1"/>
          <p:nvPr/>
        </p:nvSpPr>
        <p:spPr>
          <a:xfrm>
            <a:off x="3214607" y="5374287"/>
            <a:ext cx="3067426"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Call the choice() function from the random module</a:t>
            </a:r>
          </a:p>
        </p:txBody>
      </p:sp>
      <p:cxnSp>
        <p:nvCxnSpPr>
          <p:cNvPr id="9" name="Straight Arrow Connector 8">
            <a:extLst>
              <a:ext uri="{FF2B5EF4-FFF2-40B4-BE49-F238E27FC236}">
                <a16:creationId xmlns:a16="http://schemas.microsoft.com/office/drawing/2014/main" id="{5F7FBB27-FF7C-5E48-A980-C1801F41AF64}"/>
              </a:ext>
            </a:extLst>
          </p:cNvPr>
          <p:cNvCxnSpPr>
            <a:cxnSpLocks/>
          </p:cNvCxnSpPr>
          <p:nvPr/>
        </p:nvCxnSpPr>
        <p:spPr>
          <a:xfrm flipH="1" flipV="1">
            <a:off x="3718560" y="4587240"/>
            <a:ext cx="321073" cy="7271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0" name="Straight Arrow Connector 9">
            <a:extLst>
              <a:ext uri="{FF2B5EF4-FFF2-40B4-BE49-F238E27FC236}">
                <a16:creationId xmlns:a16="http://schemas.microsoft.com/office/drawing/2014/main" id="{EDB8532D-D51D-3346-9B99-3E729EF9E7AA}"/>
              </a:ext>
            </a:extLst>
          </p:cNvPr>
          <p:cNvCxnSpPr>
            <a:cxnSpLocks/>
          </p:cNvCxnSpPr>
          <p:nvPr/>
        </p:nvCxnSpPr>
        <p:spPr>
          <a:xfrm flipV="1">
            <a:off x="5227320" y="4587240"/>
            <a:ext cx="533400" cy="7271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1" name="Oval 10">
            <a:extLst>
              <a:ext uri="{FF2B5EF4-FFF2-40B4-BE49-F238E27FC236}">
                <a16:creationId xmlns:a16="http://schemas.microsoft.com/office/drawing/2014/main" id="{A4BB5873-8AF9-4648-B3FD-D5EA1FA1004D}"/>
              </a:ext>
            </a:extLst>
          </p:cNvPr>
          <p:cNvSpPr/>
          <p:nvPr/>
        </p:nvSpPr>
        <p:spPr>
          <a:xfrm>
            <a:off x="4382533" y="4099560"/>
            <a:ext cx="533400" cy="487680"/>
          </a:xfrm>
          <a:prstGeom prst="ellipse">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346359745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FBAB6-377E-9148-86F3-4B1F5467C170}"/>
              </a:ext>
            </a:extLst>
          </p:cNvPr>
          <p:cNvSpPr>
            <a:spLocks noGrp="1"/>
          </p:cNvSpPr>
          <p:nvPr>
            <p:ph type="title"/>
          </p:nvPr>
        </p:nvSpPr>
        <p:spPr/>
        <p:txBody>
          <a:bodyPr/>
          <a:lstStyle/>
          <a:p>
            <a:r>
              <a:rPr lang="en-AU" dirty="0"/>
              <a:t>Module Examples</a:t>
            </a:r>
          </a:p>
        </p:txBody>
      </p:sp>
      <p:sp>
        <p:nvSpPr>
          <p:cNvPr id="3" name="Text Placeholder 2">
            <a:extLst>
              <a:ext uri="{FF2B5EF4-FFF2-40B4-BE49-F238E27FC236}">
                <a16:creationId xmlns:a16="http://schemas.microsoft.com/office/drawing/2014/main" id="{186B51E6-5240-7F4E-875C-373DA3707D41}"/>
              </a:ext>
            </a:extLst>
          </p:cNvPr>
          <p:cNvSpPr>
            <a:spLocks noGrp="1"/>
          </p:cNvSpPr>
          <p:nvPr>
            <p:ph type="body" idx="1"/>
          </p:nvPr>
        </p:nvSpPr>
        <p:spPr/>
        <p:txBody>
          <a:bodyPr/>
          <a:lstStyle/>
          <a:p>
            <a:r>
              <a:rPr lang="en-AU" dirty="0">
                <a:latin typeface="American Typewriter" panose="02090604020004020304" pitchFamily="18" charset="77"/>
              </a:rPr>
              <a:t>pillow</a:t>
            </a:r>
            <a:r>
              <a:rPr lang="en-AU" dirty="0"/>
              <a:t> for </a:t>
            </a:r>
            <a:r>
              <a:rPr lang="en-AU" b="1" dirty="0"/>
              <a:t>image manipulation</a:t>
            </a:r>
          </a:p>
          <a:p>
            <a:r>
              <a:rPr lang="en-AU" dirty="0" err="1">
                <a:latin typeface="American Typewriter" panose="02090604020004020304" pitchFamily="18" charset="77"/>
              </a:rPr>
              <a:t>openCV</a:t>
            </a:r>
            <a:r>
              <a:rPr lang="en-AU" dirty="0"/>
              <a:t> for </a:t>
            </a:r>
            <a:r>
              <a:rPr lang="en-AU" b="1" dirty="0"/>
              <a:t>computer vision</a:t>
            </a:r>
          </a:p>
          <a:p>
            <a:r>
              <a:rPr lang="en-AU" dirty="0">
                <a:latin typeface="American Typewriter" panose="02090604020004020304" pitchFamily="18" charset="77"/>
              </a:rPr>
              <a:t>scikit-learn</a:t>
            </a:r>
            <a:r>
              <a:rPr lang="en-AU" dirty="0"/>
              <a:t> for </a:t>
            </a:r>
            <a:r>
              <a:rPr lang="en-AU" b="1" dirty="0"/>
              <a:t>machine learning</a:t>
            </a:r>
          </a:p>
          <a:p>
            <a:r>
              <a:rPr lang="en-AU" dirty="0">
                <a:latin typeface="American Typewriter" panose="02090604020004020304" pitchFamily="18" charset="77"/>
              </a:rPr>
              <a:t>pandas</a:t>
            </a:r>
            <a:r>
              <a:rPr lang="en-AU" dirty="0"/>
              <a:t> for </a:t>
            </a:r>
            <a:r>
              <a:rPr lang="en-AU" b="1" dirty="0"/>
              <a:t>data analysis</a:t>
            </a:r>
          </a:p>
          <a:p>
            <a:r>
              <a:rPr lang="en-AU" dirty="0" err="1">
                <a:latin typeface="American Typewriter" panose="02090604020004020304" pitchFamily="18" charset="77"/>
              </a:rPr>
              <a:t>keras</a:t>
            </a:r>
            <a:r>
              <a:rPr lang="en-AU" dirty="0"/>
              <a:t> for </a:t>
            </a:r>
            <a:r>
              <a:rPr lang="en-AU" b="1" dirty="0"/>
              <a:t>deep learning</a:t>
            </a:r>
          </a:p>
          <a:p>
            <a:r>
              <a:rPr lang="en-AU" dirty="0" err="1">
                <a:latin typeface="American Typewriter" panose="02090604020004020304" pitchFamily="18" charset="77"/>
              </a:rPr>
              <a:t>numpy</a:t>
            </a:r>
            <a:r>
              <a:rPr lang="en-AU" dirty="0"/>
              <a:t> for </a:t>
            </a:r>
            <a:r>
              <a:rPr lang="en-AU" b="1" dirty="0"/>
              <a:t>numerical computations</a:t>
            </a:r>
          </a:p>
          <a:p>
            <a:r>
              <a:rPr lang="en-AU" dirty="0">
                <a:latin typeface="American Typewriter" panose="02090604020004020304" pitchFamily="18" charset="77"/>
              </a:rPr>
              <a:t>matplotlib</a:t>
            </a:r>
            <a:r>
              <a:rPr lang="en-AU" dirty="0"/>
              <a:t> for </a:t>
            </a:r>
            <a:r>
              <a:rPr lang="en-AU" b="1" dirty="0"/>
              <a:t>plotting</a:t>
            </a:r>
          </a:p>
          <a:p>
            <a:r>
              <a:rPr lang="en-AU" b="1" dirty="0"/>
              <a:t>And many, many others!</a:t>
            </a:r>
          </a:p>
        </p:txBody>
      </p:sp>
    </p:spTree>
    <p:extLst>
      <p:ext uri="{BB962C8B-B14F-4D97-AF65-F5344CB8AC3E}">
        <p14:creationId xmlns:p14="http://schemas.microsoft.com/office/powerpoint/2010/main" val="116943435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First import the module</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640080" y="2930524"/>
            <a:ext cx="7360920" cy="996951"/>
          </a:xfrm>
        </p:spPr>
        <p:txBody>
          <a:bodyPr>
            <a:normAutofit/>
          </a:bodyPr>
          <a:lstStyle/>
          <a:p>
            <a:pPr marL="0" indent="0">
              <a:buNone/>
            </a:pPr>
            <a:r>
              <a:rPr lang="en-AU" sz="3600" dirty="0"/>
              <a:t>import  </a:t>
            </a:r>
            <a:r>
              <a:rPr lang="en-AU" sz="3600" dirty="0" err="1"/>
              <a:t>matplotlib.pyplot</a:t>
            </a:r>
            <a:endParaRPr lang="en-AU" sz="3600" dirty="0"/>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A5D81B8-4A7F-AD44-A6C3-0B199CA43AC2}"/>
              </a:ext>
            </a:extLst>
          </p:cNvPr>
          <p:cNvSpPr txBox="1"/>
          <p:nvPr/>
        </p:nvSpPr>
        <p:spPr>
          <a:xfrm>
            <a:off x="3238500" y="16899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8" name="Straight Arrow Connector 7">
            <a:extLst>
              <a:ext uri="{FF2B5EF4-FFF2-40B4-BE49-F238E27FC236}">
                <a16:creationId xmlns:a16="http://schemas.microsoft.com/office/drawing/2014/main" id="{1E4B26AB-00B4-0047-BE9C-A1FED6263489}"/>
              </a:ext>
            </a:extLst>
          </p:cNvPr>
          <p:cNvCxnSpPr>
            <a:cxnSpLocks/>
          </p:cNvCxnSpPr>
          <p:nvPr/>
        </p:nvCxnSpPr>
        <p:spPr>
          <a:xfrm>
            <a:off x="4320540"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07139429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Use the module</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640079" y="2930524"/>
            <a:ext cx="8207375" cy="996951"/>
          </a:xfrm>
        </p:spPr>
        <p:txBody>
          <a:bodyPr>
            <a:noAutofit/>
          </a:bodyPr>
          <a:lstStyle/>
          <a:p>
            <a:pPr marL="0" indent="0">
              <a:buNone/>
            </a:pPr>
            <a:r>
              <a:rPr lang="en-AU" sz="3600" dirty="0"/>
              <a:t>import  </a:t>
            </a:r>
            <a:r>
              <a:rPr lang="en-AU" sz="3600" dirty="0" err="1"/>
              <a:t>matplotlib.pyplot</a:t>
            </a:r>
            <a:endParaRPr lang="en-AU" sz="3600" dirty="0"/>
          </a:p>
          <a:p>
            <a:pPr marL="0" indent="0">
              <a:buNone/>
            </a:pPr>
            <a:r>
              <a:rPr lang="en-AU" sz="3600" dirty="0" err="1"/>
              <a:t>matplotlib.pyplot.plot</a:t>
            </a:r>
            <a:r>
              <a:rPr lang="en-AU" sz="3600" dirty="0"/>
              <a:t>([1,3,5], [1,9,25])</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A5D81B8-4A7F-AD44-A6C3-0B199CA43AC2}"/>
              </a:ext>
            </a:extLst>
          </p:cNvPr>
          <p:cNvSpPr txBox="1"/>
          <p:nvPr/>
        </p:nvSpPr>
        <p:spPr>
          <a:xfrm>
            <a:off x="3238500" y="16899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8" name="Straight Arrow Connector 7">
            <a:extLst>
              <a:ext uri="{FF2B5EF4-FFF2-40B4-BE49-F238E27FC236}">
                <a16:creationId xmlns:a16="http://schemas.microsoft.com/office/drawing/2014/main" id="{1E4B26AB-00B4-0047-BE9C-A1FED6263489}"/>
              </a:ext>
            </a:extLst>
          </p:cNvPr>
          <p:cNvCxnSpPr>
            <a:cxnSpLocks/>
          </p:cNvCxnSpPr>
          <p:nvPr/>
        </p:nvCxnSpPr>
        <p:spPr>
          <a:xfrm>
            <a:off x="4320540"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3D3ACA2D-50C6-8043-B0B6-14AC44AECF3B}"/>
              </a:ext>
            </a:extLst>
          </p:cNvPr>
          <p:cNvSpPr txBox="1"/>
          <p:nvPr/>
        </p:nvSpPr>
        <p:spPr>
          <a:xfrm rot="21338240">
            <a:off x="660362" y="4838999"/>
            <a:ext cx="2968307"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Module</a:t>
            </a: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followed b dot, followed by function</a:t>
            </a:r>
          </a:p>
        </p:txBody>
      </p:sp>
      <p:cxnSp>
        <p:nvCxnSpPr>
          <p:cNvPr id="14" name="Straight Arrow Connector 13">
            <a:extLst>
              <a:ext uri="{FF2B5EF4-FFF2-40B4-BE49-F238E27FC236}">
                <a16:creationId xmlns:a16="http://schemas.microsoft.com/office/drawing/2014/main" id="{0AFB4FEA-F281-A340-BC4F-538E712DE7F4}"/>
              </a:ext>
            </a:extLst>
          </p:cNvPr>
          <p:cNvCxnSpPr>
            <a:cxnSpLocks/>
          </p:cNvCxnSpPr>
          <p:nvPr/>
        </p:nvCxnSpPr>
        <p:spPr>
          <a:xfrm flipH="1" flipV="1">
            <a:off x="2105519" y="4365807"/>
            <a:ext cx="198120" cy="61846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CCE2D1C3-9B7C-4C48-9C81-64AD6C367703}"/>
              </a:ext>
            </a:extLst>
          </p:cNvPr>
          <p:cNvCxnSpPr>
            <a:cxnSpLocks/>
          </p:cNvCxnSpPr>
          <p:nvPr/>
        </p:nvCxnSpPr>
        <p:spPr>
          <a:xfrm flipV="1">
            <a:off x="3436620" y="4173111"/>
            <a:ext cx="883919" cy="81116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61193158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Convenience</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640080" y="2930524"/>
            <a:ext cx="7360920" cy="996951"/>
          </a:xfrm>
        </p:spPr>
        <p:txBody>
          <a:bodyPr>
            <a:normAutofit fontScale="85000" lnSpcReduction="10000"/>
          </a:bodyPr>
          <a:lstStyle/>
          <a:p>
            <a:pPr marL="0" indent="0">
              <a:buNone/>
            </a:pPr>
            <a:r>
              <a:rPr lang="en-AU" sz="4800" dirty="0"/>
              <a:t>import  </a:t>
            </a:r>
            <a:r>
              <a:rPr lang="en-AU" sz="4800" dirty="0" err="1"/>
              <a:t>matplotlib.pyplot</a:t>
            </a:r>
            <a:r>
              <a:rPr lang="en-AU" sz="4800" dirty="0"/>
              <a:t> as </a:t>
            </a:r>
            <a:r>
              <a:rPr lang="en-AU" sz="4800" dirty="0" err="1"/>
              <a:t>plt</a:t>
            </a:r>
            <a:endParaRPr lang="en-AU" sz="4800" dirty="0"/>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A5D81B8-4A7F-AD44-A6C3-0B199CA43AC2}"/>
              </a:ext>
            </a:extLst>
          </p:cNvPr>
          <p:cNvSpPr txBox="1"/>
          <p:nvPr/>
        </p:nvSpPr>
        <p:spPr>
          <a:xfrm>
            <a:off x="3238500" y="16899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8" name="Straight Arrow Connector 7">
            <a:extLst>
              <a:ext uri="{FF2B5EF4-FFF2-40B4-BE49-F238E27FC236}">
                <a16:creationId xmlns:a16="http://schemas.microsoft.com/office/drawing/2014/main" id="{1E4B26AB-00B4-0047-BE9C-A1FED6263489}"/>
              </a:ext>
            </a:extLst>
          </p:cNvPr>
          <p:cNvCxnSpPr>
            <a:cxnSpLocks/>
          </p:cNvCxnSpPr>
          <p:nvPr/>
        </p:nvCxnSpPr>
        <p:spPr>
          <a:xfrm>
            <a:off x="4320540"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8043518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Convenience</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640080" y="2930524"/>
            <a:ext cx="7360920" cy="996951"/>
          </a:xfrm>
        </p:spPr>
        <p:txBody>
          <a:bodyPr>
            <a:normAutofit fontScale="85000" lnSpcReduction="10000"/>
          </a:bodyPr>
          <a:lstStyle/>
          <a:p>
            <a:pPr marL="0" indent="0">
              <a:buNone/>
            </a:pPr>
            <a:r>
              <a:rPr lang="en-AU" sz="4800" dirty="0"/>
              <a:t>import  </a:t>
            </a:r>
            <a:r>
              <a:rPr lang="en-AU" sz="4800" dirty="0" err="1"/>
              <a:t>matplotlib.pyplot</a:t>
            </a:r>
            <a:r>
              <a:rPr lang="en-AU" sz="4800" dirty="0"/>
              <a:t> as </a:t>
            </a:r>
            <a:r>
              <a:rPr lang="en-AU" sz="4800" dirty="0" err="1"/>
              <a:t>plt</a:t>
            </a:r>
            <a:endParaRPr lang="en-AU" sz="4800" dirty="0"/>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A5D81B8-4A7F-AD44-A6C3-0B199CA43AC2}"/>
              </a:ext>
            </a:extLst>
          </p:cNvPr>
          <p:cNvSpPr txBox="1"/>
          <p:nvPr/>
        </p:nvSpPr>
        <p:spPr>
          <a:xfrm>
            <a:off x="3238500" y="16899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8" name="Straight Arrow Connector 7">
            <a:extLst>
              <a:ext uri="{FF2B5EF4-FFF2-40B4-BE49-F238E27FC236}">
                <a16:creationId xmlns:a16="http://schemas.microsoft.com/office/drawing/2014/main" id="{1E4B26AB-00B4-0047-BE9C-A1FED6263489}"/>
              </a:ext>
            </a:extLst>
          </p:cNvPr>
          <p:cNvCxnSpPr>
            <a:cxnSpLocks/>
          </p:cNvCxnSpPr>
          <p:nvPr/>
        </p:nvCxnSpPr>
        <p:spPr>
          <a:xfrm>
            <a:off x="4320540"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15410041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Convenience</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640080" y="2930524"/>
            <a:ext cx="7360920" cy="996951"/>
          </a:xfrm>
        </p:spPr>
        <p:txBody>
          <a:bodyPr>
            <a:normAutofit fontScale="85000" lnSpcReduction="10000"/>
          </a:bodyPr>
          <a:lstStyle/>
          <a:p>
            <a:pPr marL="0" indent="0">
              <a:buNone/>
            </a:pPr>
            <a:r>
              <a:rPr lang="en-AU" sz="4800" dirty="0"/>
              <a:t>import  </a:t>
            </a:r>
            <a:r>
              <a:rPr lang="en-AU" sz="4800" dirty="0" err="1"/>
              <a:t>matplotlib.pyplot</a:t>
            </a:r>
            <a:r>
              <a:rPr lang="en-AU" sz="4800" dirty="0"/>
              <a:t> as </a:t>
            </a:r>
            <a:r>
              <a:rPr lang="en-AU" sz="4800" dirty="0" err="1"/>
              <a:t>plt</a:t>
            </a:r>
            <a:endParaRPr lang="en-AU" sz="4800" dirty="0"/>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A5D81B8-4A7F-AD44-A6C3-0B199CA43AC2}"/>
              </a:ext>
            </a:extLst>
          </p:cNvPr>
          <p:cNvSpPr txBox="1"/>
          <p:nvPr/>
        </p:nvSpPr>
        <p:spPr>
          <a:xfrm>
            <a:off x="3238500" y="16899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8" name="Straight Arrow Connector 7">
            <a:extLst>
              <a:ext uri="{FF2B5EF4-FFF2-40B4-BE49-F238E27FC236}">
                <a16:creationId xmlns:a16="http://schemas.microsoft.com/office/drawing/2014/main" id="{1E4B26AB-00B4-0047-BE9C-A1FED6263489}"/>
              </a:ext>
            </a:extLst>
          </p:cNvPr>
          <p:cNvCxnSpPr>
            <a:cxnSpLocks/>
          </p:cNvCxnSpPr>
          <p:nvPr/>
        </p:nvCxnSpPr>
        <p:spPr>
          <a:xfrm>
            <a:off x="4320540"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20F0A675-B0AE-5045-BC59-5C5ADACBCD94}"/>
              </a:ext>
            </a:extLst>
          </p:cNvPr>
          <p:cNvSpPr txBox="1"/>
          <p:nvPr/>
        </p:nvSpPr>
        <p:spPr>
          <a:xfrm rot="285021">
            <a:off x="5978572" y="1679137"/>
            <a:ext cx="2968307"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‘as’ keyword </a:t>
            </a:r>
            <a:r>
              <a:rPr lang="en-AU" dirty="0">
                <a:latin typeface="Lucida Handwriting" panose="03010101010101010101" pitchFamily="66" charset="77"/>
                <a:cs typeface="Lucida Grande" panose="020B0600040502020204" pitchFamily="34" charset="0"/>
              </a:rPr>
              <a:t>followed by an alias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0" name="Straight Arrow Connector 9">
            <a:extLst>
              <a:ext uri="{FF2B5EF4-FFF2-40B4-BE49-F238E27FC236}">
                <a16:creationId xmlns:a16="http://schemas.microsoft.com/office/drawing/2014/main" id="{A81D7FA0-96AC-F848-8A88-D95F56F4D875}"/>
              </a:ext>
            </a:extLst>
          </p:cNvPr>
          <p:cNvCxnSpPr>
            <a:cxnSpLocks/>
          </p:cNvCxnSpPr>
          <p:nvPr/>
        </p:nvCxnSpPr>
        <p:spPr>
          <a:xfrm>
            <a:off x="6446520" y="2059267"/>
            <a:ext cx="160020" cy="105012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AC6997F5-9D47-4941-871B-3307A82E3A8E}"/>
              </a:ext>
            </a:extLst>
          </p:cNvPr>
          <p:cNvCxnSpPr>
            <a:cxnSpLocks/>
            <a:stCxn id="9" idx="2"/>
          </p:cNvCxnSpPr>
          <p:nvPr/>
        </p:nvCxnSpPr>
        <p:spPr>
          <a:xfrm flipH="1">
            <a:off x="7204323" y="2324354"/>
            <a:ext cx="231640" cy="60617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03834687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Convenience</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640079" y="2930524"/>
            <a:ext cx="8207375" cy="996951"/>
          </a:xfrm>
        </p:spPr>
        <p:txBody>
          <a:bodyPr>
            <a:noAutofit/>
          </a:bodyPr>
          <a:lstStyle/>
          <a:p>
            <a:pPr marL="0" indent="0">
              <a:buNone/>
            </a:pPr>
            <a:r>
              <a:rPr lang="en-AU" sz="4100" dirty="0"/>
              <a:t>import  </a:t>
            </a:r>
            <a:r>
              <a:rPr lang="en-AU" sz="4100" dirty="0" err="1"/>
              <a:t>matplotlib.pyplot</a:t>
            </a:r>
            <a:r>
              <a:rPr lang="en-AU" sz="4100" dirty="0"/>
              <a:t> as </a:t>
            </a:r>
            <a:r>
              <a:rPr lang="en-AU" sz="4100" dirty="0" err="1"/>
              <a:t>plt</a:t>
            </a:r>
            <a:endParaRPr lang="en-AU" sz="4100" dirty="0"/>
          </a:p>
          <a:p>
            <a:pPr marL="0" indent="0">
              <a:buNone/>
            </a:pPr>
            <a:r>
              <a:rPr lang="en-AU" sz="4100" dirty="0" err="1"/>
              <a:t>plt.plot</a:t>
            </a:r>
            <a:r>
              <a:rPr lang="en-AU" sz="4100" dirty="0"/>
              <a:t>([1,3,5], [1,9,25])</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A5D81B8-4A7F-AD44-A6C3-0B199CA43AC2}"/>
              </a:ext>
            </a:extLst>
          </p:cNvPr>
          <p:cNvSpPr txBox="1"/>
          <p:nvPr/>
        </p:nvSpPr>
        <p:spPr>
          <a:xfrm>
            <a:off x="3238500" y="16899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8" name="Straight Arrow Connector 7">
            <a:extLst>
              <a:ext uri="{FF2B5EF4-FFF2-40B4-BE49-F238E27FC236}">
                <a16:creationId xmlns:a16="http://schemas.microsoft.com/office/drawing/2014/main" id="{1E4B26AB-00B4-0047-BE9C-A1FED6263489}"/>
              </a:ext>
            </a:extLst>
          </p:cNvPr>
          <p:cNvCxnSpPr>
            <a:cxnSpLocks/>
          </p:cNvCxnSpPr>
          <p:nvPr/>
        </p:nvCxnSpPr>
        <p:spPr>
          <a:xfrm>
            <a:off x="4320540"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20F0A675-B0AE-5045-BC59-5C5ADACBCD94}"/>
              </a:ext>
            </a:extLst>
          </p:cNvPr>
          <p:cNvSpPr txBox="1"/>
          <p:nvPr/>
        </p:nvSpPr>
        <p:spPr>
          <a:xfrm rot="285021">
            <a:off x="5978572" y="1679137"/>
            <a:ext cx="2968307"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‘as’ keyword </a:t>
            </a:r>
            <a:r>
              <a:rPr lang="en-AU" dirty="0">
                <a:latin typeface="Lucida Handwriting" panose="03010101010101010101" pitchFamily="66" charset="77"/>
                <a:cs typeface="Lucida Grande" panose="020B0600040502020204" pitchFamily="34" charset="0"/>
              </a:rPr>
              <a:t>followed by an alias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0" name="Straight Arrow Connector 9">
            <a:extLst>
              <a:ext uri="{FF2B5EF4-FFF2-40B4-BE49-F238E27FC236}">
                <a16:creationId xmlns:a16="http://schemas.microsoft.com/office/drawing/2014/main" id="{A81D7FA0-96AC-F848-8A88-D95F56F4D875}"/>
              </a:ext>
            </a:extLst>
          </p:cNvPr>
          <p:cNvCxnSpPr>
            <a:cxnSpLocks/>
          </p:cNvCxnSpPr>
          <p:nvPr/>
        </p:nvCxnSpPr>
        <p:spPr>
          <a:xfrm>
            <a:off x="6446520" y="2059267"/>
            <a:ext cx="160020" cy="105012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AC6997F5-9D47-4941-871B-3307A82E3A8E}"/>
              </a:ext>
            </a:extLst>
          </p:cNvPr>
          <p:cNvCxnSpPr>
            <a:cxnSpLocks/>
            <a:stCxn id="9" idx="2"/>
          </p:cNvCxnSpPr>
          <p:nvPr/>
        </p:nvCxnSpPr>
        <p:spPr>
          <a:xfrm flipH="1">
            <a:off x="7204323" y="2324354"/>
            <a:ext cx="231640" cy="60617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3D3ACA2D-50C6-8043-B0B6-14AC44AECF3B}"/>
              </a:ext>
            </a:extLst>
          </p:cNvPr>
          <p:cNvSpPr txBox="1"/>
          <p:nvPr/>
        </p:nvSpPr>
        <p:spPr>
          <a:xfrm rot="21338240">
            <a:off x="660362" y="4977498"/>
            <a:ext cx="2968307"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Alias, followed b dot, followed by function</a:t>
            </a:r>
          </a:p>
        </p:txBody>
      </p:sp>
      <p:cxnSp>
        <p:nvCxnSpPr>
          <p:cNvPr id="14" name="Straight Arrow Connector 13">
            <a:extLst>
              <a:ext uri="{FF2B5EF4-FFF2-40B4-BE49-F238E27FC236}">
                <a16:creationId xmlns:a16="http://schemas.microsoft.com/office/drawing/2014/main" id="{0AFB4FEA-F281-A340-BC4F-538E712DE7F4}"/>
              </a:ext>
            </a:extLst>
          </p:cNvPr>
          <p:cNvCxnSpPr>
            <a:cxnSpLocks/>
          </p:cNvCxnSpPr>
          <p:nvPr/>
        </p:nvCxnSpPr>
        <p:spPr>
          <a:xfrm flipH="1" flipV="1">
            <a:off x="883920" y="4410735"/>
            <a:ext cx="198120" cy="61846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CCE2D1C3-9B7C-4C48-9C81-64AD6C367703}"/>
              </a:ext>
            </a:extLst>
          </p:cNvPr>
          <p:cNvCxnSpPr>
            <a:cxnSpLocks/>
          </p:cNvCxnSpPr>
          <p:nvPr/>
        </p:nvCxnSpPr>
        <p:spPr>
          <a:xfrm flipH="1" flipV="1">
            <a:off x="1885435" y="4328903"/>
            <a:ext cx="198120" cy="61846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20317704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FE4E-7881-884D-9D94-E73A0DB70EFE}"/>
              </a:ext>
            </a:extLst>
          </p:cNvPr>
          <p:cNvSpPr>
            <a:spLocks noGrp="1"/>
          </p:cNvSpPr>
          <p:nvPr>
            <p:ph type="title"/>
          </p:nvPr>
        </p:nvSpPr>
        <p:spPr/>
        <p:txBody>
          <a:bodyPr/>
          <a:lstStyle/>
          <a:p>
            <a:r>
              <a:rPr lang="en-AU" dirty="0"/>
              <a:t>Modules</a:t>
            </a:r>
          </a:p>
        </p:txBody>
      </p:sp>
      <p:sp>
        <p:nvSpPr>
          <p:cNvPr id="3" name="Text Placeholder 2">
            <a:extLst>
              <a:ext uri="{FF2B5EF4-FFF2-40B4-BE49-F238E27FC236}">
                <a16:creationId xmlns:a16="http://schemas.microsoft.com/office/drawing/2014/main" id="{5F2EA95A-5339-5B44-9E41-2848FEF88001}"/>
              </a:ext>
            </a:extLst>
          </p:cNvPr>
          <p:cNvSpPr>
            <a:spLocks noGrp="1"/>
          </p:cNvSpPr>
          <p:nvPr>
            <p:ph type="body" idx="1"/>
          </p:nvPr>
        </p:nvSpPr>
        <p:spPr/>
        <p:txBody>
          <a:bodyPr/>
          <a:lstStyle/>
          <a:p>
            <a:r>
              <a:rPr lang="en-AU" dirty="0" err="1"/>
              <a:t>Builtins</a:t>
            </a:r>
            <a:r>
              <a:rPr lang="en-AU" dirty="0"/>
              <a:t> not enough</a:t>
            </a:r>
          </a:p>
          <a:p>
            <a:r>
              <a:rPr lang="en-AU" dirty="0"/>
              <a:t>Designed &amp; tested by someone else</a:t>
            </a:r>
          </a:p>
          <a:p>
            <a:r>
              <a:rPr lang="en-AU" dirty="0"/>
              <a:t>Contain lots of functions</a:t>
            </a:r>
          </a:p>
          <a:p>
            <a:r>
              <a:rPr lang="en-AU" dirty="0"/>
              <a:t>Use </a:t>
            </a:r>
            <a:r>
              <a:rPr lang="en-AU" i="1" dirty="0"/>
              <a:t>import</a:t>
            </a:r>
            <a:r>
              <a:rPr lang="en-AU" dirty="0"/>
              <a:t> keyword</a:t>
            </a:r>
          </a:p>
          <a:p>
            <a:r>
              <a:rPr lang="en-AU" dirty="0"/>
              <a:t>Use module name as prefix to function name</a:t>
            </a:r>
          </a:p>
          <a:p>
            <a:r>
              <a:rPr lang="en-AU" dirty="0"/>
              <a:t>Can alias module name</a:t>
            </a:r>
          </a:p>
        </p:txBody>
      </p:sp>
    </p:spTree>
    <p:extLst>
      <p:ext uri="{BB962C8B-B14F-4D97-AF65-F5344CB8AC3E}">
        <p14:creationId xmlns:p14="http://schemas.microsoft.com/office/powerpoint/2010/main" val="209722443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7388E-4952-5E43-BE74-6E8D0602DADC}"/>
              </a:ext>
            </a:extLst>
          </p:cNvPr>
          <p:cNvSpPr>
            <a:spLocks noGrp="1"/>
          </p:cNvSpPr>
          <p:nvPr>
            <p:ph type="title"/>
          </p:nvPr>
        </p:nvSpPr>
        <p:spPr/>
        <p:txBody>
          <a:bodyPr/>
          <a:lstStyle/>
          <a:p>
            <a:r>
              <a:rPr lang="en-AU" dirty="0"/>
              <a:t>Define functions</a:t>
            </a:r>
          </a:p>
        </p:txBody>
      </p:sp>
      <p:sp>
        <p:nvSpPr>
          <p:cNvPr id="3" name="Text Placeholder 2">
            <a:extLst>
              <a:ext uri="{FF2B5EF4-FFF2-40B4-BE49-F238E27FC236}">
                <a16:creationId xmlns:a16="http://schemas.microsoft.com/office/drawing/2014/main" id="{2478EC0B-1213-DF45-8465-51D491BAA27F}"/>
              </a:ext>
            </a:extLst>
          </p:cNvPr>
          <p:cNvSpPr>
            <a:spLocks noGrp="1"/>
          </p:cNvSpPr>
          <p:nvPr>
            <p:ph type="body" idx="1"/>
          </p:nvPr>
        </p:nvSpPr>
        <p:spPr/>
        <p:txBody>
          <a:bodyPr/>
          <a:lstStyle/>
          <a:p>
            <a:r>
              <a:rPr lang="en-AU" dirty="0"/>
              <a:t>Header</a:t>
            </a:r>
          </a:p>
          <a:p>
            <a:r>
              <a:rPr lang="en-AU" dirty="0"/>
              <a:t>Body</a:t>
            </a:r>
          </a:p>
        </p:txBody>
      </p:sp>
    </p:spTree>
    <p:extLst>
      <p:ext uri="{BB962C8B-B14F-4D97-AF65-F5344CB8AC3E}">
        <p14:creationId xmlns:p14="http://schemas.microsoft.com/office/powerpoint/2010/main" val="1647481613"/>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spTree>
    <p:extLst>
      <p:ext uri="{BB962C8B-B14F-4D97-AF65-F5344CB8AC3E}">
        <p14:creationId xmlns:p14="http://schemas.microsoft.com/office/powerpoint/2010/main" val="3696232430"/>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grpSp>
        <p:nvGrpSpPr>
          <p:cNvPr id="15" name="Group 14">
            <a:extLst>
              <a:ext uri="{FF2B5EF4-FFF2-40B4-BE49-F238E27FC236}">
                <a16:creationId xmlns:a16="http://schemas.microsoft.com/office/drawing/2014/main" id="{EB0E86DA-84FC-5E43-9838-6A42CD0BE828}"/>
              </a:ext>
            </a:extLst>
          </p:cNvPr>
          <p:cNvGrpSpPr/>
          <p:nvPr/>
        </p:nvGrpSpPr>
        <p:grpSpPr>
          <a:xfrm>
            <a:off x="485668" y="100806"/>
            <a:ext cx="2940184" cy="1458119"/>
            <a:chOff x="485668" y="100806"/>
            <a:chExt cx="2940184" cy="1458119"/>
          </a:xfrm>
        </p:grpSpPr>
        <p:sp>
          <p:nvSpPr>
            <p:cNvPr id="4" name="TextBox 3">
              <a:extLst>
                <a:ext uri="{FF2B5EF4-FFF2-40B4-BE49-F238E27FC236}">
                  <a16:creationId xmlns:a16="http://schemas.microsoft.com/office/drawing/2014/main" id="{D518D090-1992-9F41-8FD3-A83462FD012A}"/>
                </a:ext>
              </a:extLst>
            </p:cNvPr>
            <p:cNvSpPr txBox="1"/>
            <p:nvPr/>
          </p:nvSpPr>
          <p:spPr>
            <a:xfrm rot="21361482">
              <a:off x="485668" y="100806"/>
              <a:ext cx="2940184"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Start with</a:t>
              </a:r>
            </a:p>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def keyword, and a name</a:t>
              </a:r>
            </a:p>
          </p:txBody>
        </p:sp>
        <p:cxnSp>
          <p:nvCxnSpPr>
            <p:cNvPr id="5" name="Straight Arrow Connector 4">
              <a:extLst>
                <a:ext uri="{FF2B5EF4-FFF2-40B4-BE49-F238E27FC236}">
                  <a16:creationId xmlns:a16="http://schemas.microsoft.com/office/drawing/2014/main" id="{6BFB09C5-AAF6-9046-B988-9D0603EA488F}"/>
                </a:ext>
              </a:extLst>
            </p:cNvPr>
            <p:cNvCxnSpPr>
              <a:cxnSpLocks/>
            </p:cNvCxnSpPr>
            <p:nvPr/>
          </p:nvCxnSpPr>
          <p:spPr>
            <a:xfrm flipH="1">
              <a:off x="731521" y="772195"/>
              <a:ext cx="365759"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9EAAC119-0646-FF41-A02B-AFEBA2922433}"/>
                </a:ext>
              </a:extLst>
            </p:cNvPr>
            <p:cNvCxnSpPr>
              <a:cxnSpLocks/>
            </p:cNvCxnSpPr>
            <p:nvPr/>
          </p:nvCxnSpPr>
          <p:spPr>
            <a:xfrm>
              <a:off x="2453640" y="772195"/>
              <a:ext cx="0"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86034282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cxnSp>
        <p:nvCxnSpPr>
          <p:cNvPr id="9" name="Straight Arrow Connector 8">
            <a:extLst>
              <a:ext uri="{FF2B5EF4-FFF2-40B4-BE49-F238E27FC236}">
                <a16:creationId xmlns:a16="http://schemas.microsoft.com/office/drawing/2014/main" id="{9EAAC119-0646-FF41-A02B-AFEBA2922433}"/>
              </a:ext>
            </a:extLst>
          </p:cNvPr>
          <p:cNvCxnSpPr>
            <a:cxnSpLocks/>
          </p:cNvCxnSpPr>
          <p:nvPr/>
        </p:nvCxnSpPr>
        <p:spPr>
          <a:xfrm>
            <a:off x="5349944" y="1101969"/>
            <a:ext cx="827999" cy="50302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418D7B89-D4E8-5841-821B-CE3C9344BD91}"/>
              </a:ext>
            </a:extLst>
          </p:cNvPr>
          <p:cNvSpPr txBox="1"/>
          <p:nvPr/>
        </p:nvSpPr>
        <p:spPr>
          <a:xfrm rot="21422263">
            <a:off x="4267905" y="169410"/>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have zero or more inputs (parameters)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8" name="Straight Arrow Connector 7">
            <a:extLst>
              <a:ext uri="{FF2B5EF4-FFF2-40B4-BE49-F238E27FC236}">
                <a16:creationId xmlns:a16="http://schemas.microsoft.com/office/drawing/2014/main" id="{AA2B0066-44C7-E04B-861C-70354C002E2B}"/>
              </a:ext>
            </a:extLst>
          </p:cNvPr>
          <p:cNvCxnSpPr>
            <a:cxnSpLocks/>
            <a:endCxn id="3" idx="0"/>
          </p:cNvCxnSpPr>
          <p:nvPr/>
        </p:nvCxnSpPr>
        <p:spPr>
          <a:xfrm flipH="1">
            <a:off x="4572000" y="1148038"/>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nvGrpSpPr>
          <p:cNvPr id="10" name="Group 9">
            <a:extLst>
              <a:ext uri="{FF2B5EF4-FFF2-40B4-BE49-F238E27FC236}">
                <a16:creationId xmlns:a16="http://schemas.microsoft.com/office/drawing/2014/main" id="{32923724-12FB-A649-A531-137211EB79D2}"/>
              </a:ext>
            </a:extLst>
          </p:cNvPr>
          <p:cNvGrpSpPr/>
          <p:nvPr/>
        </p:nvGrpSpPr>
        <p:grpSpPr>
          <a:xfrm>
            <a:off x="485668" y="100806"/>
            <a:ext cx="2940184" cy="1458119"/>
            <a:chOff x="485668" y="100806"/>
            <a:chExt cx="2940184" cy="1458119"/>
          </a:xfrm>
        </p:grpSpPr>
        <p:sp>
          <p:nvSpPr>
            <p:cNvPr id="11" name="TextBox 10">
              <a:extLst>
                <a:ext uri="{FF2B5EF4-FFF2-40B4-BE49-F238E27FC236}">
                  <a16:creationId xmlns:a16="http://schemas.microsoft.com/office/drawing/2014/main" id="{B366EA12-917D-D34B-9EA7-97CE28FD201C}"/>
                </a:ext>
              </a:extLst>
            </p:cNvPr>
            <p:cNvSpPr txBox="1"/>
            <p:nvPr/>
          </p:nvSpPr>
          <p:spPr>
            <a:xfrm rot="21361482">
              <a:off x="485668" y="100806"/>
              <a:ext cx="2940184"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Start with</a:t>
              </a:r>
            </a:p>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def keyword, and a name</a:t>
              </a:r>
            </a:p>
          </p:txBody>
        </p:sp>
        <p:cxnSp>
          <p:nvCxnSpPr>
            <p:cNvPr id="12" name="Straight Arrow Connector 11">
              <a:extLst>
                <a:ext uri="{FF2B5EF4-FFF2-40B4-BE49-F238E27FC236}">
                  <a16:creationId xmlns:a16="http://schemas.microsoft.com/office/drawing/2014/main" id="{2C704545-28BE-744E-BC45-8E3A02103CB3}"/>
                </a:ext>
              </a:extLst>
            </p:cNvPr>
            <p:cNvCxnSpPr>
              <a:cxnSpLocks/>
            </p:cNvCxnSpPr>
            <p:nvPr/>
          </p:nvCxnSpPr>
          <p:spPr>
            <a:xfrm flipH="1">
              <a:off x="731521" y="772195"/>
              <a:ext cx="365759"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3" name="Straight Arrow Connector 12">
              <a:extLst>
                <a:ext uri="{FF2B5EF4-FFF2-40B4-BE49-F238E27FC236}">
                  <a16:creationId xmlns:a16="http://schemas.microsoft.com/office/drawing/2014/main" id="{2031DE82-6C4E-5246-A1A3-F957643D6279}"/>
                </a:ext>
              </a:extLst>
            </p:cNvPr>
            <p:cNvCxnSpPr>
              <a:cxnSpLocks/>
            </p:cNvCxnSpPr>
            <p:nvPr/>
          </p:nvCxnSpPr>
          <p:spPr>
            <a:xfrm>
              <a:off x="2453640" y="772195"/>
              <a:ext cx="0"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154968931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cxnSp>
        <p:nvCxnSpPr>
          <p:cNvPr id="9" name="Straight Arrow Connector 8">
            <a:extLst>
              <a:ext uri="{FF2B5EF4-FFF2-40B4-BE49-F238E27FC236}">
                <a16:creationId xmlns:a16="http://schemas.microsoft.com/office/drawing/2014/main" id="{9EAAC119-0646-FF41-A02B-AFEBA2922433}"/>
              </a:ext>
            </a:extLst>
          </p:cNvPr>
          <p:cNvCxnSpPr>
            <a:cxnSpLocks/>
          </p:cNvCxnSpPr>
          <p:nvPr/>
        </p:nvCxnSpPr>
        <p:spPr>
          <a:xfrm>
            <a:off x="5349944" y="1101969"/>
            <a:ext cx="827999" cy="50302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418D7B89-D4E8-5841-821B-CE3C9344BD91}"/>
              </a:ext>
            </a:extLst>
          </p:cNvPr>
          <p:cNvSpPr txBox="1"/>
          <p:nvPr/>
        </p:nvSpPr>
        <p:spPr>
          <a:xfrm rot="21422263">
            <a:off x="4267905" y="169410"/>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have zero or more inputs (parameters)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8" name="Straight Arrow Connector 7">
            <a:extLst>
              <a:ext uri="{FF2B5EF4-FFF2-40B4-BE49-F238E27FC236}">
                <a16:creationId xmlns:a16="http://schemas.microsoft.com/office/drawing/2014/main" id="{AA2B0066-44C7-E04B-861C-70354C002E2B}"/>
              </a:ext>
            </a:extLst>
          </p:cNvPr>
          <p:cNvCxnSpPr>
            <a:cxnSpLocks/>
            <a:endCxn id="3" idx="0"/>
          </p:cNvCxnSpPr>
          <p:nvPr/>
        </p:nvCxnSpPr>
        <p:spPr>
          <a:xfrm flipH="1">
            <a:off x="4572000" y="1148038"/>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DEEF9BF0-0968-8B40-90FF-8B95AB6311E3}"/>
              </a:ext>
            </a:extLst>
          </p:cNvPr>
          <p:cNvSpPr txBox="1"/>
          <p:nvPr/>
        </p:nvSpPr>
        <p:spPr>
          <a:xfrm rot="498180">
            <a:off x="6872926" y="80580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Colon start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1" name="Straight Arrow Connector 10">
            <a:extLst>
              <a:ext uri="{FF2B5EF4-FFF2-40B4-BE49-F238E27FC236}">
                <a16:creationId xmlns:a16="http://schemas.microsoft.com/office/drawing/2014/main" id="{8C021E1E-F731-0740-BC9C-19F844A59540}"/>
              </a:ext>
            </a:extLst>
          </p:cNvPr>
          <p:cNvCxnSpPr>
            <a:cxnSpLocks/>
          </p:cNvCxnSpPr>
          <p:nvPr/>
        </p:nvCxnSpPr>
        <p:spPr>
          <a:xfrm flipH="1">
            <a:off x="6905172" y="1438572"/>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nvGrpSpPr>
          <p:cNvPr id="12" name="Group 11">
            <a:extLst>
              <a:ext uri="{FF2B5EF4-FFF2-40B4-BE49-F238E27FC236}">
                <a16:creationId xmlns:a16="http://schemas.microsoft.com/office/drawing/2014/main" id="{BFB5304D-A392-7C41-813A-9B1EF2D46AEE}"/>
              </a:ext>
            </a:extLst>
          </p:cNvPr>
          <p:cNvGrpSpPr/>
          <p:nvPr/>
        </p:nvGrpSpPr>
        <p:grpSpPr>
          <a:xfrm>
            <a:off x="485668" y="100806"/>
            <a:ext cx="2940184" cy="1458119"/>
            <a:chOff x="485668" y="100806"/>
            <a:chExt cx="2940184" cy="1458119"/>
          </a:xfrm>
        </p:grpSpPr>
        <p:sp>
          <p:nvSpPr>
            <p:cNvPr id="13" name="TextBox 12">
              <a:extLst>
                <a:ext uri="{FF2B5EF4-FFF2-40B4-BE49-F238E27FC236}">
                  <a16:creationId xmlns:a16="http://schemas.microsoft.com/office/drawing/2014/main" id="{E13F54B8-30B7-8448-8118-777AAB52939D}"/>
                </a:ext>
              </a:extLst>
            </p:cNvPr>
            <p:cNvSpPr txBox="1"/>
            <p:nvPr/>
          </p:nvSpPr>
          <p:spPr>
            <a:xfrm rot="21361482">
              <a:off x="485668" y="100806"/>
              <a:ext cx="2940184"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Start with</a:t>
              </a:r>
            </a:p>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def keyword, and a name</a:t>
              </a:r>
            </a:p>
          </p:txBody>
        </p:sp>
        <p:cxnSp>
          <p:nvCxnSpPr>
            <p:cNvPr id="14" name="Straight Arrow Connector 13">
              <a:extLst>
                <a:ext uri="{FF2B5EF4-FFF2-40B4-BE49-F238E27FC236}">
                  <a16:creationId xmlns:a16="http://schemas.microsoft.com/office/drawing/2014/main" id="{AAB8FD0D-DF01-0548-A14D-1BF7EC1130EA}"/>
                </a:ext>
              </a:extLst>
            </p:cNvPr>
            <p:cNvCxnSpPr>
              <a:cxnSpLocks/>
            </p:cNvCxnSpPr>
            <p:nvPr/>
          </p:nvCxnSpPr>
          <p:spPr>
            <a:xfrm flipH="1">
              <a:off x="731521" y="772195"/>
              <a:ext cx="365759"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B35208EC-2FB6-E541-84A0-85A7CEBFA37E}"/>
                </a:ext>
              </a:extLst>
            </p:cNvPr>
            <p:cNvCxnSpPr>
              <a:cxnSpLocks/>
            </p:cNvCxnSpPr>
            <p:nvPr/>
          </p:nvCxnSpPr>
          <p:spPr>
            <a:xfrm>
              <a:off x="2453640" y="772195"/>
              <a:ext cx="0"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25167368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endParaRPr lang="en-AU" sz="3200" b="1" dirty="0"/>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cxnSp>
        <p:nvCxnSpPr>
          <p:cNvPr id="9" name="Straight Arrow Connector 8">
            <a:extLst>
              <a:ext uri="{FF2B5EF4-FFF2-40B4-BE49-F238E27FC236}">
                <a16:creationId xmlns:a16="http://schemas.microsoft.com/office/drawing/2014/main" id="{9EAAC119-0646-FF41-A02B-AFEBA2922433}"/>
              </a:ext>
            </a:extLst>
          </p:cNvPr>
          <p:cNvCxnSpPr>
            <a:cxnSpLocks/>
          </p:cNvCxnSpPr>
          <p:nvPr/>
        </p:nvCxnSpPr>
        <p:spPr>
          <a:xfrm>
            <a:off x="5349944" y="1101969"/>
            <a:ext cx="827999" cy="50302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418D7B89-D4E8-5841-821B-CE3C9344BD91}"/>
              </a:ext>
            </a:extLst>
          </p:cNvPr>
          <p:cNvSpPr txBox="1"/>
          <p:nvPr/>
        </p:nvSpPr>
        <p:spPr>
          <a:xfrm rot="21422263">
            <a:off x="4267905" y="169410"/>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have zero or more inputs (parameters)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8" name="Straight Arrow Connector 7">
            <a:extLst>
              <a:ext uri="{FF2B5EF4-FFF2-40B4-BE49-F238E27FC236}">
                <a16:creationId xmlns:a16="http://schemas.microsoft.com/office/drawing/2014/main" id="{AA2B0066-44C7-E04B-861C-70354C002E2B}"/>
              </a:ext>
            </a:extLst>
          </p:cNvPr>
          <p:cNvCxnSpPr>
            <a:cxnSpLocks/>
            <a:endCxn id="3" idx="0"/>
          </p:cNvCxnSpPr>
          <p:nvPr/>
        </p:nvCxnSpPr>
        <p:spPr>
          <a:xfrm flipH="1">
            <a:off x="4572000" y="1148038"/>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DEEF9BF0-0968-8B40-90FF-8B95AB6311E3}"/>
              </a:ext>
            </a:extLst>
          </p:cNvPr>
          <p:cNvSpPr txBox="1"/>
          <p:nvPr/>
        </p:nvSpPr>
        <p:spPr>
          <a:xfrm rot="498180">
            <a:off x="6872926" y="80580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Colon start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1" name="Straight Arrow Connector 10">
            <a:extLst>
              <a:ext uri="{FF2B5EF4-FFF2-40B4-BE49-F238E27FC236}">
                <a16:creationId xmlns:a16="http://schemas.microsoft.com/office/drawing/2014/main" id="{8C021E1E-F731-0740-BC9C-19F844A59540}"/>
              </a:ext>
            </a:extLst>
          </p:cNvPr>
          <p:cNvCxnSpPr>
            <a:cxnSpLocks/>
          </p:cNvCxnSpPr>
          <p:nvPr/>
        </p:nvCxnSpPr>
        <p:spPr>
          <a:xfrm flipH="1">
            <a:off x="6905172" y="1438572"/>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nvGrpSpPr>
          <p:cNvPr id="13" name="Group 12">
            <a:extLst>
              <a:ext uri="{FF2B5EF4-FFF2-40B4-BE49-F238E27FC236}">
                <a16:creationId xmlns:a16="http://schemas.microsoft.com/office/drawing/2014/main" id="{D02670AD-E5F9-4242-9EB6-D5EDAA9B08C1}"/>
              </a:ext>
            </a:extLst>
          </p:cNvPr>
          <p:cNvGrpSpPr/>
          <p:nvPr/>
        </p:nvGrpSpPr>
        <p:grpSpPr>
          <a:xfrm>
            <a:off x="485668" y="100806"/>
            <a:ext cx="2940184" cy="1458119"/>
            <a:chOff x="485668" y="100806"/>
            <a:chExt cx="2940184" cy="1458119"/>
          </a:xfrm>
        </p:grpSpPr>
        <p:sp>
          <p:nvSpPr>
            <p:cNvPr id="14" name="TextBox 13">
              <a:extLst>
                <a:ext uri="{FF2B5EF4-FFF2-40B4-BE49-F238E27FC236}">
                  <a16:creationId xmlns:a16="http://schemas.microsoft.com/office/drawing/2014/main" id="{588CA76E-3FF2-814A-B0AD-F810AFB75766}"/>
                </a:ext>
              </a:extLst>
            </p:cNvPr>
            <p:cNvSpPr txBox="1"/>
            <p:nvPr/>
          </p:nvSpPr>
          <p:spPr>
            <a:xfrm rot="21361482">
              <a:off x="485668" y="100806"/>
              <a:ext cx="2940184"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Start with</a:t>
              </a:r>
            </a:p>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def keyword, and a name</a:t>
              </a:r>
            </a:p>
          </p:txBody>
        </p:sp>
        <p:cxnSp>
          <p:nvCxnSpPr>
            <p:cNvPr id="15" name="Straight Arrow Connector 14">
              <a:extLst>
                <a:ext uri="{FF2B5EF4-FFF2-40B4-BE49-F238E27FC236}">
                  <a16:creationId xmlns:a16="http://schemas.microsoft.com/office/drawing/2014/main" id="{874C56FE-B198-6842-9AD4-3C81BB422985}"/>
                </a:ext>
              </a:extLst>
            </p:cNvPr>
            <p:cNvCxnSpPr>
              <a:cxnSpLocks/>
            </p:cNvCxnSpPr>
            <p:nvPr/>
          </p:nvCxnSpPr>
          <p:spPr>
            <a:xfrm flipH="1">
              <a:off x="731521" y="772195"/>
              <a:ext cx="365759"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061ABB9A-A461-C14D-B221-731725F101D8}"/>
                </a:ext>
              </a:extLst>
            </p:cNvPr>
            <p:cNvCxnSpPr>
              <a:cxnSpLocks/>
            </p:cNvCxnSpPr>
            <p:nvPr/>
          </p:nvCxnSpPr>
          <p:spPr>
            <a:xfrm>
              <a:off x="2453640" y="772195"/>
              <a:ext cx="0"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
        <p:nvSpPr>
          <p:cNvPr id="4" name="TextBox 3">
            <a:extLst>
              <a:ext uri="{FF2B5EF4-FFF2-40B4-BE49-F238E27FC236}">
                <a16:creationId xmlns:a16="http://schemas.microsoft.com/office/drawing/2014/main" id="{27CA5A29-88A4-240D-73F2-4CEFE4AC0100}"/>
              </a:ext>
            </a:extLst>
          </p:cNvPr>
          <p:cNvSpPr txBox="1"/>
          <p:nvPr/>
        </p:nvSpPr>
        <p:spPr>
          <a:xfrm>
            <a:off x="6632330" y="1219398"/>
            <a:ext cx="348809" cy="101565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6000" b="1" i="0" u="none" strike="noStrike" cap="none" spc="0" normalizeH="0" baseline="0" dirty="0">
                <a:ln>
                  <a:noFill/>
                </a:ln>
                <a:solidFill>
                  <a:srgbClr val="333333"/>
                </a:solidFill>
                <a:effectLst/>
                <a:uFillTx/>
                <a:latin typeface="+mn-lt"/>
                <a:ea typeface="+mn-ea"/>
                <a:cs typeface="+mn-cs"/>
                <a:sym typeface="Helvetica"/>
              </a:rPr>
              <a:t>:</a:t>
            </a:r>
          </a:p>
        </p:txBody>
      </p:sp>
    </p:spTree>
    <p:extLst>
      <p:ext uri="{BB962C8B-B14F-4D97-AF65-F5344CB8AC3E}">
        <p14:creationId xmlns:p14="http://schemas.microsoft.com/office/powerpoint/2010/main" val="178511579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cxnSp>
        <p:nvCxnSpPr>
          <p:cNvPr id="9" name="Straight Arrow Connector 8">
            <a:extLst>
              <a:ext uri="{FF2B5EF4-FFF2-40B4-BE49-F238E27FC236}">
                <a16:creationId xmlns:a16="http://schemas.microsoft.com/office/drawing/2014/main" id="{9EAAC119-0646-FF41-A02B-AFEBA2922433}"/>
              </a:ext>
            </a:extLst>
          </p:cNvPr>
          <p:cNvCxnSpPr>
            <a:cxnSpLocks/>
          </p:cNvCxnSpPr>
          <p:nvPr/>
        </p:nvCxnSpPr>
        <p:spPr>
          <a:xfrm>
            <a:off x="5349944" y="1101969"/>
            <a:ext cx="827999" cy="50302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418D7B89-D4E8-5841-821B-CE3C9344BD91}"/>
              </a:ext>
            </a:extLst>
          </p:cNvPr>
          <p:cNvSpPr txBox="1"/>
          <p:nvPr/>
        </p:nvSpPr>
        <p:spPr>
          <a:xfrm rot="21422263">
            <a:off x="4267905" y="169410"/>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have zero or more inputs (parameters)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8" name="Straight Arrow Connector 7">
            <a:extLst>
              <a:ext uri="{FF2B5EF4-FFF2-40B4-BE49-F238E27FC236}">
                <a16:creationId xmlns:a16="http://schemas.microsoft.com/office/drawing/2014/main" id="{AA2B0066-44C7-E04B-861C-70354C002E2B}"/>
              </a:ext>
            </a:extLst>
          </p:cNvPr>
          <p:cNvCxnSpPr>
            <a:cxnSpLocks/>
            <a:endCxn id="3" idx="0"/>
          </p:cNvCxnSpPr>
          <p:nvPr/>
        </p:nvCxnSpPr>
        <p:spPr>
          <a:xfrm flipH="1">
            <a:off x="4572000" y="1148038"/>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DEEF9BF0-0968-8B40-90FF-8B95AB6311E3}"/>
              </a:ext>
            </a:extLst>
          </p:cNvPr>
          <p:cNvSpPr txBox="1"/>
          <p:nvPr/>
        </p:nvSpPr>
        <p:spPr>
          <a:xfrm rot="498180">
            <a:off x="6872926" y="80580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Colon start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1" name="Straight Arrow Connector 10">
            <a:extLst>
              <a:ext uri="{FF2B5EF4-FFF2-40B4-BE49-F238E27FC236}">
                <a16:creationId xmlns:a16="http://schemas.microsoft.com/office/drawing/2014/main" id="{8C021E1E-F731-0740-BC9C-19F844A59540}"/>
              </a:ext>
            </a:extLst>
          </p:cNvPr>
          <p:cNvCxnSpPr>
            <a:cxnSpLocks/>
          </p:cNvCxnSpPr>
          <p:nvPr/>
        </p:nvCxnSpPr>
        <p:spPr>
          <a:xfrm flipH="1">
            <a:off x="6905172" y="1438572"/>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2" name="Right Brace 1">
            <a:extLst>
              <a:ext uri="{FF2B5EF4-FFF2-40B4-BE49-F238E27FC236}">
                <a16:creationId xmlns:a16="http://schemas.microsoft.com/office/drawing/2014/main" id="{8F3E37BB-C84A-9B47-9078-DDDA06BDB67A}"/>
              </a:ext>
            </a:extLst>
          </p:cNvPr>
          <p:cNvSpPr/>
          <p:nvPr/>
        </p:nvSpPr>
        <p:spPr>
          <a:xfrm>
            <a:off x="8483326" y="2015882"/>
            <a:ext cx="396240" cy="3352800"/>
          </a:xfrm>
          <a:prstGeom prst="rightBrace">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endParaRPr>
          </a:p>
        </p:txBody>
      </p:sp>
      <p:sp>
        <p:nvSpPr>
          <p:cNvPr id="12" name="TextBox 11">
            <a:extLst>
              <a:ext uri="{FF2B5EF4-FFF2-40B4-BE49-F238E27FC236}">
                <a16:creationId xmlns:a16="http://schemas.microsoft.com/office/drawing/2014/main" id="{5CAECE59-0680-0746-9037-4ED001F3E39F}"/>
              </a:ext>
            </a:extLst>
          </p:cNvPr>
          <p:cNvSpPr txBox="1"/>
          <p:nvPr/>
        </p:nvSpPr>
        <p:spPr>
          <a:xfrm rot="21334838">
            <a:off x="6476104" y="5093328"/>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Here is the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grpSp>
        <p:nvGrpSpPr>
          <p:cNvPr id="13" name="Group 12">
            <a:extLst>
              <a:ext uri="{FF2B5EF4-FFF2-40B4-BE49-F238E27FC236}">
                <a16:creationId xmlns:a16="http://schemas.microsoft.com/office/drawing/2014/main" id="{D02670AD-E5F9-4242-9EB6-D5EDAA9B08C1}"/>
              </a:ext>
            </a:extLst>
          </p:cNvPr>
          <p:cNvGrpSpPr/>
          <p:nvPr/>
        </p:nvGrpSpPr>
        <p:grpSpPr>
          <a:xfrm>
            <a:off x="485668" y="100806"/>
            <a:ext cx="2940184" cy="1458119"/>
            <a:chOff x="485668" y="100806"/>
            <a:chExt cx="2940184" cy="1458119"/>
          </a:xfrm>
        </p:grpSpPr>
        <p:sp>
          <p:nvSpPr>
            <p:cNvPr id="14" name="TextBox 13">
              <a:extLst>
                <a:ext uri="{FF2B5EF4-FFF2-40B4-BE49-F238E27FC236}">
                  <a16:creationId xmlns:a16="http://schemas.microsoft.com/office/drawing/2014/main" id="{588CA76E-3FF2-814A-B0AD-F810AFB75766}"/>
                </a:ext>
              </a:extLst>
            </p:cNvPr>
            <p:cNvSpPr txBox="1"/>
            <p:nvPr/>
          </p:nvSpPr>
          <p:spPr>
            <a:xfrm rot="21361482">
              <a:off x="485668" y="100806"/>
              <a:ext cx="2940184"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Start with</a:t>
              </a:r>
            </a:p>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def keyword, and a name</a:t>
              </a:r>
            </a:p>
          </p:txBody>
        </p:sp>
        <p:cxnSp>
          <p:nvCxnSpPr>
            <p:cNvPr id="15" name="Straight Arrow Connector 14">
              <a:extLst>
                <a:ext uri="{FF2B5EF4-FFF2-40B4-BE49-F238E27FC236}">
                  <a16:creationId xmlns:a16="http://schemas.microsoft.com/office/drawing/2014/main" id="{874C56FE-B198-6842-9AD4-3C81BB422985}"/>
                </a:ext>
              </a:extLst>
            </p:cNvPr>
            <p:cNvCxnSpPr>
              <a:cxnSpLocks/>
            </p:cNvCxnSpPr>
            <p:nvPr/>
          </p:nvCxnSpPr>
          <p:spPr>
            <a:xfrm flipH="1">
              <a:off x="731521" y="772195"/>
              <a:ext cx="365759"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061ABB9A-A461-C14D-B221-731725F101D8}"/>
                </a:ext>
              </a:extLst>
            </p:cNvPr>
            <p:cNvCxnSpPr>
              <a:cxnSpLocks/>
            </p:cNvCxnSpPr>
            <p:nvPr/>
          </p:nvCxnSpPr>
          <p:spPr>
            <a:xfrm>
              <a:off x="2453640" y="772195"/>
              <a:ext cx="0"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310098587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cxnSp>
        <p:nvCxnSpPr>
          <p:cNvPr id="9" name="Straight Arrow Connector 8">
            <a:extLst>
              <a:ext uri="{FF2B5EF4-FFF2-40B4-BE49-F238E27FC236}">
                <a16:creationId xmlns:a16="http://schemas.microsoft.com/office/drawing/2014/main" id="{9EAAC119-0646-FF41-A02B-AFEBA2922433}"/>
              </a:ext>
            </a:extLst>
          </p:cNvPr>
          <p:cNvCxnSpPr>
            <a:cxnSpLocks/>
          </p:cNvCxnSpPr>
          <p:nvPr/>
        </p:nvCxnSpPr>
        <p:spPr>
          <a:xfrm>
            <a:off x="5349944" y="1101969"/>
            <a:ext cx="827999" cy="50302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418D7B89-D4E8-5841-821B-CE3C9344BD91}"/>
              </a:ext>
            </a:extLst>
          </p:cNvPr>
          <p:cNvSpPr txBox="1"/>
          <p:nvPr/>
        </p:nvSpPr>
        <p:spPr>
          <a:xfrm rot="21422263">
            <a:off x="4267905" y="169410"/>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have zero or more inputs (parameters)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8" name="Straight Arrow Connector 7">
            <a:extLst>
              <a:ext uri="{FF2B5EF4-FFF2-40B4-BE49-F238E27FC236}">
                <a16:creationId xmlns:a16="http://schemas.microsoft.com/office/drawing/2014/main" id="{AA2B0066-44C7-E04B-861C-70354C002E2B}"/>
              </a:ext>
            </a:extLst>
          </p:cNvPr>
          <p:cNvCxnSpPr>
            <a:cxnSpLocks/>
            <a:endCxn id="3" idx="0"/>
          </p:cNvCxnSpPr>
          <p:nvPr/>
        </p:nvCxnSpPr>
        <p:spPr>
          <a:xfrm flipH="1">
            <a:off x="4572000" y="1148038"/>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DEEF9BF0-0968-8B40-90FF-8B95AB6311E3}"/>
              </a:ext>
            </a:extLst>
          </p:cNvPr>
          <p:cNvSpPr txBox="1"/>
          <p:nvPr/>
        </p:nvSpPr>
        <p:spPr>
          <a:xfrm rot="498180">
            <a:off x="6872926" y="80580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Colon start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1" name="Straight Arrow Connector 10">
            <a:extLst>
              <a:ext uri="{FF2B5EF4-FFF2-40B4-BE49-F238E27FC236}">
                <a16:creationId xmlns:a16="http://schemas.microsoft.com/office/drawing/2014/main" id="{8C021E1E-F731-0740-BC9C-19F844A59540}"/>
              </a:ext>
            </a:extLst>
          </p:cNvPr>
          <p:cNvCxnSpPr>
            <a:cxnSpLocks/>
          </p:cNvCxnSpPr>
          <p:nvPr/>
        </p:nvCxnSpPr>
        <p:spPr>
          <a:xfrm flipH="1">
            <a:off x="6905172" y="1438572"/>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2" name="Right Brace 1">
            <a:extLst>
              <a:ext uri="{FF2B5EF4-FFF2-40B4-BE49-F238E27FC236}">
                <a16:creationId xmlns:a16="http://schemas.microsoft.com/office/drawing/2014/main" id="{8F3E37BB-C84A-9B47-9078-DDDA06BDB67A}"/>
              </a:ext>
            </a:extLst>
          </p:cNvPr>
          <p:cNvSpPr/>
          <p:nvPr/>
        </p:nvSpPr>
        <p:spPr>
          <a:xfrm>
            <a:off x="8483326" y="2015882"/>
            <a:ext cx="396240" cy="3352800"/>
          </a:xfrm>
          <a:prstGeom prst="rightBrace">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endParaRPr>
          </a:p>
        </p:txBody>
      </p:sp>
      <p:sp>
        <p:nvSpPr>
          <p:cNvPr id="12" name="TextBox 11">
            <a:extLst>
              <a:ext uri="{FF2B5EF4-FFF2-40B4-BE49-F238E27FC236}">
                <a16:creationId xmlns:a16="http://schemas.microsoft.com/office/drawing/2014/main" id="{5CAECE59-0680-0746-9037-4ED001F3E39F}"/>
              </a:ext>
            </a:extLst>
          </p:cNvPr>
          <p:cNvSpPr txBox="1"/>
          <p:nvPr/>
        </p:nvSpPr>
        <p:spPr>
          <a:xfrm rot="21334838">
            <a:off x="6476104" y="5093328"/>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Here is the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sp>
        <p:nvSpPr>
          <p:cNvPr id="13" name="Rectangle 12">
            <a:extLst>
              <a:ext uri="{FF2B5EF4-FFF2-40B4-BE49-F238E27FC236}">
                <a16:creationId xmlns:a16="http://schemas.microsoft.com/office/drawing/2014/main" id="{E106000C-5031-2640-AA79-E7BDFDCC3BED}"/>
              </a:ext>
            </a:extLst>
          </p:cNvPr>
          <p:cNvSpPr/>
          <p:nvPr/>
        </p:nvSpPr>
        <p:spPr>
          <a:xfrm>
            <a:off x="457200" y="2117164"/>
            <a:ext cx="838200" cy="3150235"/>
          </a:xfrm>
          <a:prstGeom prst="rect">
            <a:avLst/>
          </a:prstGeom>
          <a:solidFill>
            <a:srgbClr val="FFFFFF"/>
          </a:solid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4" name="TextBox 13">
            <a:extLst>
              <a:ext uri="{FF2B5EF4-FFF2-40B4-BE49-F238E27FC236}">
                <a16:creationId xmlns:a16="http://schemas.microsoft.com/office/drawing/2014/main" id="{FCC0DAD6-C1DC-184D-99CD-2ADFB36A22E1}"/>
              </a:ext>
            </a:extLst>
          </p:cNvPr>
          <p:cNvSpPr txBox="1"/>
          <p:nvPr/>
        </p:nvSpPr>
        <p:spPr>
          <a:xfrm rot="21334838">
            <a:off x="166323" y="5428217"/>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Block of code is indented</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grpSp>
        <p:nvGrpSpPr>
          <p:cNvPr id="15" name="Group 14">
            <a:extLst>
              <a:ext uri="{FF2B5EF4-FFF2-40B4-BE49-F238E27FC236}">
                <a16:creationId xmlns:a16="http://schemas.microsoft.com/office/drawing/2014/main" id="{70B3D0D7-1DA0-EA47-99A3-3741552CC165}"/>
              </a:ext>
            </a:extLst>
          </p:cNvPr>
          <p:cNvGrpSpPr/>
          <p:nvPr/>
        </p:nvGrpSpPr>
        <p:grpSpPr>
          <a:xfrm>
            <a:off x="485668" y="100806"/>
            <a:ext cx="2940184" cy="1458119"/>
            <a:chOff x="485668" y="100806"/>
            <a:chExt cx="2940184" cy="1458119"/>
          </a:xfrm>
        </p:grpSpPr>
        <p:sp>
          <p:nvSpPr>
            <p:cNvPr id="16" name="TextBox 15">
              <a:extLst>
                <a:ext uri="{FF2B5EF4-FFF2-40B4-BE49-F238E27FC236}">
                  <a16:creationId xmlns:a16="http://schemas.microsoft.com/office/drawing/2014/main" id="{413D226B-D3C5-B74C-AB92-AAA3FFAF1306}"/>
                </a:ext>
              </a:extLst>
            </p:cNvPr>
            <p:cNvSpPr txBox="1"/>
            <p:nvPr/>
          </p:nvSpPr>
          <p:spPr>
            <a:xfrm rot="21361482">
              <a:off x="485668" y="100806"/>
              <a:ext cx="2940184"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Start with</a:t>
              </a:r>
            </a:p>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def keyword, and a name</a:t>
              </a:r>
            </a:p>
          </p:txBody>
        </p:sp>
        <p:cxnSp>
          <p:nvCxnSpPr>
            <p:cNvPr id="17" name="Straight Arrow Connector 16">
              <a:extLst>
                <a:ext uri="{FF2B5EF4-FFF2-40B4-BE49-F238E27FC236}">
                  <a16:creationId xmlns:a16="http://schemas.microsoft.com/office/drawing/2014/main" id="{7C5212C7-63D3-BF4B-BBA0-665CF0BE68D1}"/>
                </a:ext>
              </a:extLst>
            </p:cNvPr>
            <p:cNvCxnSpPr>
              <a:cxnSpLocks/>
            </p:cNvCxnSpPr>
            <p:nvPr/>
          </p:nvCxnSpPr>
          <p:spPr>
            <a:xfrm flipH="1">
              <a:off x="731521" y="772195"/>
              <a:ext cx="365759"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8" name="Straight Arrow Connector 17">
              <a:extLst>
                <a:ext uri="{FF2B5EF4-FFF2-40B4-BE49-F238E27FC236}">
                  <a16:creationId xmlns:a16="http://schemas.microsoft.com/office/drawing/2014/main" id="{CE42A0F1-868D-5742-ABBC-EC272907EA2A}"/>
                </a:ext>
              </a:extLst>
            </p:cNvPr>
            <p:cNvCxnSpPr>
              <a:cxnSpLocks/>
            </p:cNvCxnSpPr>
            <p:nvPr/>
          </p:nvCxnSpPr>
          <p:spPr>
            <a:xfrm>
              <a:off x="2453640" y="772195"/>
              <a:ext cx="0"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1794469320"/>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cxnSp>
        <p:nvCxnSpPr>
          <p:cNvPr id="9" name="Straight Arrow Connector 8">
            <a:extLst>
              <a:ext uri="{FF2B5EF4-FFF2-40B4-BE49-F238E27FC236}">
                <a16:creationId xmlns:a16="http://schemas.microsoft.com/office/drawing/2014/main" id="{9EAAC119-0646-FF41-A02B-AFEBA2922433}"/>
              </a:ext>
            </a:extLst>
          </p:cNvPr>
          <p:cNvCxnSpPr>
            <a:cxnSpLocks/>
          </p:cNvCxnSpPr>
          <p:nvPr/>
        </p:nvCxnSpPr>
        <p:spPr>
          <a:xfrm>
            <a:off x="5349944" y="1101969"/>
            <a:ext cx="827999" cy="50302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418D7B89-D4E8-5841-821B-CE3C9344BD91}"/>
              </a:ext>
            </a:extLst>
          </p:cNvPr>
          <p:cNvSpPr txBox="1"/>
          <p:nvPr/>
        </p:nvSpPr>
        <p:spPr>
          <a:xfrm rot="21422263">
            <a:off x="4267905" y="169410"/>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We have zero or more inputs (parameters)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8" name="Straight Arrow Connector 7">
            <a:extLst>
              <a:ext uri="{FF2B5EF4-FFF2-40B4-BE49-F238E27FC236}">
                <a16:creationId xmlns:a16="http://schemas.microsoft.com/office/drawing/2014/main" id="{AA2B0066-44C7-E04B-861C-70354C002E2B}"/>
              </a:ext>
            </a:extLst>
          </p:cNvPr>
          <p:cNvCxnSpPr>
            <a:cxnSpLocks/>
            <a:endCxn id="3" idx="0"/>
          </p:cNvCxnSpPr>
          <p:nvPr/>
        </p:nvCxnSpPr>
        <p:spPr>
          <a:xfrm flipH="1">
            <a:off x="4572000" y="1148038"/>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DEEF9BF0-0968-8B40-90FF-8B95AB6311E3}"/>
              </a:ext>
            </a:extLst>
          </p:cNvPr>
          <p:cNvSpPr txBox="1"/>
          <p:nvPr/>
        </p:nvSpPr>
        <p:spPr>
          <a:xfrm rot="498180">
            <a:off x="6872926" y="80580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Colon start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1" name="Straight Arrow Connector 10">
            <a:extLst>
              <a:ext uri="{FF2B5EF4-FFF2-40B4-BE49-F238E27FC236}">
                <a16:creationId xmlns:a16="http://schemas.microsoft.com/office/drawing/2014/main" id="{8C021E1E-F731-0740-BC9C-19F844A59540}"/>
              </a:ext>
            </a:extLst>
          </p:cNvPr>
          <p:cNvCxnSpPr>
            <a:cxnSpLocks/>
          </p:cNvCxnSpPr>
          <p:nvPr/>
        </p:nvCxnSpPr>
        <p:spPr>
          <a:xfrm flipH="1">
            <a:off x="6905172" y="1438572"/>
            <a:ext cx="501490" cy="41088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2" name="Right Brace 1">
            <a:extLst>
              <a:ext uri="{FF2B5EF4-FFF2-40B4-BE49-F238E27FC236}">
                <a16:creationId xmlns:a16="http://schemas.microsoft.com/office/drawing/2014/main" id="{8F3E37BB-C84A-9B47-9078-DDDA06BDB67A}"/>
              </a:ext>
            </a:extLst>
          </p:cNvPr>
          <p:cNvSpPr/>
          <p:nvPr/>
        </p:nvSpPr>
        <p:spPr>
          <a:xfrm>
            <a:off x="8483326" y="2015882"/>
            <a:ext cx="396240" cy="3352800"/>
          </a:xfrm>
          <a:prstGeom prst="rightBrace">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endParaRPr>
          </a:p>
        </p:txBody>
      </p:sp>
      <p:sp>
        <p:nvSpPr>
          <p:cNvPr id="12" name="TextBox 11">
            <a:extLst>
              <a:ext uri="{FF2B5EF4-FFF2-40B4-BE49-F238E27FC236}">
                <a16:creationId xmlns:a16="http://schemas.microsoft.com/office/drawing/2014/main" id="{5CAECE59-0680-0746-9037-4ED001F3E39F}"/>
              </a:ext>
            </a:extLst>
          </p:cNvPr>
          <p:cNvSpPr txBox="1"/>
          <p:nvPr/>
        </p:nvSpPr>
        <p:spPr>
          <a:xfrm rot="21334838">
            <a:off x="6476104" y="5093328"/>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Here is the block of code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sp>
        <p:nvSpPr>
          <p:cNvPr id="13" name="Rectangle 12">
            <a:extLst>
              <a:ext uri="{FF2B5EF4-FFF2-40B4-BE49-F238E27FC236}">
                <a16:creationId xmlns:a16="http://schemas.microsoft.com/office/drawing/2014/main" id="{E106000C-5031-2640-AA79-E7BDFDCC3BED}"/>
              </a:ext>
            </a:extLst>
          </p:cNvPr>
          <p:cNvSpPr/>
          <p:nvPr/>
        </p:nvSpPr>
        <p:spPr>
          <a:xfrm>
            <a:off x="457200" y="2117164"/>
            <a:ext cx="838200" cy="3150235"/>
          </a:xfrm>
          <a:prstGeom prst="rect">
            <a:avLst/>
          </a:prstGeom>
          <a:solidFill>
            <a:srgbClr val="FFFFFF"/>
          </a:solid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4" name="TextBox 13">
            <a:extLst>
              <a:ext uri="{FF2B5EF4-FFF2-40B4-BE49-F238E27FC236}">
                <a16:creationId xmlns:a16="http://schemas.microsoft.com/office/drawing/2014/main" id="{FCC0DAD6-C1DC-184D-99CD-2ADFB36A22E1}"/>
              </a:ext>
            </a:extLst>
          </p:cNvPr>
          <p:cNvSpPr txBox="1"/>
          <p:nvPr/>
        </p:nvSpPr>
        <p:spPr>
          <a:xfrm rot="21334838">
            <a:off x="166323" y="5428217"/>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Block of code is indented</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grpSp>
        <p:nvGrpSpPr>
          <p:cNvPr id="15" name="Group 14">
            <a:extLst>
              <a:ext uri="{FF2B5EF4-FFF2-40B4-BE49-F238E27FC236}">
                <a16:creationId xmlns:a16="http://schemas.microsoft.com/office/drawing/2014/main" id="{70B3D0D7-1DA0-EA47-99A3-3741552CC165}"/>
              </a:ext>
            </a:extLst>
          </p:cNvPr>
          <p:cNvGrpSpPr/>
          <p:nvPr/>
        </p:nvGrpSpPr>
        <p:grpSpPr>
          <a:xfrm>
            <a:off x="485668" y="100806"/>
            <a:ext cx="2940184" cy="1458119"/>
            <a:chOff x="485668" y="100806"/>
            <a:chExt cx="2940184" cy="1458119"/>
          </a:xfrm>
        </p:grpSpPr>
        <p:sp>
          <p:nvSpPr>
            <p:cNvPr id="16" name="TextBox 15">
              <a:extLst>
                <a:ext uri="{FF2B5EF4-FFF2-40B4-BE49-F238E27FC236}">
                  <a16:creationId xmlns:a16="http://schemas.microsoft.com/office/drawing/2014/main" id="{413D226B-D3C5-B74C-AB92-AAA3FFAF1306}"/>
                </a:ext>
              </a:extLst>
            </p:cNvPr>
            <p:cNvSpPr txBox="1"/>
            <p:nvPr/>
          </p:nvSpPr>
          <p:spPr>
            <a:xfrm rot="21361482">
              <a:off x="485668" y="100806"/>
              <a:ext cx="2940184"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Start with</a:t>
              </a:r>
            </a:p>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def keyword, and a name</a:t>
              </a:r>
            </a:p>
          </p:txBody>
        </p:sp>
        <p:cxnSp>
          <p:nvCxnSpPr>
            <p:cNvPr id="17" name="Straight Arrow Connector 16">
              <a:extLst>
                <a:ext uri="{FF2B5EF4-FFF2-40B4-BE49-F238E27FC236}">
                  <a16:creationId xmlns:a16="http://schemas.microsoft.com/office/drawing/2014/main" id="{7C5212C7-63D3-BF4B-BBA0-665CF0BE68D1}"/>
                </a:ext>
              </a:extLst>
            </p:cNvPr>
            <p:cNvCxnSpPr>
              <a:cxnSpLocks/>
            </p:cNvCxnSpPr>
            <p:nvPr/>
          </p:nvCxnSpPr>
          <p:spPr>
            <a:xfrm flipH="1">
              <a:off x="731521" y="772195"/>
              <a:ext cx="365759"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8" name="Straight Arrow Connector 17">
              <a:extLst>
                <a:ext uri="{FF2B5EF4-FFF2-40B4-BE49-F238E27FC236}">
                  <a16:creationId xmlns:a16="http://schemas.microsoft.com/office/drawing/2014/main" id="{CE42A0F1-868D-5742-ABBC-EC272907EA2A}"/>
                </a:ext>
              </a:extLst>
            </p:cNvPr>
            <p:cNvCxnSpPr>
              <a:cxnSpLocks/>
            </p:cNvCxnSpPr>
            <p:nvPr/>
          </p:nvCxnSpPr>
          <p:spPr>
            <a:xfrm>
              <a:off x="2453640" y="772195"/>
              <a:ext cx="0" cy="7867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
        <p:nvSpPr>
          <p:cNvPr id="19" name="TextBox 18">
            <a:extLst>
              <a:ext uri="{FF2B5EF4-FFF2-40B4-BE49-F238E27FC236}">
                <a16:creationId xmlns:a16="http://schemas.microsoft.com/office/drawing/2014/main" id="{F17E7E2D-B913-5E45-B831-01C5E06D00FC}"/>
              </a:ext>
            </a:extLst>
          </p:cNvPr>
          <p:cNvSpPr txBox="1"/>
          <p:nvPr/>
        </p:nvSpPr>
        <p:spPr>
          <a:xfrm>
            <a:off x="3501956" y="5822072"/>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Return a value</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20" name="Straight Arrow Connector 19">
            <a:extLst>
              <a:ext uri="{FF2B5EF4-FFF2-40B4-BE49-F238E27FC236}">
                <a16:creationId xmlns:a16="http://schemas.microsoft.com/office/drawing/2014/main" id="{972D440A-2F8D-564A-B277-527643D27789}"/>
              </a:ext>
            </a:extLst>
          </p:cNvPr>
          <p:cNvCxnSpPr>
            <a:cxnSpLocks/>
            <a:stCxn id="19" idx="0"/>
          </p:cNvCxnSpPr>
          <p:nvPr/>
        </p:nvCxnSpPr>
        <p:spPr>
          <a:xfrm flipH="1" flipV="1">
            <a:off x="3657600" y="5299075"/>
            <a:ext cx="926396" cy="52299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858855602"/>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sp>
        <p:nvSpPr>
          <p:cNvPr id="2" name="Rectangle 1">
            <a:extLst>
              <a:ext uri="{FF2B5EF4-FFF2-40B4-BE49-F238E27FC236}">
                <a16:creationId xmlns:a16="http://schemas.microsoft.com/office/drawing/2014/main" id="{DEAEC4B0-0285-A84D-B5CD-EF26A3551C03}"/>
              </a:ext>
            </a:extLst>
          </p:cNvPr>
          <p:cNvSpPr/>
          <p:nvPr/>
        </p:nvSpPr>
        <p:spPr>
          <a:xfrm>
            <a:off x="366465" y="1364677"/>
            <a:ext cx="6858000" cy="716280"/>
          </a:xfrm>
          <a:prstGeom prst="rect">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4" name="TextBox 3">
            <a:extLst>
              <a:ext uri="{FF2B5EF4-FFF2-40B4-BE49-F238E27FC236}">
                <a16:creationId xmlns:a16="http://schemas.microsoft.com/office/drawing/2014/main" id="{90779C8E-3F09-614D-B982-3DAD8493C4D8}"/>
              </a:ext>
            </a:extLst>
          </p:cNvPr>
          <p:cNvSpPr txBox="1"/>
          <p:nvPr/>
        </p:nvSpPr>
        <p:spPr>
          <a:xfrm rot="21422263">
            <a:off x="-259800" y="672007"/>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Function header</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spTree>
    <p:extLst>
      <p:ext uri="{BB962C8B-B14F-4D97-AF65-F5344CB8AC3E}">
        <p14:creationId xmlns:p14="http://schemas.microsoft.com/office/powerpoint/2010/main" val="221804714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E598E-3C4B-8D4C-B8B2-F3C20D516A05}"/>
              </a:ext>
            </a:extLst>
          </p:cNvPr>
          <p:cNvSpPr>
            <a:spLocks noGrp="1"/>
          </p:cNvSpPr>
          <p:nvPr>
            <p:ph type="body" idx="1"/>
          </p:nvPr>
        </p:nvSpPr>
        <p:spPr>
          <a:xfrm>
            <a:off x="457200" y="1558925"/>
            <a:ext cx="8229600" cy="3740150"/>
          </a:xfrm>
        </p:spPr>
        <p:txBody>
          <a:bodyPr>
            <a:noAutofit/>
          </a:bodyPr>
          <a:lstStyle/>
          <a:p>
            <a:pPr marL="0" indent="0">
              <a:buNone/>
            </a:pPr>
            <a:r>
              <a:rPr lang="en-AU" sz="3200" dirty="0"/>
              <a:t>def </a:t>
            </a:r>
            <a:r>
              <a:rPr lang="en-AU" sz="3200" dirty="0" err="1"/>
              <a:t>calculate_price</a:t>
            </a:r>
            <a:r>
              <a:rPr lang="en-AU" sz="3200" dirty="0"/>
              <a:t>(price, discount):</a:t>
            </a:r>
          </a:p>
          <a:p>
            <a:pPr marL="0" indent="0">
              <a:buNone/>
            </a:pPr>
            <a:r>
              <a:rPr lang="en-AU" sz="3200" dirty="0"/>
              <a:t>	</a:t>
            </a:r>
            <a:r>
              <a:rPr lang="en-AU" sz="3200" dirty="0" err="1"/>
              <a:t>amount_saved</a:t>
            </a:r>
            <a:r>
              <a:rPr lang="en-AU" sz="3200" dirty="0"/>
              <a:t> = price *  (discount/100)</a:t>
            </a:r>
          </a:p>
          <a:p>
            <a:pPr marL="0" indent="0">
              <a:buNone/>
            </a:pPr>
            <a:r>
              <a:rPr lang="en-AU" sz="3200" dirty="0"/>
              <a:t>	</a:t>
            </a:r>
            <a:r>
              <a:rPr lang="en-AU" sz="3200" dirty="0" err="1"/>
              <a:t>sale_price</a:t>
            </a:r>
            <a:r>
              <a:rPr lang="en-AU" sz="3200" dirty="0"/>
              <a:t> = price – </a:t>
            </a:r>
            <a:r>
              <a:rPr lang="en-AU" sz="3200" dirty="0" err="1"/>
              <a:t>amount_saved</a:t>
            </a:r>
            <a:endParaRPr lang="en-AU" sz="3200" dirty="0"/>
          </a:p>
          <a:p>
            <a:pPr marL="0" indent="0">
              <a:buNone/>
            </a:pPr>
            <a:r>
              <a:rPr lang="en-AU" sz="3200" dirty="0"/>
              <a:t>	</a:t>
            </a:r>
            <a:r>
              <a:rPr lang="en-AU" sz="3200" dirty="0" err="1"/>
              <a:t>gst</a:t>
            </a:r>
            <a:r>
              <a:rPr lang="en-AU" sz="3200" dirty="0"/>
              <a:t> = </a:t>
            </a:r>
            <a:r>
              <a:rPr lang="en-AU" sz="3200" dirty="0" err="1"/>
              <a:t>sale_price</a:t>
            </a:r>
            <a:r>
              <a:rPr lang="en-AU" sz="3200" dirty="0"/>
              <a:t> * 0.1</a:t>
            </a:r>
          </a:p>
          <a:p>
            <a:pPr marL="0" indent="0">
              <a:buNone/>
            </a:pPr>
            <a:r>
              <a:rPr lang="en-AU" sz="3200" dirty="0"/>
              <a:t>	</a:t>
            </a:r>
            <a:r>
              <a:rPr lang="en-AU" sz="3200" dirty="0" err="1"/>
              <a:t>total_price</a:t>
            </a:r>
            <a:r>
              <a:rPr lang="en-AU" sz="3200" dirty="0"/>
              <a:t> = </a:t>
            </a:r>
            <a:r>
              <a:rPr lang="en-AU" sz="3200" dirty="0" err="1"/>
              <a:t>sale_price</a:t>
            </a:r>
            <a:r>
              <a:rPr lang="en-AU" sz="3200" dirty="0"/>
              <a:t> + </a:t>
            </a:r>
            <a:r>
              <a:rPr lang="en-AU" sz="3200" dirty="0" err="1"/>
              <a:t>gst</a:t>
            </a:r>
            <a:endParaRPr lang="en-AU" sz="3200" dirty="0"/>
          </a:p>
          <a:p>
            <a:pPr marL="0" indent="0">
              <a:buNone/>
            </a:pPr>
            <a:r>
              <a:rPr lang="en-AU" sz="3200" dirty="0"/>
              <a:t>	return </a:t>
            </a:r>
            <a:r>
              <a:rPr lang="en-AU" sz="3200" dirty="0" err="1"/>
              <a:t>total_price</a:t>
            </a:r>
            <a:endParaRPr lang="en-AU" sz="3200" dirty="0"/>
          </a:p>
        </p:txBody>
      </p:sp>
      <p:sp>
        <p:nvSpPr>
          <p:cNvPr id="2" name="Rectangle 1">
            <a:extLst>
              <a:ext uri="{FF2B5EF4-FFF2-40B4-BE49-F238E27FC236}">
                <a16:creationId xmlns:a16="http://schemas.microsoft.com/office/drawing/2014/main" id="{DEAEC4B0-0285-A84D-B5CD-EF26A3551C03}"/>
              </a:ext>
            </a:extLst>
          </p:cNvPr>
          <p:cNvSpPr/>
          <p:nvPr/>
        </p:nvSpPr>
        <p:spPr>
          <a:xfrm>
            <a:off x="366465" y="1364677"/>
            <a:ext cx="6858000" cy="716280"/>
          </a:xfrm>
          <a:prstGeom prst="rect">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4" name="TextBox 3">
            <a:extLst>
              <a:ext uri="{FF2B5EF4-FFF2-40B4-BE49-F238E27FC236}">
                <a16:creationId xmlns:a16="http://schemas.microsoft.com/office/drawing/2014/main" id="{90779C8E-3F09-614D-B982-3DAD8493C4D8}"/>
              </a:ext>
            </a:extLst>
          </p:cNvPr>
          <p:cNvSpPr txBox="1"/>
          <p:nvPr/>
        </p:nvSpPr>
        <p:spPr>
          <a:xfrm rot="21422263">
            <a:off x="-259800" y="672007"/>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Function header</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sp>
        <p:nvSpPr>
          <p:cNvPr id="5" name="Rectangle 4">
            <a:extLst>
              <a:ext uri="{FF2B5EF4-FFF2-40B4-BE49-F238E27FC236}">
                <a16:creationId xmlns:a16="http://schemas.microsoft.com/office/drawing/2014/main" id="{30E264F3-0695-A048-B053-DE90940EB9A2}"/>
              </a:ext>
            </a:extLst>
          </p:cNvPr>
          <p:cNvSpPr/>
          <p:nvPr/>
        </p:nvSpPr>
        <p:spPr>
          <a:xfrm>
            <a:off x="1234440" y="2189861"/>
            <a:ext cx="7345680" cy="3213419"/>
          </a:xfrm>
          <a:prstGeom prst="rect">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6" name="TextBox 5">
            <a:extLst>
              <a:ext uri="{FF2B5EF4-FFF2-40B4-BE49-F238E27FC236}">
                <a16:creationId xmlns:a16="http://schemas.microsoft.com/office/drawing/2014/main" id="{D205D637-F2E4-1A4B-B848-A3B200126BD2}"/>
              </a:ext>
            </a:extLst>
          </p:cNvPr>
          <p:cNvSpPr txBox="1"/>
          <p:nvPr/>
        </p:nvSpPr>
        <p:spPr>
          <a:xfrm rot="623678">
            <a:off x="7374171" y="1551230"/>
            <a:ext cx="1776188"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Function body</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spTree>
    <p:extLst>
      <p:ext uri="{BB962C8B-B14F-4D97-AF65-F5344CB8AC3E}">
        <p14:creationId xmlns:p14="http://schemas.microsoft.com/office/powerpoint/2010/main" val="215706456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7388E-4952-5E43-BE74-6E8D0602DADC}"/>
              </a:ext>
            </a:extLst>
          </p:cNvPr>
          <p:cNvSpPr>
            <a:spLocks noGrp="1"/>
          </p:cNvSpPr>
          <p:nvPr>
            <p:ph type="title"/>
          </p:nvPr>
        </p:nvSpPr>
        <p:spPr/>
        <p:txBody>
          <a:bodyPr/>
          <a:lstStyle/>
          <a:p>
            <a:r>
              <a:rPr lang="en-AU" dirty="0"/>
              <a:t>Define functions</a:t>
            </a:r>
          </a:p>
        </p:txBody>
      </p:sp>
      <p:sp>
        <p:nvSpPr>
          <p:cNvPr id="3" name="Text Placeholder 2">
            <a:extLst>
              <a:ext uri="{FF2B5EF4-FFF2-40B4-BE49-F238E27FC236}">
                <a16:creationId xmlns:a16="http://schemas.microsoft.com/office/drawing/2014/main" id="{2478EC0B-1213-DF45-8465-51D491BAA27F}"/>
              </a:ext>
            </a:extLst>
          </p:cNvPr>
          <p:cNvSpPr>
            <a:spLocks noGrp="1"/>
          </p:cNvSpPr>
          <p:nvPr>
            <p:ph type="body" idx="1"/>
          </p:nvPr>
        </p:nvSpPr>
        <p:spPr/>
        <p:txBody>
          <a:bodyPr/>
          <a:lstStyle/>
          <a:p>
            <a:r>
              <a:rPr lang="en-AU" dirty="0"/>
              <a:t>Header</a:t>
            </a:r>
          </a:p>
          <a:p>
            <a:pPr lvl="1"/>
            <a:r>
              <a:rPr lang="en-AU" dirty="0"/>
              <a:t>Use def keyword </a:t>
            </a:r>
          </a:p>
          <a:p>
            <a:pPr lvl="1"/>
            <a:r>
              <a:rPr lang="en-AU" dirty="0"/>
              <a:t>List parameters (input)</a:t>
            </a:r>
          </a:p>
          <a:p>
            <a:pPr lvl="1"/>
            <a:r>
              <a:rPr lang="en-AU" dirty="0"/>
              <a:t>Colon define a code block</a:t>
            </a:r>
          </a:p>
          <a:p>
            <a:r>
              <a:rPr lang="en-AU" dirty="0"/>
              <a:t>Body</a:t>
            </a:r>
          </a:p>
          <a:p>
            <a:pPr lvl="1"/>
            <a:r>
              <a:rPr lang="en-AU" dirty="0"/>
              <a:t>Set of statement</a:t>
            </a:r>
          </a:p>
          <a:p>
            <a:pPr lvl="1"/>
            <a:r>
              <a:rPr lang="en-AU" dirty="0"/>
              <a:t>Code block indented</a:t>
            </a:r>
          </a:p>
          <a:p>
            <a:pPr lvl="1"/>
            <a:r>
              <a:rPr lang="en-AU" dirty="0"/>
              <a:t>Optionally returns a value</a:t>
            </a:r>
          </a:p>
        </p:txBody>
      </p:sp>
    </p:spTree>
    <p:extLst>
      <p:ext uri="{BB962C8B-B14F-4D97-AF65-F5344CB8AC3E}">
        <p14:creationId xmlns:p14="http://schemas.microsoft.com/office/powerpoint/2010/main" val="156186766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2960-4693-594A-8FD7-D48C759512DB}"/>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05582C87-E645-F642-843E-F4B3721A7AFD}"/>
              </a:ext>
            </a:extLst>
          </p:cNvPr>
          <p:cNvSpPr>
            <a:spLocks noGrp="1"/>
          </p:cNvSpPr>
          <p:nvPr>
            <p:ph type="body" idx="1"/>
          </p:nvPr>
        </p:nvSpPr>
        <p:spPr/>
        <p:txBody>
          <a:bodyPr/>
          <a:lstStyle/>
          <a:p>
            <a:r>
              <a:rPr lang="en-AU" dirty="0"/>
              <a:t>Calling Functions</a:t>
            </a:r>
          </a:p>
          <a:p>
            <a:r>
              <a:rPr lang="en-AU" dirty="0"/>
              <a:t>Using Modules</a:t>
            </a:r>
          </a:p>
          <a:p>
            <a:r>
              <a:rPr lang="en-AU" dirty="0"/>
              <a:t>Creating Functions</a:t>
            </a:r>
          </a:p>
        </p:txBody>
      </p:sp>
    </p:spTree>
    <p:extLst>
      <p:ext uri="{BB962C8B-B14F-4D97-AF65-F5344CB8AC3E}">
        <p14:creationId xmlns:p14="http://schemas.microsoft.com/office/powerpoint/2010/main" val="4207446670"/>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CDDE-09AF-544F-B6BE-6A5CDDFAD4E2}"/>
              </a:ext>
            </a:extLst>
          </p:cNvPr>
          <p:cNvSpPr>
            <a:spLocks noGrp="1"/>
          </p:cNvSpPr>
          <p:nvPr>
            <p:ph type="title"/>
          </p:nvPr>
        </p:nvSpPr>
        <p:spPr/>
        <p:txBody>
          <a:bodyPr/>
          <a:lstStyle/>
          <a:p>
            <a:r>
              <a:rPr lang="en-AU" dirty="0"/>
              <a:t>Next time</a:t>
            </a:r>
          </a:p>
        </p:txBody>
      </p:sp>
      <p:sp>
        <p:nvSpPr>
          <p:cNvPr id="3" name="Text Placeholder 2">
            <a:extLst>
              <a:ext uri="{FF2B5EF4-FFF2-40B4-BE49-F238E27FC236}">
                <a16:creationId xmlns:a16="http://schemas.microsoft.com/office/drawing/2014/main" id="{7AA356E9-15F5-F445-BD46-23669A9D864C}"/>
              </a:ext>
            </a:extLst>
          </p:cNvPr>
          <p:cNvSpPr>
            <a:spLocks noGrp="1"/>
          </p:cNvSpPr>
          <p:nvPr>
            <p:ph type="body" idx="1"/>
          </p:nvPr>
        </p:nvSpPr>
        <p:spPr/>
        <p:txBody>
          <a:bodyPr/>
          <a:lstStyle/>
          <a:p>
            <a:r>
              <a:rPr lang="en-AU" dirty="0"/>
              <a:t>Getting Help</a:t>
            </a:r>
          </a:p>
          <a:p>
            <a:r>
              <a:rPr lang="en-AU" dirty="0"/>
              <a:t>Handling Exceptions</a:t>
            </a:r>
          </a:p>
          <a:p>
            <a:r>
              <a:rPr lang="en-AU" dirty="0"/>
              <a:t>Validating Input</a:t>
            </a:r>
          </a:p>
          <a:p>
            <a:r>
              <a:rPr lang="en-AU" dirty="0"/>
              <a:t>File Input/Output</a:t>
            </a:r>
          </a:p>
          <a:p>
            <a:endParaRPr lang="en-AU" dirty="0"/>
          </a:p>
        </p:txBody>
      </p:sp>
    </p:spTree>
    <p:extLst>
      <p:ext uri="{BB962C8B-B14F-4D97-AF65-F5344CB8AC3E}">
        <p14:creationId xmlns:p14="http://schemas.microsoft.com/office/powerpoint/2010/main" val="3096506095"/>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332</TotalTime>
  <Words>2509</Words>
  <Application>Microsoft Macintosh PowerPoint</Application>
  <PresentationFormat>On-screen Show (4:3)</PresentationFormat>
  <Paragraphs>268</Paragraphs>
  <Slides>41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American Typewriter</vt:lpstr>
      <vt:lpstr>Arial</vt:lpstr>
      <vt:lpstr>Calibri</vt:lpstr>
      <vt:lpstr>Helvetica</vt:lpstr>
      <vt:lpstr>Lucida Handwriting</vt:lpstr>
      <vt:lpstr>Wingdings</vt:lpstr>
      <vt:lpstr>curtin2010-PP2003</vt:lpstr>
      <vt:lpstr>Building Blocks</vt:lpstr>
      <vt:lpstr>PowerPoint Presentation</vt:lpstr>
      <vt:lpstr>PowerPoint Presentation</vt:lpstr>
      <vt:lpstr>Previously</vt:lpstr>
      <vt:lpstr>Today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Calling Functions</vt:lpstr>
      <vt:lpstr>Modules</vt:lpstr>
      <vt:lpstr>Built-In Functions</vt:lpstr>
      <vt:lpstr>Modules</vt:lpstr>
      <vt:lpstr>Modules</vt:lpstr>
      <vt:lpstr>Modules</vt:lpstr>
      <vt:lpstr>Modules</vt:lpstr>
      <vt:lpstr>Module Examples</vt:lpstr>
      <vt:lpstr>First import the module</vt:lpstr>
      <vt:lpstr>Use the module</vt:lpstr>
      <vt:lpstr>Convenience</vt:lpstr>
      <vt:lpstr>Convenience</vt:lpstr>
      <vt:lpstr>Convenience</vt:lpstr>
      <vt:lpstr>Convenience</vt:lpstr>
      <vt:lpstr>Modules</vt:lpstr>
      <vt:lpstr>Define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Define functions</vt:lpstr>
      <vt:lpstr>Today</vt:lpstr>
      <vt:lpstr>Next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37</cp:revision>
  <cp:lastPrinted>2023-03-12T23:54:10Z</cp:lastPrinted>
  <dcterms:modified xsi:type="dcterms:W3CDTF">2023-03-12T23:54:12Z</dcterms:modified>
</cp:coreProperties>
</file>