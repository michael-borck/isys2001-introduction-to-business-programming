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6" r:id="rId2"/>
    <p:sldId id="257" r:id="rId3"/>
    <p:sldId id="258" r:id="rId4"/>
    <p:sldId id="268" r:id="rId5"/>
    <p:sldId id="259" r:id="rId6"/>
    <p:sldId id="260" r:id="rId7"/>
    <p:sldId id="266" r:id="rId8"/>
    <p:sldId id="265" r:id="rId9"/>
    <p:sldId id="261" r:id="rId10"/>
    <p:sldId id="264" r:id="rId11"/>
    <p:sldId id="262" r:id="rId12"/>
    <p:sldId id="267" r:id="rId13"/>
    <p:sldId id="263" r:id="rId14"/>
    <p:sldId id="269" r:id="rId15"/>
  </p:sldIdLst>
  <p:sldSz cx="9144000" cy="6858000" type="screen4x3"/>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1pPr>
    <a:lvl2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2pPr>
    <a:lvl3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3pPr>
    <a:lvl4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4pPr>
    <a:lvl5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5pPr>
    <a:lvl6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6pPr>
    <a:lvl7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7pPr>
    <a:lvl8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8pPr>
    <a:lvl9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333333"/>
        </a:fontRef>
        <a:srgbClr val="333333"/>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CDDCA"/>
          </a:solidFill>
        </a:fill>
      </a:tcStyle>
    </a:wholeTbl>
    <a:band2H>
      <a:tcTxStyle/>
      <a:tcStyle>
        <a:tcBdr/>
        <a:fill>
          <a:solidFill>
            <a:srgbClr val="F6EF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333333"/>
        </a:fontRef>
        <a:srgbClr val="333333"/>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BDBDB"/>
          </a:solidFill>
        </a:fill>
      </a:tcStyle>
    </a:wholeTbl>
    <a:band2H>
      <a:tcTxStyle/>
      <a:tcStyle>
        <a:tcBdr/>
        <a:fill>
          <a:solidFill>
            <a:srgbClr val="EEEEEE"/>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333333"/>
        </a:fontRef>
        <a:srgbClr val="333333"/>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CCCD9"/>
          </a:solidFill>
        </a:fill>
      </a:tcStyle>
    </a:wholeTbl>
    <a:band2H>
      <a:tcTxStyle/>
      <a:tcStyle>
        <a:tcBdr/>
        <a:fill>
          <a:solidFill>
            <a:srgbClr val="E7E7ED"/>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333333"/>
        </a:fontRef>
        <a:srgbClr val="333333"/>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7E7E7"/>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333333"/>
        </a:fontRef>
        <a:srgbClr val="333333"/>
      </a:tcTxStyle>
      <a:tcStyle>
        <a:tcBdr>
          <a:left>
            <a:ln w="12700" cap="flat">
              <a:noFill/>
              <a:miter lim="400000"/>
            </a:ln>
          </a:left>
          <a:right>
            <a:ln w="12700" cap="flat">
              <a:noFill/>
              <a:miter lim="400000"/>
            </a:ln>
          </a:right>
          <a:top>
            <a:ln w="50800" cap="flat">
              <a:solidFill>
                <a:srgbClr val="333333"/>
              </a:solidFill>
              <a:prstDash val="solid"/>
              <a:round/>
            </a:ln>
          </a:top>
          <a:bottom>
            <a:ln w="25400" cap="flat">
              <a:solidFill>
                <a:srgbClr val="333333"/>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333333"/>
              </a:solidFill>
              <a:prstDash val="solid"/>
              <a:round/>
            </a:ln>
          </a:top>
          <a:bottom>
            <a:ln w="25400" cap="flat">
              <a:solidFill>
                <a:srgbClr val="333333"/>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333333"/>
        </a:fontRef>
        <a:srgbClr val="333333"/>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CCCCC"/>
          </a:solidFill>
        </a:fill>
      </a:tcStyle>
    </a:wholeTbl>
    <a:band2H>
      <a:tcTxStyle/>
      <a:tcStyle>
        <a:tcBdr/>
        <a:fill>
          <a:solidFill>
            <a:srgbClr val="E7E7E7"/>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33333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33333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333333"/>
          </a:solidFill>
        </a:fill>
      </a:tcStyle>
    </a:firstRow>
  </a:tblStyle>
  <a:tblStyle styleId="{2708684C-4D16-4618-839F-0558EEFCDFE6}" styleName="">
    <a:tblBg/>
    <a:wholeTbl>
      <a:tcTxStyle b="off" i="off">
        <a:fontRef idx="minor">
          <a:srgbClr val="333333"/>
        </a:fontRef>
        <a:srgbClr val="333333"/>
      </a:tcTxStyle>
      <a:tcStyle>
        <a:tcBdr>
          <a:left>
            <a:ln w="12700" cap="flat">
              <a:solidFill>
                <a:srgbClr val="333333"/>
              </a:solidFill>
              <a:prstDash val="solid"/>
              <a:round/>
            </a:ln>
          </a:left>
          <a:right>
            <a:ln w="12700" cap="flat">
              <a:solidFill>
                <a:srgbClr val="333333"/>
              </a:solidFill>
              <a:prstDash val="solid"/>
              <a:round/>
            </a:ln>
          </a:right>
          <a:top>
            <a:ln w="12700" cap="flat">
              <a:solidFill>
                <a:srgbClr val="333333"/>
              </a:solidFill>
              <a:prstDash val="solid"/>
              <a:round/>
            </a:ln>
          </a:top>
          <a:bottom>
            <a:ln w="12700" cap="flat">
              <a:solidFill>
                <a:srgbClr val="333333"/>
              </a:solidFill>
              <a:prstDash val="solid"/>
              <a:round/>
            </a:ln>
          </a:bottom>
          <a:insideH>
            <a:ln w="12700" cap="flat">
              <a:solidFill>
                <a:srgbClr val="333333"/>
              </a:solidFill>
              <a:prstDash val="solid"/>
              <a:round/>
            </a:ln>
          </a:insideH>
          <a:insideV>
            <a:ln w="12700" cap="flat">
              <a:solidFill>
                <a:srgbClr val="333333"/>
              </a:solidFill>
              <a:prstDash val="solid"/>
              <a:round/>
            </a:ln>
          </a:insideV>
        </a:tcBdr>
        <a:fill>
          <a:solidFill>
            <a:srgbClr val="333333">
              <a:alpha val="20000"/>
            </a:srgbClr>
          </a:solidFill>
        </a:fill>
      </a:tcStyle>
    </a:wholeTbl>
    <a:band2H>
      <a:tcTxStyle/>
      <a:tcStyle>
        <a:tcBdr/>
        <a:fill>
          <a:solidFill>
            <a:srgbClr val="FFFFFF"/>
          </a:solidFill>
        </a:fill>
      </a:tcStyle>
    </a:band2H>
    <a:firstCol>
      <a:tcTxStyle b="on" i="off">
        <a:fontRef idx="minor">
          <a:srgbClr val="333333"/>
        </a:fontRef>
        <a:srgbClr val="333333"/>
      </a:tcTxStyle>
      <a:tcStyle>
        <a:tcBdr>
          <a:left>
            <a:ln w="12700" cap="flat">
              <a:solidFill>
                <a:srgbClr val="333333"/>
              </a:solidFill>
              <a:prstDash val="solid"/>
              <a:round/>
            </a:ln>
          </a:left>
          <a:right>
            <a:ln w="12700" cap="flat">
              <a:solidFill>
                <a:srgbClr val="333333"/>
              </a:solidFill>
              <a:prstDash val="solid"/>
              <a:round/>
            </a:ln>
          </a:right>
          <a:top>
            <a:ln w="12700" cap="flat">
              <a:solidFill>
                <a:srgbClr val="333333"/>
              </a:solidFill>
              <a:prstDash val="solid"/>
              <a:round/>
            </a:ln>
          </a:top>
          <a:bottom>
            <a:ln w="12700" cap="flat">
              <a:solidFill>
                <a:srgbClr val="333333"/>
              </a:solidFill>
              <a:prstDash val="solid"/>
              <a:round/>
            </a:ln>
          </a:bottom>
          <a:insideH>
            <a:ln w="12700" cap="flat">
              <a:solidFill>
                <a:srgbClr val="333333"/>
              </a:solidFill>
              <a:prstDash val="solid"/>
              <a:round/>
            </a:ln>
          </a:insideH>
          <a:insideV>
            <a:ln w="12700" cap="flat">
              <a:solidFill>
                <a:srgbClr val="333333"/>
              </a:solidFill>
              <a:prstDash val="solid"/>
              <a:round/>
            </a:ln>
          </a:insideV>
        </a:tcBdr>
        <a:fill>
          <a:solidFill>
            <a:srgbClr val="333333">
              <a:alpha val="20000"/>
            </a:srgbClr>
          </a:solidFill>
        </a:fill>
      </a:tcStyle>
    </a:firstCol>
    <a:lastRow>
      <a:tcTxStyle b="on" i="off">
        <a:fontRef idx="minor">
          <a:srgbClr val="333333"/>
        </a:fontRef>
        <a:srgbClr val="333333"/>
      </a:tcTxStyle>
      <a:tcStyle>
        <a:tcBdr>
          <a:left>
            <a:ln w="12700" cap="flat">
              <a:solidFill>
                <a:srgbClr val="333333"/>
              </a:solidFill>
              <a:prstDash val="solid"/>
              <a:round/>
            </a:ln>
          </a:left>
          <a:right>
            <a:ln w="12700" cap="flat">
              <a:solidFill>
                <a:srgbClr val="333333"/>
              </a:solidFill>
              <a:prstDash val="solid"/>
              <a:round/>
            </a:ln>
          </a:right>
          <a:top>
            <a:ln w="50800" cap="flat">
              <a:solidFill>
                <a:srgbClr val="333333"/>
              </a:solidFill>
              <a:prstDash val="solid"/>
              <a:round/>
            </a:ln>
          </a:top>
          <a:bottom>
            <a:ln w="12700" cap="flat">
              <a:solidFill>
                <a:srgbClr val="333333"/>
              </a:solidFill>
              <a:prstDash val="solid"/>
              <a:round/>
            </a:ln>
          </a:bottom>
          <a:insideH>
            <a:ln w="12700" cap="flat">
              <a:solidFill>
                <a:srgbClr val="333333"/>
              </a:solidFill>
              <a:prstDash val="solid"/>
              <a:round/>
            </a:ln>
          </a:insideH>
          <a:insideV>
            <a:ln w="12700" cap="flat">
              <a:solidFill>
                <a:srgbClr val="333333"/>
              </a:solidFill>
              <a:prstDash val="solid"/>
              <a:round/>
            </a:ln>
          </a:insideV>
        </a:tcBdr>
        <a:fill>
          <a:noFill/>
        </a:fill>
      </a:tcStyle>
    </a:lastRow>
    <a:firstRow>
      <a:tcTxStyle b="on" i="off">
        <a:fontRef idx="minor">
          <a:srgbClr val="333333"/>
        </a:fontRef>
        <a:srgbClr val="333333"/>
      </a:tcTxStyle>
      <a:tcStyle>
        <a:tcBdr>
          <a:left>
            <a:ln w="12700" cap="flat">
              <a:solidFill>
                <a:srgbClr val="333333"/>
              </a:solidFill>
              <a:prstDash val="solid"/>
              <a:round/>
            </a:ln>
          </a:left>
          <a:right>
            <a:ln w="12700" cap="flat">
              <a:solidFill>
                <a:srgbClr val="333333"/>
              </a:solidFill>
              <a:prstDash val="solid"/>
              <a:round/>
            </a:ln>
          </a:right>
          <a:top>
            <a:ln w="12700" cap="flat">
              <a:solidFill>
                <a:srgbClr val="333333"/>
              </a:solidFill>
              <a:prstDash val="solid"/>
              <a:round/>
            </a:ln>
          </a:top>
          <a:bottom>
            <a:ln w="25400" cap="flat">
              <a:solidFill>
                <a:srgbClr val="333333"/>
              </a:solidFill>
              <a:prstDash val="solid"/>
              <a:round/>
            </a:ln>
          </a:bottom>
          <a:insideH>
            <a:ln w="12700" cap="flat">
              <a:solidFill>
                <a:srgbClr val="333333"/>
              </a:solidFill>
              <a:prstDash val="solid"/>
              <a:round/>
            </a:ln>
          </a:insideH>
          <a:insideV>
            <a:ln w="12700" cap="flat">
              <a:solidFill>
                <a:srgbClr val="333333"/>
              </a:solidFill>
              <a:prstDash val="solid"/>
              <a:round/>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422"/>
    <p:restoredTop sz="37910"/>
  </p:normalViewPr>
  <p:slideViewPr>
    <p:cSldViewPr snapToGrid="0" snapToObjects="1">
      <p:cViewPr varScale="1">
        <p:scale>
          <a:sx n="37" d="100"/>
          <a:sy n="37" d="100"/>
        </p:scale>
        <p:origin x="4272" y="192"/>
      </p:cViewPr>
      <p:guideLst/>
    </p:cSldViewPr>
  </p:slideViewPr>
  <p:notesTextViewPr>
    <p:cViewPr>
      <p:scale>
        <a:sx n="1" d="1"/>
        <a:sy n="1" d="1"/>
      </p:scale>
      <p:origin x="0" y="0"/>
    </p:cViewPr>
  </p:notesTextViewPr>
  <p:notesViewPr>
    <p:cSldViewPr snapToGrid="0" snapToObjects="1">
      <p:cViewPr varScale="1">
        <p:scale>
          <a:sx n="97" d="100"/>
          <a:sy n="97" d="100"/>
        </p:scale>
        <p:origin x="4328" y="20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97" name="Shape 197"/>
          <p:cNvSpPr>
            <a:spLocks noGrp="1" noRot="1" noChangeAspect="1"/>
          </p:cNvSpPr>
          <p:nvPr>
            <p:ph type="sldImg"/>
          </p:nvPr>
        </p:nvSpPr>
        <p:spPr>
          <a:xfrm>
            <a:off x="1143000" y="685800"/>
            <a:ext cx="4572000" cy="3429000"/>
          </a:xfrm>
          <a:prstGeom prst="rect">
            <a:avLst/>
          </a:prstGeom>
        </p:spPr>
        <p:txBody>
          <a:bodyPr/>
          <a:lstStyle/>
          <a:p>
            <a:endParaRPr/>
          </a:p>
        </p:txBody>
      </p:sp>
      <p:sp>
        <p:nvSpPr>
          <p:cNvPr id="198" name="Shape 19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spcBef>
        <a:spcPts val="400"/>
      </a:spcBef>
      <a:defRPr sz="1200">
        <a:latin typeface="+mj-lt"/>
        <a:ea typeface="+mj-ea"/>
        <a:cs typeface="+mj-cs"/>
        <a:sym typeface="Arial"/>
      </a:defRPr>
    </a:lvl1pPr>
    <a:lvl2pPr indent="228600" latinLnBrk="0">
      <a:spcBef>
        <a:spcPts val="400"/>
      </a:spcBef>
      <a:defRPr sz="1200">
        <a:latin typeface="+mj-lt"/>
        <a:ea typeface="+mj-ea"/>
        <a:cs typeface="+mj-cs"/>
        <a:sym typeface="Arial"/>
      </a:defRPr>
    </a:lvl2pPr>
    <a:lvl3pPr indent="457200" latinLnBrk="0">
      <a:spcBef>
        <a:spcPts val="400"/>
      </a:spcBef>
      <a:defRPr sz="1200">
        <a:latin typeface="+mj-lt"/>
        <a:ea typeface="+mj-ea"/>
        <a:cs typeface="+mj-cs"/>
        <a:sym typeface="Arial"/>
      </a:defRPr>
    </a:lvl3pPr>
    <a:lvl4pPr indent="685800" latinLnBrk="0">
      <a:spcBef>
        <a:spcPts val="400"/>
      </a:spcBef>
      <a:defRPr sz="1200">
        <a:latin typeface="+mj-lt"/>
        <a:ea typeface="+mj-ea"/>
        <a:cs typeface="+mj-cs"/>
        <a:sym typeface="Arial"/>
      </a:defRPr>
    </a:lvl4pPr>
    <a:lvl5pPr indent="914400" latinLnBrk="0">
      <a:spcBef>
        <a:spcPts val="400"/>
      </a:spcBef>
      <a:defRPr sz="1200">
        <a:latin typeface="+mj-lt"/>
        <a:ea typeface="+mj-ea"/>
        <a:cs typeface="+mj-cs"/>
        <a:sym typeface="Arial"/>
      </a:defRPr>
    </a:lvl5pPr>
    <a:lvl6pPr indent="1143000" latinLnBrk="0">
      <a:spcBef>
        <a:spcPts val="400"/>
      </a:spcBef>
      <a:defRPr sz="1200">
        <a:latin typeface="+mj-lt"/>
        <a:ea typeface="+mj-ea"/>
        <a:cs typeface="+mj-cs"/>
        <a:sym typeface="Arial"/>
      </a:defRPr>
    </a:lvl6pPr>
    <a:lvl7pPr indent="1371600" latinLnBrk="0">
      <a:spcBef>
        <a:spcPts val="400"/>
      </a:spcBef>
      <a:defRPr sz="1200">
        <a:latin typeface="+mj-lt"/>
        <a:ea typeface="+mj-ea"/>
        <a:cs typeface="+mj-cs"/>
        <a:sym typeface="Arial"/>
      </a:defRPr>
    </a:lvl7pPr>
    <a:lvl8pPr indent="1600200" latinLnBrk="0">
      <a:spcBef>
        <a:spcPts val="400"/>
      </a:spcBef>
      <a:defRPr sz="1200">
        <a:latin typeface="+mj-lt"/>
        <a:ea typeface="+mj-ea"/>
        <a:cs typeface="+mj-cs"/>
        <a:sym typeface="Arial"/>
      </a:defRPr>
    </a:lvl8pPr>
    <a:lvl9pPr indent="1828800" latinLnBrk="0">
      <a:spcBef>
        <a:spcPts val="400"/>
      </a:spcBef>
      <a:defRPr sz="1200">
        <a:latin typeface="+mj-lt"/>
        <a:ea typeface="+mj-ea"/>
        <a:cs typeface="+mj-cs"/>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14588992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7714569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Data persistence refers to the ability of a program to store data even after the program has stopped running. Flat files are a type of data storage where data is stored in a plain text file, often separated by a delimiter like a comma or tab. DBMS, or database management systems, are software tools used to store, manage, and retrieve data in a structured way. </a:t>
            </a:r>
          </a:p>
          <a:p>
            <a:endParaRPr lang="en-AU" dirty="0"/>
          </a:p>
          <a:p>
            <a:r>
              <a:rPr lang="en-AU" dirty="0"/>
              <a:t>In Python, object serialization is a way to convert Python objects into a format that can be stored or transmitted, such as a flat file or a database. Serialization allows the object to be reconstructed later in the same or another program.</a:t>
            </a:r>
          </a:p>
          <a:p>
            <a:endParaRPr lang="en-AU" dirty="0"/>
          </a:p>
          <a:p>
            <a:r>
              <a:rPr lang="en-AU" dirty="0"/>
              <a:t>In summary, flat files and DBMS are both ways to store data persistently, while object serialization in Python allows objects to be stored in these formats. Flat files are simple and easy to use, but lack the features and functionality of DBMS. DBMS provide more robust data management, but require more setup and maintenance. Object serialization allows for more flexible and versatile data storage, but requires additional serialization and deserialization steps.</a:t>
            </a:r>
          </a:p>
        </p:txBody>
      </p:sp>
    </p:spTree>
    <p:extLst>
      <p:ext uri="{BB962C8B-B14F-4D97-AF65-F5344CB8AC3E}">
        <p14:creationId xmlns:p14="http://schemas.microsoft.com/office/powerpoint/2010/main" val="15398921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Flat files are used in programming for data storage, manipulation, and transfer, mainly because of their simplicity and ease of use. Flat files are essentially plain-text files containing data organized in a structured format, usually as rows and columns. They are called "flat" because they lack any hierarchy or relational structure that would be found in more complex databases.</a:t>
            </a:r>
          </a:p>
          <a:p>
            <a:endParaRPr lang="en-AU" dirty="0"/>
          </a:p>
          <a:p>
            <a:r>
              <a:rPr lang="en-AU" dirty="0"/>
              <a:t>Some common flat file formats include CSV (Comma Separated Values), TSV (Tab Separated Values), and other delimited text formats. These files can be opened and edited using standard text editors or spreadsheet applications like Microsoft Excel or Google Sheets.</a:t>
            </a:r>
          </a:p>
          <a:p>
            <a:endParaRPr lang="en-AU" dirty="0"/>
          </a:p>
          <a:p>
            <a:r>
              <a:rPr lang="en-AU" dirty="0"/>
              <a:t>Flat files are used in programming for various purposes:</a:t>
            </a:r>
          </a:p>
          <a:p>
            <a:endParaRPr lang="en-AU" dirty="0"/>
          </a:p>
          <a:p>
            <a:r>
              <a:rPr lang="en-AU" dirty="0"/>
              <a:t>1. Data storage: Flat files can be used as a simple way to store data, especially for small-scale applications or projects that don't require the complexity of a full-fledged database management system.</a:t>
            </a:r>
          </a:p>
          <a:p>
            <a:endParaRPr lang="en-AU" dirty="0"/>
          </a:p>
          <a:p>
            <a:r>
              <a:rPr lang="en-AU" dirty="0"/>
              <a:t>2. Data exchange: Flat files can be used to share data between applications or systems. They are platform-independent and can be easily read by different programming languages. This makes them ideal for exchanging data between different systems, software, or users.</a:t>
            </a:r>
          </a:p>
          <a:p>
            <a:endParaRPr lang="en-AU" dirty="0"/>
          </a:p>
          <a:p>
            <a:r>
              <a:rPr lang="en-AU" dirty="0"/>
              <a:t>3. Data import/export: Flat files can be used to import or export data from databases, making it easier to migrate data between different systems or applications.</a:t>
            </a:r>
          </a:p>
          <a:p>
            <a:endParaRPr lang="en-AU" dirty="0"/>
          </a:p>
          <a:p>
            <a:r>
              <a:rPr lang="en-AU" dirty="0"/>
              <a:t>4. Data processing: Flat files can be used for data processing tasks such as data cleaning, filtering, transformation, and analysis. They can be easily read and processed using various programming languages and libraries, including Python, R, Java, and many others.</a:t>
            </a:r>
          </a:p>
          <a:p>
            <a:endParaRPr lang="en-AU" dirty="0"/>
          </a:p>
          <a:p>
            <a:r>
              <a:rPr lang="en-AU" dirty="0"/>
              <a:t>5. Data backup: Flat files can serve as a simple and effective means of backing up data. By periodically exporting data to a flat file format, you can create backups that are easy to store and restore when needed.</a:t>
            </a:r>
          </a:p>
          <a:p>
            <a:endParaRPr lang="en-AU" dirty="0"/>
          </a:p>
          <a:p>
            <a:r>
              <a:rPr lang="en-AU" dirty="0"/>
              <a:t>While flat files have their advantages, they also have some limitations, such as lack of support for complex relationships, poor performance with large datasets, and lack of data integrity constraints. For more complex applications or larger datasets, a more sophisticated database management system may be more appropriate.</a:t>
            </a:r>
          </a:p>
        </p:txBody>
      </p:sp>
    </p:spTree>
    <p:extLst>
      <p:ext uri="{BB962C8B-B14F-4D97-AF65-F5344CB8AC3E}">
        <p14:creationId xmlns:p14="http://schemas.microsoft.com/office/powerpoint/2010/main" val="38254834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i="0" dirty="0">
                <a:solidFill>
                  <a:srgbClr val="D1D5DB"/>
                </a:solidFill>
                <a:effectLst/>
                <a:latin typeface="Söhne"/>
              </a:rPr>
              <a:t>While flat files have their advantages, they also have some limitations, such as lack of support for complex relationships, poor performance with large datasets, and lack of data integrity constraints. For more complex applications or larger datasets, a more sophisticated database management system may be more appropriate.</a:t>
            </a:r>
          </a:p>
          <a:p>
            <a:endParaRPr lang="en-AU" b="0" i="0" dirty="0">
              <a:solidFill>
                <a:srgbClr val="D1D5DB"/>
              </a:solidFill>
              <a:effectLst/>
              <a:latin typeface="Söhne"/>
            </a:endParaRPr>
          </a:p>
          <a:p>
            <a:r>
              <a:rPr lang="en-AU" dirty="0"/>
              <a:t>Data management systems (DMS), also known as database management systems (DBMS), are essential components in programming that help manage, store, retrieve, and manipulate data in a structured and efficient manner. These systems allow developers to build applications that can handle large amounts of data, ensuring data consistency, integrity, and security.</a:t>
            </a:r>
          </a:p>
          <a:p>
            <a:endParaRPr lang="en-AU" dirty="0"/>
          </a:p>
          <a:p>
            <a:r>
              <a:rPr lang="en-AU" dirty="0"/>
              <a:t>DMS are used in programming in various ways:</a:t>
            </a:r>
          </a:p>
          <a:p>
            <a:endParaRPr lang="en-AU" dirty="0"/>
          </a:p>
          <a:p>
            <a:r>
              <a:rPr lang="en-AU" dirty="0"/>
              <a:t>1. Data storage and organization: DMS provide a systematic way of storing and organizing data, allowing developers to create structured schemas that define the relationships between different data entities. This helps ensure data consistency and makes it easier to access and manipulate the stored data.</a:t>
            </a:r>
          </a:p>
          <a:p>
            <a:endParaRPr lang="en-AU" dirty="0"/>
          </a:p>
          <a:p>
            <a:r>
              <a:rPr lang="en-AU" dirty="0"/>
              <a:t>2. Data retrieval: DMS provide query languages (e.g., SQL) and APIs that enable developers to fetch data from the database efficiently. Developers can write queries to retrieve specific data based on certain conditions, aggregate data, or join multiple tables to get the required information.</a:t>
            </a:r>
          </a:p>
          <a:p>
            <a:endParaRPr lang="en-AU" dirty="0"/>
          </a:p>
          <a:p>
            <a:r>
              <a:rPr lang="en-AU" dirty="0"/>
              <a:t>3. Data manipulation: DMS allow developers to perform various data manipulation operations such as insertion, deletion, and updating of records. These operations can be executed using built-in functions or custom scripts, ensuring that data remains consistent and accurate throughout the application.</a:t>
            </a:r>
          </a:p>
          <a:p>
            <a:endParaRPr lang="en-AU" dirty="0"/>
          </a:p>
          <a:p>
            <a:r>
              <a:rPr lang="en-AU" dirty="0"/>
              <a:t>4. Data integrity and consistency: DMS enforce data integrity constraints, such as primary keys, foreign keys, and unique constraints, to maintain consistency and prevent data anomalies. Transactions can be used to ensure that multiple operations are executed atomically, maintaining data integrity even in the event of system failures or errors.</a:t>
            </a:r>
          </a:p>
          <a:p>
            <a:endParaRPr lang="en-AU" dirty="0"/>
          </a:p>
          <a:p>
            <a:r>
              <a:rPr lang="en-AU" dirty="0"/>
              <a:t>5. Data security: DMS provide various security features to protect data from unauthorized access, manipulation, or leakage. This includes user authentication, authorization, data encryption, and access control mechanisms, ensuring that sensitive data remains secure.</a:t>
            </a:r>
          </a:p>
          <a:p>
            <a:endParaRPr lang="en-AU" dirty="0"/>
          </a:p>
          <a:p>
            <a:r>
              <a:rPr lang="en-AU" dirty="0"/>
              <a:t>6. Data backup and recovery: DMS have built-in mechanisms for data backup and recovery, allowing developers to create and restore data backups in case of data loss or system failures. This helps ensure data durability and reduces the risk of data loss.</a:t>
            </a:r>
          </a:p>
          <a:p>
            <a:endParaRPr lang="en-AU" dirty="0"/>
          </a:p>
          <a:p>
            <a:r>
              <a:rPr lang="en-AU" dirty="0"/>
              <a:t>7. Scalability and performance: DMS are designed to handle large amounts of data and concurrent users. They employ various techniques such as indexing, caching, and query optimization to improve performance and reduce the time required to access and manipulate data.</a:t>
            </a:r>
          </a:p>
          <a:p>
            <a:endParaRPr lang="en-AU" dirty="0"/>
          </a:p>
          <a:p>
            <a:r>
              <a:rPr lang="en-AU" dirty="0"/>
              <a:t>DMS can be broadly classified into two categories:</a:t>
            </a:r>
          </a:p>
          <a:p>
            <a:endParaRPr lang="en-AU" dirty="0"/>
          </a:p>
          <a:p>
            <a:r>
              <a:rPr lang="en-AU" dirty="0"/>
              <a:t>1. Relational database management systems (RDBMS): These systems store data in a tabular format, where data is organized into tables with rows and columns. They use SQL as the primary query language. Examples include MySQL, PostgreSQL, Oracle, and Microsoft SQL Server.</a:t>
            </a:r>
          </a:p>
          <a:p>
            <a:endParaRPr lang="en-AU" dirty="0"/>
          </a:p>
          <a:p>
            <a:r>
              <a:rPr lang="en-AU" dirty="0"/>
              <a:t>2. NoSQL database management systems: These systems store data in non-tabular formats, such as key-value, document, column-family, or graph-based structures. They provide more flexibility in terms of data storage and are particularly well-suited for handling large-scale, unstructured, or semi-structured data. Examples include MongoDB, Cassandra, Redis, and Neo4j.</a:t>
            </a:r>
          </a:p>
          <a:p>
            <a:endParaRPr lang="en-AU" dirty="0"/>
          </a:p>
          <a:p>
            <a:r>
              <a:rPr lang="en-AU" dirty="0"/>
              <a:t>Depending on the requirements of a specific application, developers may choose the appropriate data management system to ensure efficient data handling and manipulation.</a:t>
            </a:r>
          </a:p>
        </p:txBody>
      </p:sp>
    </p:spTree>
    <p:extLst>
      <p:ext uri="{BB962C8B-B14F-4D97-AF65-F5344CB8AC3E}">
        <p14:creationId xmlns:p14="http://schemas.microsoft.com/office/powerpoint/2010/main" val="2400043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AU" b="0" i="0" dirty="0">
                <a:solidFill>
                  <a:srgbClr val="D1D5DB"/>
                </a:solidFill>
                <a:effectLst/>
                <a:latin typeface="Söhne"/>
              </a:rPr>
              <a:t>DMS can be broadly classified into two categories:</a:t>
            </a:r>
          </a:p>
          <a:p>
            <a:pPr algn="l">
              <a:buFont typeface="+mj-lt"/>
              <a:buAutoNum type="arabicPeriod"/>
            </a:pPr>
            <a:r>
              <a:rPr lang="en-AU" b="0" i="0" dirty="0">
                <a:solidFill>
                  <a:srgbClr val="D1D5DB"/>
                </a:solidFill>
                <a:effectLst/>
                <a:latin typeface="Söhne"/>
              </a:rPr>
              <a:t>Relational database management systems (RDBMS): These systems store data in a tabular format, where data is organized into tables with rows and columns. They use SQL as the primary query language. Examples include MySQL, PostgreSQL, Oracle, and Microsoft SQL Server.</a:t>
            </a:r>
          </a:p>
          <a:p>
            <a:pPr algn="l">
              <a:buFont typeface="+mj-lt"/>
              <a:buAutoNum type="arabicPeriod"/>
            </a:pPr>
            <a:r>
              <a:rPr lang="en-AU" b="0" i="0" dirty="0">
                <a:solidFill>
                  <a:srgbClr val="D1D5DB"/>
                </a:solidFill>
                <a:effectLst/>
                <a:latin typeface="Söhne"/>
              </a:rPr>
              <a:t>NoSQL database management systems: These systems store data in non-tabular formats, such as key-value, document, column-family, or graph-based structures. They provide more flexibility in terms of data storage and are particularly well-suited for handling large-scale, unstructured, or semi-structured data. Examples include MongoDB, Cassandra, Redis, and Neo4j.</a:t>
            </a:r>
          </a:p>
          <a:p>
            <a:pPr algn="l"/>
            <a:r>
              <a:rPr lang="en-AU" b="0" i="0" dirty="0">
                <a:solidFill>
                  <a:srgbClr val="D1D5DB"/>
                </a:solidFill>
                <a:effectLst/>
                <a:latin typeface="Söhne"/>
              </a:rPr>
              <a:t>Depending on the requirements of a specific application, developers may choose the appropriate data management system to ensure efficient data handling and manipulation.</a:t>
            </a:r>
          </a:p>
          <a:p>
            <a:pPr algn="l"/>
            <a:endParaRPr lang="en-AU" b="0" i="0" dirty="0">
              <a:solidFill>
                <a:srgbClr val="D1D5DB"/>
              </a:solidFill>
              <a:effectLst/>
              <a:latin typeface="Söhne"/>
            </a:endParaRPr>
          </a:p>
          <a:p>
            <a:pPr algn="l"/>
            <a:endParaRPr lang="en-AU" b="0" i="0" dirty="0">
              <a:solidFill>
                <a:srgbClr val="D1D5DB"/>
              </a:solidFill>
              <a:effectLst/>
              <a:latin typeface="Söhne"/>
            </a:endParaRPr>
          </a:p>
          <a:p>
            <a:endParaRPr lang="en-AU" dirty="0"/>
          </a:p>
        </p:txBody>
      </p:sp>
    </p:spTree>
    <p:extLst>
      <p:ext uri="{BB962C8B-B14F-4D97-AF65-F5344CB8AC3E}">
        <p14:creationId xmlns:p14="http://schemas.microsoft.com/office/powerpoint/2010/main" val="26532575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NoSQL databases are non-relational databases that provide a flexible and scalable solution for working with large volumes of unstructured, semi-structured, or complex data. They are designed to handle different data models, such as key-value, document, column-family, or graph-based structures. NoSQL databases have gained popularity due to their ability to handle big data, high write loads, and the increasing need for horizontal scaling.</a:t>
            </a:r>
          </a:p>
          <a:p>
            <a:endParaRPr lang="en-AU" dirty="0"/>
          </a:p>
          <a:p>
            <a:r>
              <a:rPr lang="en-AU" dirty="0"/>
              <a:t>Here's how you can use NoSQL databases in programming:</a:t>
            </a:r>
          </a:p>
          <a:p>
            <a:endParaRPr lang="en-AU" dirty="0"/>
          </a:p>
          <a:p>
            <a:r>
              <a:rPr lang="en-AU" dirty="0"/>
              <a:t>1. Select the appropriate NoSQL database type: Depending on the data model and requirements of your application, choose the right NoSQL database type. Some popular NoSQL databases are:</a:t>
            </a:r>
          </a:p>
          <a:p>
            <a:endParaRPr lang="en-AU" dirty="0"/>
          </a:p>
          <a:p>
            <a:r>
              <a:rPr lang="en-AU" dirty="0"/>
              <a:t>   - Key-Value stores: Redis, Amazon DynamoDB, </a:t>
            </a:r>
            <a:r>
              <a:rPr lang="en-AU" dirty="0" err="1"/>
              <a:t>Riak</a:t>
            </a:r>
            <a:endParaRPr lang="en-AU" dirty="0"/>
          </a:p>
          <a:p>
            <a:r>
              <a:rPr lang="en-AU" dirty="0"/>
              <a:t>   - Document stores: MongoDB, Couchbase, </a:t>
            </a:r>
            <a:r>
              <a:rPr lang="en-AU" dirty="0" err="1"/>
              <a:t>RavenDB</a:t>
            </a:r>
            <a:endParaRPr lang="en-AU" dirty="0"/>
          </a:p>
          <a:p>
            <a:r>
              <a:rPr lang="en-AU" dirty="0"/>
              <a:t>   - Column-family stores: Apache Cassandra, HBase, </a:t>
            </a:r>
            <a:r>
              <a:rPr lang="en-AU" dirty="0" err="1"/>
              <a:t>ScyllaDB</a:t>
            </a:r>
            <a:endParaRPr lang="en-AU" dirty="0"/>
          </a:p>
          <a:p>
            <a:r>
              <a:rPr lang="en-AU" dirty="0"/>
              <a:t>   - Graph databases: Neo4j, Amazon Neptune, </a:t>
            </a:r>
            <a:r>
              <a:rPr lang="en-AU" dirty="0" err="1"/>
              <a:t>ArangoDB</a:t>
            </a:r>
            <a:endParaRPr lang="en-AU" dirty="0"/>
          </a:p>
          <a:p>
            <a:endParaRPr lang="en-AU" dirty="0"/>
          </a:p>
          <a:p>
            <a:r>
              <a:rPr lang="en-AU" dirty="0"/>
              <a:t>2. Install and set up the chosen NoSQL database: Download and install the NoSQL database software on your development environment or use a managed cloud-based service, depending on your preferences and requirements.</a:t>
            </a:r>
          </a:p>
          <a:p>
            <a:endParaRPr lang="en-AU" dirty="0"/>
          </a:p>
          <a:p>
            <a:r>
              <a:rPr lang="en-AU" dirty="0"/>
              <a:t>3. Learn the database's query language or API: Each NoSQL database has its own query language or API to interact with the data. Familiarize yourself with the language or API to perform CRUD (Create, Read, Update, and Delete) operations, as well as any other database-specific functionality.</a:t>
            </a:r>
          </a:p>
          <a:p>
            <a:endParaRPr lang="en-AU" dirty="0"/>
          </a:p>
          <a:p>
            <a:r>
              <a:rPr lang="en-AU" dirty="0"/>
              <a:t>4. Integrate the NoSQL database into your programming language or framework: Most NoSQL databases offer drivers, libraries, or frameworks that help you connect and interact with the database using your preferred programming language. For example, if you're using MongoDB, you can use the MongoDB driver for Node.js, Python, Java, or other supported languages.</a:t>
            </a:r>
          </a:p>
          <a:p>
            <a:endParaRPr lang="en-AU" dirty="0"/>
          </a:p>
          <a:p>
            <a:r>
              <a:rPr lang="en-AU" dirty="0"/>
              <a:t>5. Design the data model: Design your data model according to the chosen NoSQL database type, keeping in mind the scalability, performance, and flexibility requirements of your application. Unlike relational databases, NoSQL databases allow for more flexible data models that can evolve over time.</a:t>
            </a:r>
          </a:p>
          <a:p>
            <a:endParaRPr lang="en-AU" dirty="0"/>
          </a:p>
          <a:p>
            <a:r>
              <a:rPr lang="en-AU" dirty="0"/>
              <a:t>6. Implement data operations: Use the chosen NoSQL database's query language or API to implement data operations like inserting, querying, updating, and deleting records in your application.</a:t>
            </a:r>
          </a:p>
          <a:p>
            <a:endParaRPr lang="en-AU" dirty="0"/>
          </a:p>
          <a:p>
            <a:r>
              <a:rPr lang="en-AU" dirty="0"/>
              <a:t>7. Handle data consistency and availability: NoSQL databases often follow the CAP theorem, which states that a distributed system can only provide two out of the following three guarantees: Consistency, Availability, and Partition tolerance. Design your application to handle the trade-offs between consistency and availability based on the chosen NoSQL database's features and your application's requirements.</a:t>
            </a:r>
          </a:p>
          <a:p>
            <a:endParaRPr lang="en-AU" dirty="0"/>
          </a:p>
          <a:p>
            <a:r>
              <a:rPr lang="en-AU" dirty="0"/>
              <a:t>8. Optimize performance: Leverage the features of the NoSQL database, like indexing, caching, and replication, to optimize the performance of your application. Some NoSQL databases also support horizontal scaling, which can help your application handle high write loads and large data volumes.</a:t>
            </a:r>
          </a:p>
          <a:p>
            <a:endParaRPr lang="en-AU" dirty="0"/>
          </a:p>
          <a:p>
            <a:r>
              <a:rPr lang="en-AU" dirty="0"/>
              <a:t>9. Ensure data security: Implement security measures to protect your data, such as authentication, authorization, encryption, and access control mechanisms. Most NoSQL databases provide built-in security features to help you secure your data.</a:t>
            </a:r>
          </a:p>
          <a:p>
            <a:endParaRPr lang="en-AU" dirty="0"/>
          </a:p>
          <a:p>
            <a:r>
              <a:rPr lang="en-AU" dirty="0"/>
              <a:t>10. Monitor and maintain the database: Regularly monitor the performance and health of your NoSQL database using monitoring tools or built-in metrics. Perform database maintenance tasks, such as backup, recovery, and updates, as needed.</a:t>
            </a:r>
          </a:p>
          <a:p>
            <a:endParaRPr lang="en-AU" dirty="0"/>
          </a:p>
          <a:p>
            <a:r>
              <a:rPr lang="en-AU" dirty="0"/>
              <a:t>By following these steps and leveraging the features of NoSQL databases, you can build efficient, scalable, and flexible applications that handle a wide variety of data types and use cases.</a:t>
            </a:r>
          </a:p>
        </p:txBody>
      </p:sp>
    </p:spTree>
    <p:extLst>
      <p:ext uri="{BB962C8B-B14F-4D97-AF65-F5344CB8AC3E}">
        <p14:creationId xmlns:p14="http://schemas.microsoft.com/office/powerpoint/2010/main" val="25257268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SQLite is a lightweight, serverless, self-contained, and transactional SQL database engine, which is widely used for its simplicity and ease of use. It is particularly well-suited for small to medium-sized applications, as well as for use as an embedded database or for applications that require minimal setup and maintenance.</a:t>
            </a:r>
          </a:p>
          <a:p>
            <a:endParaRPr lang="en-AU" dirty="0"/>
          </a:p>
          <a:p>
            <a:r>
              <a:rPr lang="en-AU" dirty="0"/>
              <a:t>Here are some reasons to use SQLite in programming:</a:t>
            </a:r>
          </a:p>
          <a:p>
            <a:endParaRPr lang="en-AU" dirty="0"/>
          </a:p>
          <a:p>
            <a:r>
              <a:rPr lang="en-AU" dirty="0"/>
              <a:t>1. Lightweight and self-contained: SQLite is a compact library with minimal dependencies, making it easy to integrate into your applications. It doesn't require a separate server process, which simplifies deployment and reduces overhead.</a:t>
            </a:r>
          </a:p>
          <a:p>
            <a:endParaRPr lang="en-AU" dirty="0"/>
          </a:p>
          <a:p>
            <a:r>
              <a:rPr lang="en-AU" dirty="0"/>
              <a:t>2. Serverless and zero-configuration: SQLite doesn't require a server to run, which means there is no need to set up and manage a separate database server. It also doesn't require any configuration, making it easy to get started and maintain.</a:t>
            </a:r>
          </a:p>
          <a:p>
            <a:endParaRPr lang="en-AU" dirty="0"/>
          </a:p>
          <a:p>
            <a:r>
              <a:rPr lang="en-AU" dirty="0"/>
              <a:t>3. Cross-platform compatibility: SQLite is available for various platforms, including Windows, macOS, Linux, Android, and iOS. The database files created on one platform can be easily used on another platform, making it a convenient choice for cross-platform development.</a:t>
            </a:r>
          </a:p>
          <a:p>
            <a:endParaRPr lang="en-AU" dirty="0"/>
          </a:p>
          <a:p>
            <a:r>
              <a:rPr lang="en-AU" dirty="0"/>
              <a:t>4. ACID compliance: SQLite is ACID-compliant, which means it guarantees the consistency and durability of transactions, even in cases of system crashes or power failures. This ensures that your application's data remains consistent and reliable.</a:t>
            </a:r>
          </a:p>
          <a:p>
            <a:endParaRPr lang="en-AU" dirty="0"/>
          </a:p>
          <a:p>
            <a:r>
              <a:rPr lang="en-AU" dirty="0"/>
              <a:t>5. Single file database: SQLite stores the entire database in a single file, making it easy to manage, backup, and transfer. This feature is especially useful for applications that require portability or when the data needs to be shared across different devices.</a:t>
            </a:r>
          </a:p>
          <a:p>
            <a:endParaRPr lang="en-AU" dirty="0"/>
          </a:p>
          <a:p>
            <a:r>
              <a:rPr lang="en-AU" dirty="0"/>
              <a:t>6. Wide language support: SQLite has APIs and bindings available for various programming languages, such as C, C++, Python, Java, JavaScript, Ruby, and more. This makes it easy to integrate SQLite into your applications, regardless of the programming language you are using.</a:t>
            </a:r>
          </a:p>
          <a:p>
            <a:endParaRPr lang="en-AU" dirty="0"/>
          </a:p>
          <a:p>
            <a:r>
              <a:rPr lang="en-AU" dirty="0"/>
              <a:t>7. Good performance: SQLite offers good performance for small to medium-sized applications, making it suitable for use in mobile apps, desktop apps, or as a local storage option for web applications.</a:t>
            </a:r>
          </a:p>
          <a:p>
            <a:endParaRPr lang="en-AU" dirty="0"/>
          </a:p>
          <a:p>
            <a:r>
              <a:rPr lang="en-AU" dirty="0"/>
              <a:t>8. Embedded use: SQLite is often used as an embedded database for applications that require a local storage solution, such as IoT devices, mobile apps, or desktop applications. Its small footprint and minimal dependencies make it a great choice for embedded systems.</a:t>
            </a:r>
          </a:p>
          <a:p>
            <a:endParaRPr lang="en-AU" dirty="0"/>
          </a:p>
          <a:p>
            <a:r>
              <a:rPr lang="en-AU" dirty="0"/>
              <a:t>9. Development and testing: SQLite can be used as a development and testing database, allowing you to prototype and test your applications quickly without the need for setting up and managing a full-fledged database server.</a:t>
            </a:r>
          </a:p>
          <a:p>
            <a:endParaRPr lang="en-AU" dirty="0"/>
          </a:p>
          <a:p>
            <a:r>
              <a:rPr lang="en-AU" dirty="0"/>
              <a:t>While SQLite has many advantages, it may not be the best choice for large-scale applications or applications that require high levels of concurrency or complex data processing. In such cases, a more robust relational database management system (RDBMS) like PostgreSQL, MySQL, or Microsoft SQL Server might be more appropriate. However, for smaller applications or specific use cases, SQLite can be an excellent choice due to its simplicity, ease of use, and minimal overhead.</a:t>
            </a:r>
          </a:p>
        </p:txBody>
      </p:sp>
    </p:spTree>
    <p:extLst>
      <p:ext uri="{BB962C8B-B14F-4D97-AF65-F5344CB8AC3E}">
        <p14:creationId xmlns:p14="http://schemas.microsoft.com/office/powerpoint/2010/main" val="40456520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Here's a simple template demonstrating how to use SQLite3 in Python. This example shows how to create a database, create a table, insert data, query data, update data, and delete data:</a:t>
            </a:r>
          </a:p>
          <a:p>
            <a:endParaRPr lang="en-AU" dirty="0"/>
          </a:p>
          <a:p>
            <a:r>
              <a:rPr lang="en-AU" dirty="0"/>
              <a:t>```python</a:t>
            </a:r>
          </a:p>
          <a:p>
            <a:r>
              <a:rPr lang="en-AU" dirty="0"/>
              <a:t>import sqlite3</a:t>
            </a:r>
          </a:p>
          <a:p>
            <a:endParaRPr lang="en-AU" dirty="0"/>
          </a:p>
          <a:p>
            <a:r>
              <a:rPr lang="en-AU" dirty="0"/>
              <a:t># Connect to a SQLite database file (or create a new one if it doesn't exist)</a:t>
            </a:r>
          </a:p>
          <a:p>
            <a:r>
              <a:rPr lang="en-AU" dirty="0"/>
              <a:t>conn = sqlite3.connect('</a:t>
            </a:r>
            <a:r>
              <a:rPr lang="en-AU" dirty="0" err="1"/>
              <a:t>example.db</a:t>
            </a:r>
            <a:r>
              <a:rPr lang="en-AU" dirty="0"/>
              <a:t>')</a:t>
            </a:r>
          </a:p>
          <a:p>
            <a:endParaRPr lang="en-AU" dirty="0"/>
          </a:p>
          <a:p>
            <a:r>
              <a:rPr lang="en-AU" dirty="0"/>
              <a:t># Create a cursor object to interact with the database</a:t>
            </a:r>
          </a:p>
          <a:p>
            <a:r>
              <a:rPr lang="en-AU" dirty="0"/>
              <a:t>cursor = </a:t>
            </a:r>
            <a:r>
              <a:rPr lang="en-AU" dirty="0" err="1"/>
              <a:t>conn.cursor</a:t>
            </a:r>
            <a:r>
              <a:rPr lang="en-AU" dirty="0"/>
              <a:t>()</a:t>
            </a:r>
          </a:p>
          <a:p>
            <a:endParaRPr lang="en-AU" dirty="0"/>
          </a:p>
          <a:p>
            <a:r>
              <a:rPr lang="en-AU" dirty="0"/>
              <a:t># Create a new table (if it doesn't already exist)</a:t>
            </a:r>
          </a:p>
          <a:p>
            <a:r>
              <a:rPr lang="en-AU" dirty="0" err="1"/>
              <a:t>cursor.execute</a:t>
            </a:r>
            <a:r>
              <a:rPr lang="en-AU" dirty="0"/>
              <a:t>('''</a:t>
            </a:r>
          </a:p>
          <a:p>
            <a:r>
              <a:rPr lang="en-AU" dirty="0"/>
              <a:t>    CREATE TABLE IF NOT EXISTS users (</a:t>
            </a:r>
          </a:p>
          <a:p>
            <a:r>
              <a:rPr lang="en-AU" dirty="0"/>
              <a:t>        id INTEGER PRIMARY KEY,</a:t>
            </a:r>
          </a:p>
          <a:p>
            <a:r>
              <a:rPr lang="en-AU" dirty="0"/>
              <a:t>        name TEXT NOT NULL,</a:t>
            </a:r>
          </a:p>
          <a:p>
            <a:r>
              <a:rPr lang="en-AU" dirty="0"/>
              <a:t>        age INTEGER NOT NULL</a:t>
            </a:r>
          </a:p>
          <a:p>
            <a:r>
              <a:rPr lang="en-AU" dirty="0"/>
              <a:t>    )</a:t>
            </a:r>
          </a:p>
          <a:p>
            <a:r>
              <a:rPr lang="en-AU" dirty="0"/>
              <a:t>''')</a:t>
            </a:r>
          </a:p>
          <a:p>
            <a:endParaRPr lang="en-AU" dirty="0"/>
          </a:p>
          <a:p>
            <a:r>
              <a:rPr lang="en-AU" dirty="0"/>
              <a:t># Insert data into the table</a:t>
            </a:r>
          </a:p>
          <a:p>
            <a:r>
              <a:rPr lang="en-AU" dirty="0" err="1"/>
              <a:t>cursor.execute</a:t>
            </a:r>
            <a:r>
              <a:rPr lang="en-AU" dirty="0"/>
              <a:t>("INSERT INTO users (name, age) VALUES (?, ?)", ("John Doe", 28))</a:t>
            </a:r>
          </a:p>
          <a:p>
            <a:r>
              <a:rPr lang="en-AU" dirty="0" err="1"/>
              <a:t>cursor.execute</a:t>
            </a:r>
            <a:r>
              <a:rPr lang="en-AU" dirty="0"/>
              <a:t>("INSERT INTO users (name, age) VALUES (?, ?)", ("Jane Doe", 32))</a:t>
            </a:r>
          </a:p>
          <a:p>
            <a:endParaRPr lang="en-AU" dirty="0"/>
          </a:p>
          <a:p>
            <a:r>
              <a:rPr lang="en-AU" dirty="0"/>
              <a:t># Commit the changes to the database</a:t>
            </a:r>
          </a:p>
          <a:p>
            <a:r>
              <a:rPr lang="en-AU" dirty="0" err="1"/>
              <a:t>conn.commit</a:t>
            </a:r>
            <a:r>
              <a:rPr lang="en-AU" dirty="0"/>
              <a:t>()</a:t>
            </a:r>
          </a:p>
          <a:p>
            <a:endParaRPr lang="en-AU" dirty="0"/>
          </a:p>
          <a:p>
            <a:r>
              <a:rPr lang="en-AU" dirty="0"/>
              <a:t># Query data from the table</a:t>
            </a:r>
          </a:p>
          <a:p>
            <a:r>
              <a:rPr lang="en-AU" dirty="0" err="1"/>
              <a:t>cursor.execute</a:t>
            </a:r>
            <a:r>
              <a:rPr lang="en-AU" dirty="0"/>
              <a:t>("SELECT * FROM users")</a:t>
            </a:r>
          </a:p>
          <a:p>
            <a:r>
              <a:rPr lang="en-AU" dirty="0"/>
              <a:t>rows = </a:t>
            </a:r>
            <a:r>
              <a:rPr lang="en-AU" dirty="0" err="1"/>
              <a:t>cursor.fetchall</a:t>
            </a:r>
            <a:r>
              <a:rPr lang="en-AU" dirty="0"/>
              <a:t>()</a:t>
            </a:r>
          </a:p>
          <a:p>
            <a:r>
              <a:rPr lang="en-AU" dirty="0"/>
              <a:t>for row in rows:</a:t>
            </a:r>
          </a:p>
          <a:p>
            <a:r>
              <a:rPr lang="en-AU" dirty="0"/>
              <a:t>    print(row)</a:t>
            </a:r>
          </a:p>
          <a:p>
            <a:endParaRPr lang="en-AU" dirty="0"/>
          </a:p>
          <a:p>
            <a:r>
              <a:rPr lang="en-AU" dirty="0"/>
              <a:t># Update data in the table</a:t>
            </a:r>
          </a:p>
          <a:p>
            <a:r>
              <a:rPr lang="en-AU" dirty="0" err="1"/>
              <a:t>cursor.execute</a:t>
            </a:r>
            <a:r>
              <a:rPr lang="en-AU" dirty="0"/>
              <a:t>("UPDATE users SET age = ? WHERE name = ?", (29, "John Doe"))</a:t>
            </a:r>
          </a:p>
          <a:p>
            <a:r>
              <a:rPr lang="en-AU" dirty="0" err="1"/>
              <a:t>conn.commit</a:t>
            </a:r>
            <a:r>
              <a:rPr lang="en-AU" dirty="0"/>
              <a:t>()</a:t>
            </a:r>
          </a:p>
          <a:p>
            <a:endParaRPr lang="en-AU" dirty="0"/>
          </a:p>
          <a:p>
            <a:r>
              <a:rPr lang="en-AU" dirty="0"/>
              <a:t># Delete data from the table</a:t>
            </a:r>
          </a:p>
          <a:p>
            <a:r>
              <a:rPr lang="en-AU" dirty="0" err="1"/>
              <a:t>cursor.execute</a:t>
            </a:r>
            <a:r>
              <a:rPr lang="en-AU" dirty="0"/>
              <a:t>("DELETE FROM users WHERE name = ?", ("Jane Doe",))</a:t>
            </a:r>
          </a:p>
          <a:p>
            <a:r>
              <a:rPr lang="en-AU" dirty="0" err="1"/>
              <a:t>conn.commit</a:t>
            </a:r>
            <a:r>
              <a:rPr lang="en-AU" dirty="0"/>
              <a:t>()</a:t>
            </a:r>
          </a:p>
          <a:p>
            <a:endParaRPr lang="en-AU" dirty="0"/>
          </a:p>
          <a:p>
            <a:r>
              <a:rPr lang="en-AU" dirty="0"/>
              <a:t># Close the cursor and connection to the database</a:t>
            </a:r>
          </a:p>
          <a:p>
            <a:r>
              <a:rPr lang="en-AU" dirty="0" err="1"/>
              <a:t>cursor.close</a:t>
            </a:r>
            <a:r>
              <a:rPr lang="en-AU" dirty="0"/>
              <a:t>()</a:t>
            </a:r>
          </a:p>
          <a:p>
            <a:r>
              <a:rPr lang="en-AU" dirty="0" err="1"/>
              <a:t>conn.close</a:t>
            </a:r>
            <a:r>
              <a:rPr lang="en-AU" dirty="0"/>
              <a:t>()</a:t>
            </a:r>
          </a:p>
          <a:p>
            <a:r>
              <a:rPr lang="en-AU" dirty="0"/>
              <a:t>```</a:t>
            </a:r>
          </a:p>
          <a:p>
            <a:endParaRPr lang="en-AU" dirty="0"/>
          </a:p>
          <a:p>
            <a:r>
              <a:rPr lang="en-AU" dirty="0"/>
              <a:t>This template demonstrates the basic operations you can perform using SQLite3 in Python. You can modify and expand this template based on the requirements of your specific application.</a:t>
            </a:r>
          </a:p>
        </p:txBody>
      </p:sp>
    </p:spTree>
    <p:extLst>
      <p:ext uri="{BB962C8B-B14F-4D97-AF65-F5344CB8AC3E}">
        <p14:creationId xmlns:p14="http://schemas.microsoft.com/office/powerpoint/2010/main" val="20202939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err="1"/>
              <a:t>SQLAlchemy</a:t>
            </a:r>
            <a:r>
              <a:rPr lang="en-AU" dirty="0"/>
              <a:t> is a popular and powerful Object Relational Mapper (ORM) and SQL toolkit for Python. It provides a set of high-level API to communicate with relational databases in an efficient and Pythonic way. </a:t>
            </a:r>
            <a:r>
              <a:rPr lang="en-AU" dirty="0" err="1"/>
              <a:t>SQLAlchemy</a:t>
            </a:r>
            <a:r>
              <a:rPr lang="en-AU" dirty="0"/>
              <a:t> enables developers to work with databases using Python objects and methods instead of writing raw SQL queries. It supports various relational database systems, including PostgreSQL, MySQL, SQLite, Oracle, and Microsoft SQL Server.</a:t>
            </a:r>
          </a:p>
          <a:p>
            <a:endParaRPr lang="en-AU" dirty="0"/>
          </a:p>
          <a:p>
            <a:r>
              <a:rPr lang="en-AU" dirty="0" err="1"/>
              <a:t>SQLAlchemy</a:t>
            </a:r>
            <a:r>
              <a:rPr lang="en-AU" dirty="0"/>
              <a:t> has two main components:</a:t>
            </a:r>
          </a:p>
          <a:p>
            <a:endParaRPr lang="en-AU" dirty="0"/>
          </a:p>
          <a:p>
            <a:r>
              <a:rPr lang="en-AU" dirty="0"/>
              <a:t>1. Core: The </a:t>
            </a:r>
            <a:r>
              <a:rPr lang="en-AU" dirty="0" err="1"/>
              <a:t>SQLAlchemy</a:t>
            </a:r>
            <a:r>
              <a:rPr lang="en-AU" dirty="0"/>
              <a:t> Core provides a low-level SQL expression language that allows you to construct SQL queries in a Pythonic manner. It focuses on schema metadata, SQL expression constructs, and connection pooling. The Core is suitable for developers who prefer to work closer to the SQL level while still benefiting from some abstraction.</a:t>
            </a:r>
          </a:p>
          <a:p>
            <a:endParaRPr lang="en-AU" dirty="0"/>
          </a:p>
          <a:p>
            <a:r>
              <a:rPr lang="en-AU" dirty="0"/>
              <a:t>2. ORM: The </a:t>
            </a:r>
            <a:r>
              <a:rPr lang="en-AU" dirty="0" err="1"/>
              <a:t>SQLAlchemy</a:t>
            </a:r>
            <a:r>
              <a:rPr lang="en-AU" dirty="0"/>
              <a:t> ORM (Object Relational Mapper) is built on top of the Core and provides a higher level of abstraction for working with databases. It allows you to map Python classes to database tables and define relationships between them. With ORM, you can interact with the database using Python objects and methods, which makes the code more readable and maintainable.</a:t>
            </a:r>
          </a:p>
          <a:p>
            <a:endParaRPr lang="en-AU" dirty="0"/>
          </a:p>
          <a:p>
            <a:r>
              <a:rPr lang="en-AU" dirty="0"/>
              <a:t>Some key features of </a:t>
            </a:r>
            <a:r>
              <a:rPr lang="en-AU" dirty="0" err="1"/>
              <a:t>SQLAlchemy</a:t>
            </a:r>
            <a:r>
              <a:rPr lang="en-AU" dirty="0"/>
              <a:t> include:</a:t>
            </a:r>
          </a:p>
          <a:p>
            <a:endParaRPr lang="en-AU" dirty="0"/>
          </a:p>
          <a:p>
            <a:r>
              <a:rPr lang="en-AU" dirty="0"/>
              <a:t>- Abstraction: </a:t>
            </a:r>
            <a:r>
              <a:rPr lang="en-AU" dirty="0" err="1"/>
              <a:t>SQLAlchemy</a:t>
            </a:r>
            <a:r>
              <a:rPr lang="en-AU" dirty="0"/>
              <a:t> abstracts the underlying database system, allowing you to switch between different databases with minimal changes to the application code.</a:t>
            </a:r>
          </a:p>
          <a:p>
            <a:r>
              <a:rPr lang="en-AU" dirty="0"/>
              <a:t>- Flexibility: It provides a flexible and extensible API that can be customized to suit various application requirements and programming styles.</a:t>
            </a:r>
          </a:p>
          <a:p>
            <a:r>
              <a:rPr lang="en-AU" dirty="0"/>
              <a:t>- Transactions and ACID compliance: </a:t>
            </a:r>
            <a:r>
              <a:rPr lang="en-AU" dirty="0" err="1"/>
              <a:t>SQLAlchemy</a:t>
            </a:r>
            <a:r>
              <a:rPr lang="en-AU" dirty="0"/>
              <a:t> supports transactions and ensures ACID compliance, maintaining data consistency and integrity.</a:t>
            </a:r>
          </a:p>
          <a:p>
            <a:r>
              <a:rPr lang="en-AU" dirty="0"/>
              <a:t>- Connection pooling: It includes built-in connection pooling, which helps manage database connections efficiently and improve application performance.</a:t>
            </a:r>
          </a:p>
          <a:p>
            <a:r>
              <a:rPr lang="en-AU" dirty="0"/>
              <a:t>- Lazy loading and eager loading: </a:t>
            </a:r>
            <a:r>
              <a:rPr lang="en-AU" dirty="0" err="1"/>
              <a:t>SQLAlchemy</a:t>
            </a:r>
            <a:r>
              <a:rPr lang="en-AU" dirty="0"/>
              <a:t> supports both lazy and eager loading of related data, giving you control over how and when related data is loaded.</a:t>
            </a:r>
          </a:p>
          <a:p>
            <a:r>
              <a:rPr lang="en-AU" dirty="0"/>
              <a:t>- Extensibility: </a:t>
            </a:r>
            <a:r>
              <a:rPr lang="en-AU" dirty="0" err="1"/>
              <a:t>SQLAlchemy</a:t>
            </a:r>
            <a:r>
              <a:rPr lang="en-AU" dirty="0"/>
              <a:t> is highly extensible, allowing you to create custom data types, query functions, and more.</a:t>
            </a:r>
          </a:p>
          <a:p>
            <a:r>
              <a:rPr lang="en-AU" dirty="0"/>
              <a:t>- Rich query API: It offers a rich query API with various filtering, ordering, and aggregation options, making it easy to construct complex queries.</a:t>
            </a:r>
          </a:p>
          <a:p>
            <a:endParaRPr lang="en-AU" dirty="0"/>
          </a:p>
          <a:p>
            <a:r>
              <a:rPr lang="en-AU" dirty="0" err="1"/>
              <a:t>SQLAlchemy</a:t>
            </a:r>
            <a:r>
              <a:rPr lang="en-AU" dirty="0"/>
              <a:t> is a popular choice among Python developers for building database-driven applications due to its flexibility, ease of use, and powerful features.</a:t>
            </a:r>
          </a:p>
        </p:txBody>
      </p:sp>
    </p:spTree>
    <p:extLst>
      <p:ext uri="{BB962C8B-B14F-4D97-AF65-F5344CB8AC3E}">
        <p14:creationId xmlns:p14="http://schemas.microsoft.com/office/powerpoint/2010/main" val="42595054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914400" eaLnBrk="1" fontAlgn="auto" latinLnBrk="0" hangingPunct="1">
              <a:lnSpc>
                <a:spcPct val="100000"/>
              </a:lnSpc>
              <a:spcBef>
                <a:spcPts val="400"/>
              </a:spcBef>
              <a:spcAft>
                <a:spcPts val="0"/>
              </a:spcAft>
              <a:buClrTx/>
              <a:buSzTx/>
              <a:buFontTx/>
              <a:buNone/>
              <a:tabLst/>
              <a:defRPr/>
            </a:pPr>
            <a:r>
              <a:rPr lang="en-AU" dirty="0"/>
              <a:t>Object serialization is the process of converting complex data structures, such as objects or custom data types, into a format (often a byte stream or a string) that can be easily stored or transmitted. Deserialization is the reverse process, where the serialized data is converted back into the original data structures. Serialization can be used to persist data, but it is not a direct alternative to using databases. However, there are some use cases where object serialization can be an appropriate choice for data storage:</a:t>
            </a:r>
          </a:p>
          <a:p>
            <a:endParaRPr lang="en-AU" dirty="0"/>
          </a:p>
          <a:p>
            <a:r>
              <a:rPr lang="en-AU" dirty="0"/>
              <a:t>1. Small-scale applications: For small applications or simple data storage needs, serialization can be an easy and straightforward solution.</a:t>
            </a:r>
          </a:p>
          <a:p>
            <a:endParaRPr lang="en-AU" dirty="0"/>
          </a:p>
          <a:p>
            <a:r>
              <a:rPr lang="en-AU" dirty="0"/>
              <a:t>2. Data exchange: Serialization is often used for data exchange between different applications, services, or systems, as it allows for easy data representation and transmission.</a:t>
            </a:r>
          </a:p>
          <a:p>
            <a:endParaRPr lang="en-AU" dirty="0"/>
          </a:p>
          <a:p>
            <a:r>
              <a:rPr lang="en-AU" dirty="0"/>
              <a:t>3. Configuration and settings: Serialization can be used to store application configuration or user settings in a human-readable format like JSON, XML, or YAML.</a:t>
            </a:r>
          </a:p>
          <a:p>
            <a:endParaRPr lang="en-AU" dirty="0"/>
          </a:p>
          <a:p>
            <a:r>
              <a:rPr lang="en-AU" dirty="0"/>
              <a:t>4. Caching: Serialized data can be used for caching, where complex data structures are serialized and stored in a cache (like Redis or Memcached) to improve application performance.</a:t>
            </a:r>
          </a:p>
          <a:p>
            <a:endParaRPr lang="en-AU" dirty="0"/>
          </a:p>
          <a:p>
            <a:r>
              <a:rPr lang="en-AU" dirty="0"/>
              <a:t>5. Temporary storage: Serialization can be used for temporary storage or data transfer between different parts of an application.</a:t>
            </a:r>
          </a:p>
          <a:p>
            <a:endParaRPr lang="en-AU" dirty="0"/>
          </a:p>
          <a:p>
            <a:r>
              <a:rPr lang="en-AU" dirty="0"/>
              <a:t>While object serialization can be used to store data, it has some limitations compared to databases, especially when dealing with larger datasets or complex data management requirements:</a:t>
            </a:r>
          </a:p>
          <a:p>
            <a:endParaRPr lang="en-AU" dirty="0"/>
          </a:p>
          <a:p>
            <a:r>
              <a:rPr lang="en-AU" dirty="0"/>
              <a:t>1. Querying and searching: Serialized data is typically not optimized for querying or searching. Databases, on the other hand, are designed for efficient data retrieval and manipulation, allowing you to search, filter, sort, and aggregate data easily.</a:t>
            </a:r>
          </a:p>
          <a:p>
            <a:endParaRPr lang="en-AU" dirty="0"/>
          </a:p>
          <a:p>
            <a:r>
              <a:rPr lang="en-AU" dirty="0"/>
              <a:t>2. Concurrency: Databases are designed to handle concurrent access and modifications to the data. Serialization and deserialization might not be well-suited for handling multiple users or processes trying to access or modify the data simultaneously.</a:t>
            </a:r>
          </a:p>
          <a:p>
            <a:endParaRPr lang="en-AU" dirty="0"/>
          </a:p>
          <a:p>
            <a:r>
              <a:rPr lang="en-AU" dirty="0"/>
              <a:t>3. Data integrity and consistency: Databases, particularly relational databases, enforce data integrity constraints and support transactions to maintain consistency and prevent data anomalies. Serialized data does not inherently offer such features, making it harder to ensure data integrity and consistency.</a:t>
            </a:r>
          </a:p>
          <a:p>
            <a:endParaRPr lang="en-AU" dirty="0"/>
          </a:p>
          <a:p>
            <a:r>
              <a:rPr lang="en-AU" dirty="0"/>
              <a:t>4. Scalability: Databases are built to handle large amounts of data and can be optimized for performance and storage efficiency. Serialized data, especially in text formats like JSON or XML, may consume more storage and can become unwieldy as the data size grows.</a:t>
            </a:r>
          </a:p>
          <a:p>
            <a:endParaRPr lang="en-AU" dirty="0"/>
          </a:p>
          <a:p>
            <a:r>
              <a:rPr lang="en-AU" dirty="0"/>
              <a:t>5. Data security: Databases provide various security features, such as authentication, authorization, encryption, and access control mechanisms, to protect your data. Serialized data may not offer these features by default, and implementing custom security measures can be challenging.</a:t>
            </a:r>
          </a:p>
          <a:p>
            <a:endParaRPr lang="en-AU" dirty="0"/>
          </a:p>
          <a:p>
            <a:r>
              <a:rPr lang="en-AU" dirty="0"/>
              <a:t>6. Indexing: Databases typically support indexing, which can significantly improve query performance. Serialized data usually lacks indexing, making data retrieval less efficient.</a:t>
            </a:r>
          </a:p>
          <a:p>
            <a:endParaRPr lang="en-AU" dirty="0"/>
          </a:p>
          <a:p>
            <a:pPr marL="0" marR="0" lvl="0" indent="0" defTabSz="914400" eaLnBrk="1" fontAlgn="auto" latinLnBrk="0" hangingPunct="1">
              <a:lnSpc>
                <a:spcPct val="100000"/>
              </a:lnSpc>
              <a:spcBef>
                <a:spcPts val="400"/>
              </a:spcBef>
              <a:spcAft>
                <a:spcPts val="0"/>
              </a:spcAft>
              <a:buClrTx/>
              <a:buSzTx/>
              <a:buFontTx/>
              <a:buNone/>
              <a:tabLst/>
              <a:defRPr/>
            </a:pPr>
            <a:r>
              <a:rPr lang="en-AU" dirty="0"/>
              <a:t>In summary, object serialization can be used for certain data storage scenarios, but it is not a direct alternative to databases. Depending on your application's requirements, you might choose to use a combination of databases and object serialization to handle different aspects of data storage and management.</a:t>
            </a:r>
          </a:p>
          <a:p>
            <a:endParaRPr lang="en-AU" dirty="0"/>
          </a:p>
          <a:p>
            <a:endParaRPr lang="en-AU" dirty="0"/>
          </a:p>
        </p:txBody>
      </p:sp>
    </p:spTree>
    <p:extLst>
      <p:ext uri="{BB962C8B-B14F-4D97-AF65-F5344CB8AC3E}">
        <p14:creationId xmlns:p14="http://schemas.microsoft.com/office/powerpoint/2010/main" val="34714048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Tree>
    <p:extLst>
      <p:ext uri="{BB962C8B-B14F-4D97-AF65-F5344CB8AC3E}">
        <p14:creationId xmlns:p14="http://schemas.microsoft.com/office/powerpoint/2010/main" val="17262627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cSld name="One-line title">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4" name="Rectangle"/>
          <p:cNvSpPr/>
          <p:nvPr/>
        </p:nvSpPr>
        <p:spPr>
          <a:xfrm>
            <a:off x="0" y="4000503"/>
            <a:ext cx="6624638" cy="346078"/>
          </a:xfrm>
          <a:prstGeom prst="rect">
            <a:avLst/>
          </a:prstGeom>
          <a:solidFill>
            <a:srgbClr val="000000"/>
          </a:solidFill>
          <a:ln w="12700">
            <a:miter lim="400000"/>
          </a:ln>
        </p:spPr>
        <p:txBody>
          <a:bodyPr lIns="45718" tIns="45718" rIns="45718" bIns="45718" anchor="ctr"/>
          <a:lstStyle/>
          <a:p>
            <a:pPr algn="r">
              <a:spcBef>
                <a:spcPts val="1000"/>
              </a:spcBef>
              <a:defRPr sz="1600">
                <a:solidFill>
                  <a:schemeClr val="accent1"/>
                </a:solidFill>
                <a:latin typeface="+mj-lt"/>
                <a:ea typeface="+mj-ea"/>
                <a:cs typeface="+mj-cs"/>
                <a:sym typeface="Arial"/>
              </a:defRPr>
            </a:pPr>
            <a:endParaRPr/>
          </a:p>
        </p:txBody>
      </p:sp>
      <p:sp>
        <p:nvSpPr>
          <p:cNvPr id="15" name="Body Level One…"/>
          <p:cNvSpPr txBox="1">
            <a:spLocks noGrp="1"/>
          </p:cNvSpPr>
          <p:nvPr>
            <p:ph type="body" sz="quarter" idx="1"/>
          </p:nvPr>
        </p:nvSpPr>
        <p:spPr>
          <a:xfrm>
            <a:off x="0" y="4000503"/>
            <a:ext cx="5211763" cy="346078"/>
          </a:xfrm>
          <a:prstGeom prst="rect">
            <a:avLst/>
          </a:prstGeom>
        </p:spPr>
        <p:txBody>
          <a:bodyPr anchor="ctr"/>
          <a:lstStyle>
            <a:lvl1pPr marL="0" indent="0">
              <a:lnSpc>
                <a:spcPct val="100000"/>
              </a:lnSpc>
              <a:spcBef>
                <a:spcPts val="900"/>
              </a:spcBef>
              <a:buClrTx/>
              <a:buSzTx/>
              <a:buNone/>
              <a:defRPr sz="1600" b="1">
                <a:solidFill>
                  <a:srgbClr val="FFFFFF"/>
                </a:solidFill>
              </a:defRPr>
            </a:lvl1pPr>
            <a:lvl2pPr indent="0">
              <a:lnSpc>
                <a:spcPct val="100000"/>
              </a:lnSpc>
              <a:spcBef>
                <a:spcPts val="900"/>
              </a:spcBef>
              <a:buClrTx/>
              <a:buFontTx/>
              <a:defRPr sz="1600" b="1">
                <a:solidFill>
                  <a:srgbClr val="FFFFFF"/>
                </a:solidFill>
              </a:defRPr>
            </a:lvl2pPr>
            <a:lvl3pPr indent="0">
              <a:lnSpc>
                <a:spcPct val="100000"/>
              </a:lnSpc>
              <a:spcBef>
                <a:spcPts val="900"/>
              </a:spcBef>
              <a:buClrTx/>
              <a:buFontTx/>
              <a:defRPr sz="1600" b="1">
                <a:solidFill>
                  <a:srgbClr val="FFFFFF"/>
                </a:solidFill>
              </a:defRPr>
            </a:lvl3pPr>
            <a:lvl4pPr indent="0">
              <a:lnSpc>
                <a:spcPct val="100000"/>
              </a:lnSpc>
              <a:spcBef>
                <a:spcPts val="900"/>
              </a:spcBef>
              <a:buClrTx/>
              <a:buFontTx/>
              <a:defRPr sz="1600" b="1">
                <a:solidFill>
                  <a:srgbClr val="FFFFFF"/>
                </a:solidFill>
              </a:defRPr>
            </a:lvl4pPr>
            <a:lvl5pPr indent="0">
              <a:lnSpc>
                <a:spcPct val="100000"/>
              </a:lnSpc>
              <a:spcBef>
                <a:spcPts val="900"/>
              </a:spcBef>
              <a:buClrTx/>
              <a:buFontTx/>
              <a:defRPr sz="1600" b="1">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16"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sp>
        <p:nvSpPr>
          <p:cNvPr id="17" name="Title Text"/>
          <p:cNvSpPr txBox="1">
            <a:spLocks noGrp="1"/>
          </p:cNvSpPr>
          <p:nvPr>
            <p:ph type="title"/>
          </p:nvPr>
        </p:nvSpPr>
        <p:spPr>
          <a:xfrm>
            <a:off x="0" y="3214684"/>
            <a:ext cx="5760000" cy="786166"/>
          </a:xfrm>
          <a:prstGeom prst="rect">
            <a:avLst/>
          </a:prstGeom>
          <a:solidFill>
            <a:schemeClr val="accent1"/>
          </a:solidFill>
        </p:spPr>
        <p:txBody>
          <a:bodyPr anchor="b"/>
          <a:lstStyle>
            <a:lvl1pPr>
              <a:defRPr sz="4400">
                <a:solidFill>
                  <a:srgbClr val="FFFFFF"/>
                </a:solidFill>
              </a:defRPr>
            </a:lvl1pPr>
          </a:lstStyle>
          <a:p>
            <a:r>
              <a:t>Title Text</a:t>
            </a:r>
          </a:p>
        </p:txBody>
      </p:sp>
      <p:sp>
        <p:nvSpPr>
          <p:cNvPr id="18"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One-line title, transparent">
    <p:spTree>
      <p:nvGrpSpPr>
        <p:cNvPr id="1" name=""/>
        <p:cNvGrpSpPr/>
        <p:nvPr/>
      </p:nvGrpSpPr>
      <p:grpSpPr>
        <a:xfrm>
          <a:off x="0" y="0"/>
          <a:ext cx="0" cy="0"/>
          <a:chOff x="0" y="0"/>
          <a:chExt cx="0" cy="0"/>
        </a:xfrm>
      </p:grpSpPr>
      <p:pic>
        <p:nvPicPr>
          <p:cNvPr id="25" name="curtinPowerPointBGTitle" descr="curtinPowerPointBGTitle"/>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26" name="Rectangle"/>
          <p:cNvSpPr/>
          <p:nvPr/>
        </p:nvSpPr>
        <p:spPr>
          <a:xfrm>
            <a:off x="0" y="5063734"/>
            <a:ext cx="6624638" cy="346078"/>
          </a:xfrm>
          <a:prstGeom prst="rect">
            <a:avLst/>
          </a:prstGeom>
          <a:solidFill>
            <a:srgbClr val="000000"/>
          </a:solidFill>
          <a:ln w="12700">
            <a:miter lim="400000"/>
          </a:ln>
        </p:spPr>
        <p:txBody>
          <a:bodyPr lIns="45718" tIns="45718" rIns="45718" bIns="45718" anchor="ctr"/>
          <a:lstStyle/>
          <a:p>
            <a:pPr algn="r">
              <a:spcBef>
                <a:spcPts val="1000"/>
              </a:spcBef>
              <a:defRPr sz="1600">
                <a:solidFill>
                  <a:schemeClr val="accent1"/>
                </a:solidFill>
                <a:latin typeface="+mj-lt"/>
                <a:ea typeface="+mj-ea"/>
                <a:cs typeface="+mj-cs"/>
                <a:sym typeface="Arial"/>
              </a:defRPr>
            </a:pPr>
            <a:endParaRPr/>
          </a:p>
        </p:txBody>
      </p:sp>
      <p:sp>
        <p:nvSpPr>
          <p:cNvPr id="27" name="Body Level One…"/>
          <p:cNvSpPr txBox="1">
            <a:spLocks noGrp="1"/>
          </p:cNvSpPr>
          <p:nvPr>
            <p:ph type="body" sz="quarter" idx="1"/>
          </p:nvPr>
        </p:nvSpPr>
        <p:spPr>
          <a:xfrm>
            <a:off x="92818" y="5054603"/>
            <a:ext cx="5211763" cy="346078"/>
          </a:xfrm>
          <a:prstGeom prst="rect">
            <a:avLst/>
          </a:prstGeom>
        </p:spPr>
        <p:txBody>
          <a:bodyPr anchor="ctr"/>
          <a:lstStyle>
            <a:lvl1pPr marL="0" indent="0">
              <a:lnSpc>
                <a:spcPct val="100000"/>
              </a:lnSpc>
              <a:spcBef>
                <a:spcPts val="900"/>
              </a:spcBef>
              <a:buClrTx/>
              <a:buSzTx/>
              <a:buNone/>
              <a:defRPr sz="1600" b="1">
                <a:solidFill>
                  <a:srgbClr val="FFFFFF"/>
                </a:solidFill>
              </a:defRPr>
            </a:lvl1pPr>
            <a:lvl2pPr indent="0">
              <a:lnSpc>
                <a:spcPct val="100000"/>
              </a:lnSpc>
              <a:spcBef>
                <a:spcPts val="900"/>
              </a:spcBef>
              <a:buClrTx/>
              <a:buFontTx/>
              <a:defRPr sz="1600" b="1">
                <a:solidFill>
                  <a:srgbClr val="FFFFFF"/>
                </a:solidFill>
              </a:defRPr>
            </a:lvl2pPr>
            <a:lvl3pPr indent="0">
              <a:lnSpc>
                <a:spcPct val="100000"/>
              </a:lnSpc>
              <a:spcBef>
                <a:spcPts val="900"/>
              </a:spcBef>
              <a:buClrTx/>
              <a:buFontTx/>
              <a:defRPr sz="1600" b="1">
                <a:solidFill>
                  <a:srgbClr val="FFFFFF"/>
                </a:solidFill>
              </a:defRPr>
            </a:lvl3pPr>
            <a:lvl4pPr indent="0">
              <a:lnSpc>
                <a:spcPct val="100000"/>
              </a:lnSpc>
              <a:spcBef>
                <a:spcPts val="900"/>
              </a:spcBef>
              <a:buClrTx/>
              <a:buFontTx/>
              <a:defRPr sz="1600" b="1">
                <a:solidFill>
                  <a:srgbClr val="FFFFFF"/>
                </a:solidFill>
              </a:defRPr>
            </a:lvl4pPr>
            <a:lvl5pPr indent="0">
              <a:lnSpc>
                <a:spcPct val="100000"/>
              </a:lnSpc>
              <a:spcBef>
                <a:spcPts val="900"/>
              </a:spcBef>
              <a:buClrTx/>
              <a:buFontTx/>
              <a:defRPr sz="1600" b="1">
                <a:solidFill>
                  <a:srgbClr val="FFFFFF"/>
                </a:solidFill>
              </a:defRPr>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28"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defRPr sz="600">
                <a:solidFill>
                  <a:srgbClr val="000000"/>
                </a:solidFill>
                <a:latin typeface="+mj-lt"/>
                <a:ea typeface="+mj-ea"/>
                <a:cs typeface="+mj-cs"/>
                <a:sym typeface="Arial"/>
              </a:defRPr>
            </a:pPr>
            <a:r>
              <a:t>Curtin University is a trademark of Curtin University of Technology</a:t>
            </a:r>
          </a:p>
          <a:p>
            <a:pPr>
              <a:defRPr sz="600">
                <a:solidFill>
                  <a:srgbClr val="000000"/>
                </a:solidFill>
                <a:latin typeface="+mj-lt"/>
                <a:ea typeface="+mj-ea"/>
                <a:cs typeface="+mj-cs"/>
                <a:sym typeface="Arial"/>
              </a:defRPr>
            </a:pPr>
            <a:r>
              <a:t>CRICOS Provider Code 00301J</a:t>
            </a:r>
          </a:p>
        </p:txBody>
      </p:sp>
      <p:sp>
        <p:nvSpPr>
          <p:cNvPr id="29" name="Title Text"/>
          <p:cNvSpPr txBox="1">
            <a:spLocks noGrp="1"/>
          </p:cNvSpPr>
          <p:nvPr>
            <p:ph type="title"/>
          </p:nvPr>
        </p:nvSpPr>
        <p:spPr>
          <a:xfrm>
            <a:off x="0" y="4268437"/>
            <a:ext cx="5760000" cy="786166"/>
          </a:xfrm>
          <a:prstGeom prst="rect">
            <a:avLst/>
          </a:prstGeom>
          <a:solidFill>
            <a:schemeClr val="accent1">
              <a:alpha val="80000"/>
            </a:schemeClr>
          </a:solidFill>
        </p:spPr>
        <p:txBody>
          <a:bodyPr anchor="b"/>
          <a:lstStyle>
            <a:lvl1pPr>
              <a:defRPr sz="4400">
                <a:solidFill>
                  <a:srgbClr val="FFFFFF"/>
                </a:solidFill>
              </a:defRPr>
            </a:lvl1pPr>
          </a:lstStyle>
          <a:p>
            <a:r>
              <a:t>Title Text</a:t>
            </a: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Two-line title">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37" name="Rectangle"/>
          <p:cNvSpPr/>
          <p:nvPr/>
        </p:nvSpPr>
        <p:spPr>
          <a:xfrm>
            <a:off x="0" y="4429130"/>
            <a:ext cx="6624638" cy="346078"/>
          </a:xfrm>
          <a:prstGeom prst="rect">
            <a:avLst/>
          </a:prstGeom>
          <a:solidFill>
            <a:srgbClr val="000000"/>
          </a:solidFill>
          <a:ln w="12700">
            <a:miter lim="400000"/>
          </a:ln>
        </p:spPr>
        <p:txBody>
          <a:bodyPr lIns="45718" tIns="45718" rIns="45718" bIns="45718" anchor="ctr"/>
          <a:lstStyle/>
          <a:p>
            <a:pPr algn="r">
              <a:spcBef>
                <a:spcPts val="1000"/>
              </a:spcBef>
              <a:defRPr sz="1600">
                <a:solidFill>
                  <a:schemeClr val="accent1"/>
                </a:solidFill>
                <a:latin typeface="+mj-lt"/>
                <a:ea typeface="+mj-ea"/>
                <a:cs typeface="+mj-cs"/>
                <a:sym typeface="Arial"/>
              </a:defRPr>
            </a:pPr>
            <a:endParaRPr/>
          </a:p>
        </p:txBody>
      </p:sp>
      <p:sp>
        <p:nvSpPr>
          <p:cNvPr id="38" name="Body Level One…"/>
          <p:cNvSpPr txBox="1">
            <a:spLocks noGrp="1"/>
          </p:cNvSpPr>
          <p:nvPr>
            <p:ph type="body" sz="quarter" idx="1"/>
          </p:nvPr>
        </p:nvSpPr>
        <p:spPr>
          <a:xfrm>
            <a:off x="0" y="4429130"/>
            <a:ext cx="5211763" cy="346078"/>
          </a:xfrm>
          <a:prstGeom prst="rect">
            <a:avLst/>
          </a:prstGeom>
        </p:spPr>
        <p:txBody>
          <a:bodyPr anchor="ctr"/>
          <a:lstStyle>
            <a:lvl1pPr marL="0" indent="0">
              <a:lnSpc>
                <a:spcPct val="100000"/>
              </a:lnSpc>
              <a:spcBef>
                <a:spcPts val="900"/>
              </a:spcBef>
              <a:buClrTx/>
              <a:buSzTx/>
              <a:buNone/>
              <a:defRPr sz="1600" b="1">
                <a:solidFill>
                  <a:srgbClr val="FFFFFF"/>
                </a:solidFill>
              </a:defRPr>
            </a:lvl1pPr>
            <a:lvl2pPr indent="0">
              <a:lnSpc>
                <a:spcPct val="100000"/>
              </a:lnSpc>
              <a:spcBef>
                <a:spcPts val="900"/>
              </a:spcBef>
              <a:buClrTx/>
              <a:buFontTx/>
              <a:defRPr sz="1600" b="1">
                <a:solidFill>
                  <a:srgbClr val="FFFFFF"/>
                </a:solidFill>
              </a:defRPr>
            </a:lvl2pPr>
            <a:lvl3pPr indent="0">
              <a:lnSpc>
                <a:spcPct val="100000"/>
              </a:lnSpc>
              <a:spcBef>
                <a:spcPts val="900"/>
              </a:spcBef>
              <a:buClrTx/>
              <a:buFontTx/>
              <a:defRPr sz="1600" b="1">
                <a:solidFill>
                  <a:srgbClr val="FFFFFF"/>
                </a:solidFill>
              </a:defRPr>
            </a:lvl3pPr>
            <a:lvl4pPr indent="0">
              <a:lnSpc>
                <a:spcPct val="100000"/>
              </a:lnSpc>
              <a:spcBef>
                <a:spcPts val="900"/>
              </a:spcBef>
              <a:buClrTx/>
              <a:buFontTx/>
              <a:defRPr sz="1600" b="1">
                <a:solidFill>
                  <a:srgbClr val="FFFFFF"/>
                </a:solidFill>
              </a:defRPr>
            </a:lvl4pPr>
            <a:lvl5pPr indent="0">
              <a:lnSpc>
                <a:spcPct val="100000"/>
              </a:lnSpc>
              <a:spcBef>
                <a:spcPts val="900"/>
              </a:spcBef>
              <a:buClrTx/>
              <a:buFontTx/>
              <a:defRPr sz="1600" b="1">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39"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sp>
        <p:nvSpPr>
          <p:cNvPr id="40" name="Title Text"/>
          <p:cNvSpPr txBox="1">
            <a:spLocks noGrp="1"/>
          </p:cNvSpPr>
          <p:nvPr>
            <p:ph type="title"/>
          </p:nvPr>
        </p:nvSpPr>
        <p:spPr>
          <a:xfrm>
            <a:off x="0" y="2857493"/>
            <a:ext cx="5760000" cy="786166"/>
          </a:xfrm>
          <a:prstGeom prst="rect">
            <a:avLst/>
          </a:prstGeom>
          <a:solidFill>
            <a:schemeClr val="accent1"/>
          </a:solidFill>
        </p:spPr>
        <p:txBody>
          <a:bodyPr anchor="b"/>
          <a:lstStyle>
            <a:lvl1pPr>
              <a:defRPr sz="4400">
                <a:solidFill>
                  <a:srgbClr val="FFFFFF"/>
                </a:solidFill>
              </a:defRPr>
            </a:lvl1pPr>
          </a:lstStyle>
          <a:p>
            <a:r>
              <a:t>Title Text</a:t>
            </a:r>
          </a:p>
        </p:txBody>
      </p:sp>
      <p:sp>
        <p:nvSpPr>
          <p:cNvPr id="41" name="CHANGE IN MASTER"/>
          <p:cNvSpPr/>
          <p:nvPr/>
        </p:nvSpPr>
        <p:spPr>
          <a:xfrm>
            <a:off x="-3" y="3812756"/>
            <a:ext cx="5601247" cy="616720"/>
          </a:xfrm>
          <a:prstGeom prst="rect">
            <a:avLst/>
          </a:prstGeom>
          <a:solidFill>
            <a:schemeClr val="accent1"/>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nchor="b">
            <a:spAutoFit/>
          </a:bodyPr>
          <a:lstStyle>
            <a:lvl1pPr>
              <a:defRPr sz="4400">
                <a:solidFill>
                  <a:srgbClr val="FFFFFF"/>
                </a:solidFill>
                <a:latin typeface="+mj-lt"/>
                <a:ea typeface="+mj-ea"/>
                <a:cs typeface="+mj-cs"/>
                <a:sym typeface="Arial"/>
              </a:defRPr>
            </a:lvl1pPr>
          </a:lstStyle>
          <a:p>
            <a:r>
              <a:t>CHANGE IN MASTER</a:t>
            </a:r>
          </a:p>
        </p:txBody>
      </p:sp>
      <p:sp>
        <p:nvSpPr>
          <p:cNvPr id="42"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Two-line title, transparent">
    <p:spTree>
      <p:nvGrpSpPr>
        <p:cNvPr id="1" name=""/>
        <p:cNvGrpSpPr/>
        <p:nvPr/>
      </p:nvGrpSpPr>
      <p:grpSpPr>
        <a:xfrm>
          <a:off x="0" y="0"/>
          <a:ext cx="0" cy="0"/>
          <a:chOff x="0" y="0"/>
          <a:chExt cx="0" cy="0"/>
        </a:xfrm>
      </p:grpSpPr>
      <p:pic>
        <p:nvPicPr>
          <p:cNvPr id="49" name="curtinPowerPointBGTitle" descr="curtinPowerPointBGTitle"/>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50"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sp>
        <p:nvSpPr>
          <p:cNvPr id="51" name="Rectangle"/>
          <p:cNvSpPr/>
          <p:nvPr/>
        </p:nvSpPr>
        <p:spPr>
          <a:xfrm>
            <a:off x="0" y="4429130"/>
            <a:ext cx="6624638" cy="346078"/>
          </a:xfrm>
          <a:prstGeom prst="rect">
            <a:avLst/>
          </a:prstGeom>
          <a:solidFill>
            <a:srgbClr val="000000"/>
          </a:solidFill>
          <a:ln w="12700">
            <a:miter lim="400000"/>
          </a:ln>
        </p:spPr>
        <p:txBody>
          <a:bodyPr lIns="45718" tIns="45718" rIns="45718" bIns="45718" anchor="ctr"/>
          <a:lstStyle/>
          <a:p>
            <a:pPr algn="r">
              <a:spcBef>
                <a:spcPts val="1000"/>
              </a:spcBef>
              <a:defRPr sz="1600">
                <a:solidFill>
                  <a:schemeClr val="accent1"/>
                </a:solidFill>
                <a:latin typeface="+mj-lt"/>
                <a:ea typeface="+mj-ea"/>
                <a:cs typeface="+mj-cs"/>
                <a:sym typeface="Arial"/>
              </a:defRPr>
            </a:pPr>
            <a:endParaRPr/>
          </a:p>
        </p:txBody>
      </p:sp>
      <p:sp>
        <p:nvSpPr>
          <p:cNvPr id="52" name="Body Level One…"/>
          <p:cNvSpPr txBox="1">
            <a:spLocks noGrp="1"/>
          </p:cNvSpPr>
          <p:nvPr>
            <p:ph type="body" sz="quarter" idx="1"/>
          </p:nvPr>
        </p:nvSpPr>
        <p:spPr>
          <a:xfrm>
            <a:off x="0" y="4429130"/>
            <a:ext cx="5211763" cy="346078"/>
          </a:xfrm>
          <a:prstGeom prst="rect">
            <a:avLst/>
          </a:prstGeom>
        </p:spPr>
        <p:txBody>
          <a:bodyPr anchor="ctr"/>
          <a:lstStyle>
            <a:lvl1pPr marL="0" indent="0">
              <a:lnSpc>
                <a:spcPct val="100000"/>
              </a:lnSpc>
              <a:spcBef>
                <a:spcPts val="900"/>
              </a:spcBef>
              <a:buClrTx/>
              <a:buSzTx/>
              <a:buNone/>
              <a:defRPr sz="1600" b="1">
                <a:solidFill>
                  <a:srgbClr val="FFFFFF"/>
                </a:solidFill>
              </a:defRPr>
            </a:lvl1pPr>
            <a:lvl2pPr indent="0">
              <a:lnSpc>
                <a:spcPct val="100000"/>
              </a:lnSpc>
              <a:spcBef>
                <a:spcPts val="900"/>
              </a:spcBef>
              <a:buClrTx/>
              <a:buFontTx/>
              <a:defRPr sz="1600" b="1">
                <a:solidFill>
                  <a:srgbClr val="FFFFFF"/>
                </a:solidFill>
              </a:defRPr>
            </a:lvl2pPr>
            <a:lvl3pPr indent="0">
              <a:lnSpc>
                <a:spcPct val="100000"/>
              </a:lnSpc>
              <a:spcBef>
                <a:spcPts val="900"/>
              </a:spcBef>
              <a:buClrTx/>
              <a:buFontTx/>
              <a:defRPr sz="1600" b="1">
                <a:solidFill>
                  <a:srgbClr val="FFFFFF"/>
                </a:solidFill>
              </a:defRPr>
            </a:lvl3pPr>
            <a:lvl4pPr indent="0">
              <a:lnSpc>
                <a:spcPct val="100000"/>
              </a:lnSpc>
              <a:spcBef>
                <a:spcPts val="900"/>
              </a:spcBef>
              <a:buClrTx/>
              <a:buFontTx/>
              <a:defRPr sz="1600" b="1">
                <a:solidFill>
                  <a:srgbClr val="FFFFFF"/>
                </a:solidFill>
              </a:defRPr>
            </a:lvl4pPr>
            <a:lvl5pPr indent="0">
              <a:lnSpc>
                <a:spcPct val="100000"/>
              </a:lnSpc>
              <a:spcBef>
                <a:spcPts val="900"/>
              </a:spcBef>
              <a:buClrTx/>
              <a:buFontTx/>
              <a:defRPr sz="1600" b="1">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53" name="Title Text"/>
          <p:cNvSpPr txBox="1">
            <a:spLocks noGrp="1"/>
          </p:cNvSpPr>
          <p:nvPr>
            <p:ph type="title"/>
          </p:nvPr>
        </p:nvSpPr>
        <p:spPr>
          <a:xfrm>
            <a:off x="0" y="2857493"/>
            <a:ext cx="5760000" cy="786166"/>
          </a:xfrm>
          <a:prstGeom prst="rect">
            <a:avLst/>
          </a:prstGeom>
          <a:solidFill>
            <a:schemeClr val="accent1">
              <a:alpha val="80000"/>
            </a:schemeClr>
          </a:solidFill>
        </p:spPr>
        <p:txBody>
          <a:bodyPr anchor="b"/>
          <a:lstStyle>
            <a:lvl1pPr>
              <a:defRPr sz="4400">
                <a:solidFill>
                  <a:srgbClr val="FFFFFF"/>
                </a:solidFill>
              </a:defRPr>
            </a:lvl1pPr>
          </a:lstStyle>
          <a:p>
            <a:r>
              <a:t>Title Text</a:t>
            </a:r>
          </a:p>
        </p:txBody>
      </p:sp>
      <p:sp>
        <p:nvSpPr>
          <p:cNvPr id="54" name="CHANGE IN MASTER"/>
          <p:cNvSpPr/>
          <p:nvPr/>
        </p:nvSpPr>
        <p:spPr>
          <a:xfrm>
            <a:off x="-3" y="3812756"/>
            <a:ext cx="5601247" cy="616720"/>
          </a:xfrm>
          <a:prstGeom prst="rect">
            <a:avLst/>
          </a:prstGeom>
          <a:solidFill>
            <a:schemeClr val="accent1">
              <a:alpha val="80000"/>
            </a:schemeClr>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nchor="b">
            <a:spAutoFit/>
          </a:bodyPr>
          <a:lstStyle>
            <a:lvl1pPr>
              <a:defRPr sz="4400">
                <a:solidFill>
                  <a:srgbClr val="FFFFFF"/>
                </a:solidFill>
                <a:latin typeface="+mj-lt"/>
                <a:ea typeface="+mj-ea"/>
                <a:cs typeface="+mj-cs"/>
                <a:sym typeface="Arial"/>
              </a:defRPr>
            </a:lvl1pPr>
          </a:lstStyle>
          <a:p>
            <a:r>
              <a:t>CHANGE IN MASTER</a:t>
            </a:r>
          </a:p>
        </p:txBody>
      </p:sp>
      <p:sp>
        <p:nvSpPr>
          <p:cNvPr id="55"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62" name="Title Text"/>
          <p:cNvSpPr txBox="1">
            <a:spLocks noGrp="1"/>
          </p:cNvSpPr>
          <p:nvPr>
            <p:ph type="title"/>
          </p:nvPr>
        </p:nvSpPr>
        <p:spPr>
          <a:prstGeom prst="rect">
            <a:avLst/>
          </a:prstGeom>
        </p:spPr>
        <p:txBody>
          <a:bodyPr/>
          <a:lstStyle/>
          <a:p>
            <a:r>
              <a:t>Title Text</a:t>
            </a:r>
          </a:p>
        </p:txBody>
      </p:sp>
      <p:sp>
        <p:nvSpPr>
          <p:cNvPr id="63"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64" name="Slide Number"/>
          <p:cNvSpPr txBox="1">
            <a:spLocks noGrp="1"/>
          </p:cNvSpPr>
          <p:nvPr>
            <p:ph type="sldNum" sz="quarter" idx="2"/>
          </p:nvPr>
        </p:nvSpPr>
        <p:spPr>
          <a:xfrm>
            <a:off x="4419600" y="6172200"/>
            <a:ext cx="2133600" cy="3683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Section Header">
    <p:spTree>
      <p:nvGrpSpPr>
        <p:cNvPr id="1" name=""/>
        <p:cNvGrpSpPr/>
        <p:nvPr/>
      </p:nvGrpSpPr>
      <p:grpSpPr>
        <a:xfrm>
          <a:off x="0" y="0"/>
          <a:ext cx="0" cy="0"/>
          <a:chOff x="0" y="0"/>
          <a:chExt cx="0" cy="0"/>
        </a:xfrm>
      </p:grpSpPr>
      <p:sp>
        <p:nvSpPr>
          <p:cNvPr id="71"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72"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73" name="Title Text"/>
          <p:cNvSpPr txBox="1">
            <a:spLocks noGrp="1"/>
          </p:cNvSpPr>
          <p:nvPr>
            <p:ph type="title"/>
          </p:nvPr>
        </p:nvSpPr>
        <p:spPr>
          <a:xfrm>
            <a:off x="722312" y="4406900"/>
            <a:ext cx="7772401" cy="1362075"/>
          </a:xfrm>
          <a:prstGeom prst="rect">
            <a:avLst/>
          </a:prstGeom>
        </p:spPr>
        <p:txBody>
          <a:bodyPr/>
          <a:lstStyle>
            <a:lvl1pPr>
              <a:defRPr sz="4000" b="1" cap="all"/>
            </a:lvl1pPr>
          </a:lstStyle>
          <a:p>
            <a:r>
              <a:t>Title Text</a:t>
            </a:r>
          </a:p>
        </p:txBody>
      </p:sp>
      <p:sp>
        <p:nvSpPr>
          <p:cNvPr id="74" name="Body Level One…"/>
          <p:cNvSpPr txBox="1">
            <a:spLocks noGrp="1"/>
          </p:cNvSpPr>
          <p:nvPr>
            <p:ph type="body" sz="quarter" idx="1"/>
          </p:nvPr>
        </p:nvSpPr>
        <p:spPr>
          <a:xfrm>
            <a:off x="722312" y="2906713"/>
            <a:ext cx="7772401" cy="1500190"/>
          </a:xfrm>
          <a:prstGeom prst="rect">
            <a:avLst/>
          </a:prstGeom>
        </p:spPr>
        <p:txBody>
          <a:bodyPr anchor="b"/>
          <a:lstStyle>
            <a:lvl1pPr marL="0" indent="0">
              <a:spcBef>
                <a:spcPts val="700"/>
              </a:spcBef>
              <a:buClrTx/>
              <a:buSzTx/>
              <a:buNone/>
              <a:defRPr sz="2000"/>
            </a:lvl1pPr>
            <a:lvl2pPr indent="0">
              <a:spcBef>
                <a:spcPts val="700"/>
              </a:spcBef>
              <a:buClrTx/>
              <a:buFontTx/>
              <a:defRPr sz="2000"/>
            </a:lvl2pPr>
            <a:lvl3pPr indent="0">
              <a:spcBef>
                <a:spcPts val="700"/>
              </a:spcBef>
              <a:buClrTx/>
              <a:buFontTx/>
              <a:defRPr sz="2000"/>
            </a:lvl3pPr>
            <a:lvl4pPr indent="0">
              <a:spcBef>
                <a:spcPts val="700"/>
              </a:spcBef>
              <a:buClrTx/>
              <a:buFontTx/>
              <a:defRPr sz="2000"/>
            </a:lvl4pPr>
            <a:lvl5pPr indent="0">
              <a:spcBef>
                <a:spcPts val="700"/>
              </a:spcBef>
              <a:buClrTx/>
              <a:buFontTx/>
              <a:defRPr sz="2000"/>
            </a:lvl5pPr>
          </a:lstStyle>
          <a:p>
            <a:r>
              <a:t>Body Level One</a:t>
            </a:r>
          </a:p>
          <a:p>
            <a:pPr lvl="1"/>
            <a:r>
              <a:t>Body Level Two</a:t>
            </a:r>
          </a:p>
          <a:p>
            <a:pPr lvl="2"/>
            <a:r>
              <a:t>Body Level Three</a:t>
            </a:r>
          </a:p>
          <a:p>
            <a:pPr lvl="3"/>
            <a:r>
              <a:t>Body Level Four</a:t>
            </a:r>
          </a:p>
          <a:p>
            <a:pPr lvl="4"/>
            <a:r>
              <a:t>Body Level Five</a:t>
            </a:r>
          </a:p>
        </p:txBody>
      </p:sp>
      <p:sp>
        <p:nvSpPr>
          <p:cNvPr id="75"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Two Content">
    <p:spTree>
      <p:nvGrpSpPr>
        <p:cNvPr id="1" name=""/>
        <p:cNvGrpSpPr/>
        <p:nvPr/>
      </p:nvGrpSpPr>
      <p:grpSpPr>
        <a:xfrm>
          <a:off x="0" y="0"/>
          <a:ext cx="0" cy="0"/>
          <a:chOff x="0" y="0"/>
          <a:chExt cx="0" cy="0"/>
        </a:xfrm>
      </p:grpSpPr>
      <p:sp>
        <p:nvSpPr>
          <p:cNvPr id="82"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83"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84" name="Title Text"/>
          <p:cNvSpPr txBox="1">
            <a:spLocks noGrp="1"/>
          </p:cNvSpPr>
          <p:nvPr>
            <p:ph type="title"/>
          </p:nvPr>
        </p:nvSpPr>
        <p:spPr>
          <a:xfrm>
            <a:off x="468312" y="560387"/>
            <a:ext cx="8207376" cy="996951"/>
          </a:xfrm>
          <a:prstGeom prst="rect">
            <a:avLst/>
          </a:prstGeom>
        </p:spPr>
        <p:txBody>
          <a:bodyPr/>
          <a:lstStyle/>
          <a:p>
            <a:r>
              <a:t>Title Text</a:t>
            </a:r>
          </a:p>
        </p:txBody>
      </p:sp>
      <p:sp>
        <p:nvSpPr>
          <p:cNvPr id="85" name="Body Level One…"/>
          <p:cNvSpPr txBox="1">
            <a:spLocks noGrp="1"/>
          </p:cNvSpPr>
          <p:nvPr>
            <p:ph type="body" sz="half" idx="1"/>
          </p:nvPr>
        </p:nvSpPr>
        <p:spPr>
          <a:xfrm>
            <a:off x="457200" y="1600200"/>
            <a:ext cx="4038600" cy="4349750"/>
          </a:xfrm>
          <a:prstGeom prst="rect">
            <a:avLst/>
          </a:prstGeom>
        </p:spPr>
        <p:txBody>
          <a:bodyPr/>
          <a:lstStyle>
            <a:lvl1pPr>
              <a:spcBef>
                <a:spcPts val="1000"/>
              </a:spcBef>
              <a:defRPr sz="2800"/>
            </a:lvl1pPr>
            <a:lvl2pPr indent="0">
              <a:spcBef>
                <a:spcPts val="1000"/>
              </a:spcBef>
              <a:defRPr sz="2800"/>
            </a:lvl2pPr>
            <a:lvl3pPr indent="0">
              <a:spcBef>
                <a:spcPts val="1000"/>
              </a:spcBef>
              <a:defRPr sz="2800"/>
            </a:lvl3pPr>
            <a:lvl4pPr indent="0">
              <a:spcBef>
                <a:spcPts val="1000"/>
              </a:spcBef>
              <a:defRPr sz="2800"/>
            </a:lvl4pPr>
            <a:lvl5pPr indent="0">
              <a:spcBef>
                <a:spcPts val="1000"/>
              </a:spcBef>
              <a:defRPr sz="2800"/>
            </a:lvl5pPr>
          </a:lstStyle>
          <a:p>
            <a:r>
              <a:t>Body Level One</a:t>
            </a:r>
          </a:p>
          <a:p>
            <a:pPr lvl="1"/>
            <a:r>
              <a:t>Body Level Two</a:t>
            </a:r>
          </a:p>
          <a:p>
            <a:pPr lvl="2"/>
            <a:r>
              <a:t>Body Level Three</a:t>
            </a:r>
          </a:p>
          <a:p>
            <a:pPr lvl="3"/>
            <a:r>
              <a:t>Body Level Four</a:t>
            </a:r>
          </a:p>
          <a:p>
            <a:pPr lvl="4"/>
            <a:r>
              <a:t>Body Level Five</a:t>
            </a:r>
          </a:p>
        </p:txBody>
      </p:sp>
      <p:sp>
        <p:nvSpPr>
          <p:cNvPr id="86"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Comparison">
    <p:spTree>
      <p:nvGrpSpPr>
        <p:cNvPr id="1" name=""/>
        <p:cNvGrpSpPr/>
        <p:nvPr/>
      </p:nvGrpSpPr>
      <p:grpSpPr>
        <a:xfrm>
          <a:off x="0" y="0"/>
          <a:ext cx="0" cy="0"/>
          <a:chOff x="0" y="0"/>
          <a:chExt cx="0" cy="0"/>
        </a:xfrm>
      </p:grpSpPr>
      <p:sp>
        <p:nvSpPr>
          <p:cNvPr id="93"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94"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95" name="Title Text"/>
          <p:cNvSpPr txBox="1">
            <a:spLocks noGrp="1"/>
          </p:cNvSpPr>
          <p:nvPr>
            <p:ph type="title"/>
          </p:nvPr>
        </p:nvSpPr>
        <p:spPr>
          <a:xfrm>
            <a:off x="457200" y="274638"/>
            <a:ext cx="8229600" cy="1143001"/>
          </a:xfrm>
          <a:prstGeom prst="rect">
            <a:avLst/>
          </a:prstGeom>
        </p:spPr>
        <p:txBody>
          <a:bodyPr/>
          <a:lstStyle/>
          <a:p>
            <a:r>
              <a:t>Title Text</a:t>
            </a:r>
          </a:p>
        </p:txBody>
      </p:sp>
      <p:sp>
        <p:nvSpPr>
          <p:cNvPr id="96" name="Body Level One…"/>
          <p:cNvSpPr txBox="1">
            <a:spLocks noGrp="1"/>
          </p:cNvSpPr>
          <p:nvPr>
            <p:ph type="body" sz="quarter" idx="1"/>
          </p:nvPr>
        </p:nvSpPr>
        <p:spPr>
          <a:xfrm>
            <a:off x="457200" y="1535112"/>
            <a:ext cx="4040188" cy="639763"/>
          </a:xfrm>
          <a:prstGeom prst="rect">
            <a:avLst/>
          </a:prstGeom>
        </p:spPr>
        <p:txBody>
          <a:bodyPr anchor="b"/>
          <a:lstStyle>
            <a:lvl1pPr marL="0" indent="0">
              <a:buClrTx/>
              <a:buSzTx/>
              <a:buNone/>
              <a:defRPr b="1"/>
            </a:lvl1pPr>
            <a:lvl2pPr indent="0">
              <a:buClrTx/>
              <a:buFontTx/>
              <a:defRPr b="1"/>
            </a:lvl2pPr>
            <a:lvl3pPr indent="0">
              <a:buClrTx/>
              <a:buFontTx/>
              <a:defRPr b="1"/>
            </a:lvl3pPr>
            <a:lvl4pPr indent="0">
              <a:buClrTx/>
              <a:buFontTx/>
              <a:defRPr b="1"/>
            </a:lvl4pPr>
            <a:lvl5pPr indent="0">
              <a:buClrTx/>
              <a:buFontTx/>
              <a:defRPr b="1"/>
            </a:lvl5pPr>
          </a:lstStyle>
          <a:p>
            <a:r>
              <a:t>Body Level One</a:t>
            </a:r>
          </a:p>
          <a:p>
            <a:pPr lvl="1"/>
            <a:r>
              <a:t>Body Level Two</a:t>
            </a:r>
          </a:p>
          <a:p>
            <a:pPr lvl="2"/>
            <a:r>
              <a:t>Body Level Three</a:t>
            </a:r>
          </a:p>
          <a:p>
            <a:pPr lvl="3"/>
            <a:r>
              <a:t>Body Level Four</a:t>
            </a:r>
          </a:p>
          <a:p>
            <a:pPr lvl="4"/>
            <a:r>
              <a:t>Body Level Five</a:t>
            </a:r>
          </a:p>
        </p:txBody>
      </p:sp>
      <p:sp>
        <p:nvSpPr>
          <p:cNvPr id="97" name="Rectangle"/>
          <p:cNvSpPr>
            <a:spLocks noGrp="1"/>
          </p:cNvSpPr>
          <p:nvPr>
            <p:ph type="body" sz="quarter" idx="13"/>
          </p:nvPr>
        </p:nvSpPr>
        <p:spPr>
          <a:xfrm>
            <a:off x="4645025" y="1535112"/>
            <a:ext cx="4041775" cy="639765"/>
          </a:xfrm>
          <a:prstGeom prst="rect">
            <a:avLst/>
          </a:prstGeom>
        </p:spPr>
        <p:txBody>
          <a:bodyPr anchor="b"/>
          <a:lstStyle/>
          <a:p>
            <a:endParaRPr/>
          </a:p>
        </p:txBody>
      </p:sp>
      <p:sp>
        <p:nvSpPr>
          <p:cNvPr id="98"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Title Only">
    <p:spTree>
      <p:nvGrpSpPr>
        <p:cNvPr id="1" name=""/>
        <p:cNvGrpSpPr/>
        <p:nvPr/>
      </p:nvGrpSpPr>
      <p:grpSpPr>
        <a:xfrm>
          <a:off x="0" y="0"/>
          <a:ext cx="0" cy="0"/>
          <a:chOff x="0" y="0"/>
          <a:chExt cx="0" cy="0"/>
        </a:xfrm>
      </p:grpSpPr>
      <p:sp>
        <p:nvSpPr>
          <p:cNvPr id="105"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106"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107" name="Title Text"/>
          <p:cNvSpPr txBox="1">
            <a:spLocks noGrp="1"/>
          </p:cNvSpPr>
          <p:nvPr>
            <p:ph type="title"/>
          </p:nvPr>
        </p:nvSpPr>
        <p:spPr>
          <a:xfrm>
            <a:off x="468312" y="560387"/>
            <a:ext cx="8207376" cy="996951"/>
          </a:xfrm>
          <a:prstGeom prst="rect">
            <a:avLst/>
          </a:prstGeom>
        </p:spPr>
        <p:txBody>
          <a:bodyPr/>
          <a:lstStyle/>
          <a:p>
            <a:r>
              <a:t>Title Text</a:t>
            </a:r>
          </a:p>
        </p:txBody>
      </p:sp>
      <p:sp>
        <p:nvSpPr>
          <p:cNvPr id="108"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x">
  <p:cSld name="Blank">
    <p:spTree>
      <p:nvGrpSpPr>
        <p:cNvPr id="1" name=""/>
        <p:cNvGrpSpPr/>
        <p:nvPr/>
      </p:nvGrpSpPr>
      <p:grpSpPr>
        <a:xfrm>
          <a:off x="0" y="0"/>
          <a:ext cx="0" cy="0"/>
          <a:chOff x="0" y="0"/>
          <a:chExt cx="0" cy="0"/>
        </a:xfrm>
      </p:grpSpPr>
      <p:sp>
        <p:nvSpPr>
          <p:cNvPr id="115"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116"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117"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x">
  <p:cSld name="Content with Caption">
    <p:spTree>
      <p:nvGrpSpPr>
        <p:cNvPr id="1" name=""/>
        <p:cNvGrpSpPr/>
        <p:nvPr/>
      </p:nvGrpSpPr>
      <p:grpSpPr>
        <a:xfrm>
          <a:off x="0" y="0"/>
          <a:ext cx="0" cy="0"/>
          <a:chOff x="0" y="0"/>
          <a:chExt cx="0" cy="0"/>
        </a:xfrm>
      </p:grpSpPr>
      <p:sp>
        <p:nvSpPr>
          <p:cNvPr id="124"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125"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126" name="Title Text"/>
          <p:cNvSpPr txBox="1">
            <a:spLocks noGrp="1"/>
          </p:cNvSpPr>
          <p:nvPr>
            <p:ph type="title"/>
          </p:nvPr>
        </p:nvSpPr>
        <p:spPr>
          <a:xfrm>
            <a:off x="457200" y="273050"/>
            <a:ext cx="3008316" cy="1162050"/>
          </a:xfrm>
          <a:prstGeom prst="rect">
            <a:avLst/>
          </a:prstGeom>
        </p:spPr>
        <p:txBody>
          <a:bodyPr anchor="b"/>
          <a:lstStyle>
            <a:lvl1pPr>
              <a:defRPr sz="2000" b="1"/>
            </a:lvl1pPr>
          </a:lstStyle>
          <a:p>
            <a:r>
              <a:t>Title Text</a:t>
            </a:r>
          </a:p>
        </p:txBody>
      </p:sp>
      <p:sp>
        <p:nvSpPr>
          <p:cNvPr id="127" name="Body Level One…"/>
          <p:cNvSpPr txBox="1">
            <a:spLocks noGrp="1"/>
          </p:cNvSpPr>
          <p:nvPr>
            <p:ph type="body" idx="1"/>
          </p:nvPr>
        </p:nvSpPr>
        <p:spPr>
          <a:xfrm>
            <a:off x="3575050" y="273050"/>
            <a:ext cx="5111750" cy="5656282"/>
          </a:xfrm>
          <a:prstGeom prst="rect">
            <a:avLst/>
          </a:prstGeom>
        </p:spPr>
        <p:txBody>
          <a:bodyPr/>
          <a:lstStyle>
            <a:lvl1pPr>
              <a:spcBef>
                <a:spcPts val="1100"/>
              </a:spcBef>
              <a:defRPr sz="3200"/>
            </a:lvl1pPr>
            <a:lvl2pPr indent="0">
              <a:spcBef>
                <a:spcPts val="1100"/>
              </a:spcBef>
              <a:defRPr sz="3200"/>
            </a:lvl2pPr>
            <a:lvl3pPr indent="0">
              <a:spcBef>
                <a:spcPts val="1100"/>
              </a:spcBef>
              <a:defRPr sz="3200"/>
            </a:lvl3pPr>
            <a:lvl4pPr indent="0">
              <a:spcBef>
                <a:spcPts val="1100"/>
              </a:spcBef>
              <a:defRPr sz="3200"/>
            </a:lvl4pPr>
            <a:lvl5pPr indent="0">
              <a:spcBef>
                <a:spcPts val="1100"/>
              </a:spcBef>
              <a:defRPr sz="3200"/>
            </a:lvl5pPr>
          </a:lstStyle>
          <a:p>
            <a:r>
              <a:t>Body Level One</a:t>
            </a:r>
          </a:p>
          <a:p>
            <a:pPr lvl="1"/>
            <a:r>
              <a:t>Body Level Two</a:t>
            </a:r>
          </a:p>
          <a:p>
            <a:pPr lvl="2"/>
            <a:r>
              <a:t>Body Level Three</a:t>
            </a:r>
          </a:p>
          <a:p>
            <a:pPr lvl="3"/>
            <a:r>
              <a:t>Body Level Four</a:t>
            </a:r>
          </a:p>
          <a:p>
            <a:pPr lvl="4"/>
            <a:r>
              <a:t>Body Level Five</a:t>
            </a:r>
          </a:p>
        </p:txBody>
      </p:sp>
      <p:sp>
        <p:nvSpPr>
          <p:cNvPr id="128" name="Rectangle"/>
          <p:cNvSpPr>
            <a:spLocks noGrp="1"/>
          </p:cNvSpPr>
          <p:nvPr>
            <p:ph type="body" sz="half" idx="13"/>
          </p:nvPr>
        </p:nvSpPr>
        <p:spPr>
          <a:xfrm>
            <a:off x="457198" y="1435099"/>
            <a:ext cx="3008317" cy="4494234"/>
          </a:xfrm>
          <a:prstGeom prst="rect">
            <a:avLst/>
          </a:prstGeom>
        </p:spPr>
        <p:txBody>
          <a:bodyPr/>
          <a:lstStyle/>
          <a:p>
            <a:endParaRPr/>
          </a:p>
        </p:txBody>
      </p:sp>
      <p:sp>
        <p:nvSpPr>
          <p:cNvPr id="129"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cSld name="Picture with Caption">
    <p:spTree>
      <p:nvGrpSpPr>
        <p:cNvPr id="1" name=""/>
        <p:cNvGrpSpPr/>
        <p:nvPr/>
      </p:nvGrpSpPr>
      <p:grpSpPr>
        <a:xfrm>
          <a:off x="0" y="0"/>
          <a:ext cx="0" cy="0"/>
          <a:chOff x="0" y="0"/>
          <a:chExt cx="0" cy="0"/>
        </a:xfrm>
      </p:grpSpPr>
      <p:sp>
        <p:nvSpPr>
          <p:cNvPr id="136"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137"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138" name="Title Text"/>
          <p:cNvSpPr txBox="1">
            <a:spLocks noGrp="1"/>
          </p:cNvSpPr>
          <p:nvPr>
            <p:ph type="title"/>
          </p:nvPr>
        </p:nvSpPr>
        <p:spPr>
          <a:xfrm>
            <a:off x="1792288" y="4800600"/>
            <a:ext cx="5486403" cy="566738"/>
          </a:xfrm>
          <a:prstGeom prst="rect">
            <a:avLst/>
          </a:prstGeom>
        </p:spPr>
        <p:txBody>
          <a:bodyPr anchor="b"/>
          <a:lstStyle>
            <a:lvl1pPr>
              <a:defRPr sz="2000" b="1"/>
            </a:lvl1pPr>
          </a:lstStyle>
          <a:p>
            <a:r>
              <a:t>Title Text</a:t>
            </a:r>
          </a:p>
        </p:txBody>
      </p:sp>
      <p:sp>
        <p:nvSpPr>
          <p:cNvPr id="139" name="Image"/>
          <p:cNvSpPr>
            <a:spLocks noGrp="1"/>
          </p:cNvSpPr>
          <p:nvPr>
            <p:ph type="pic" sz="half" idx="13"/>
          </p:nvPr>
        </p:nvSpPr>
        <p:spPr>
          <a:xfrm>
            <a:off x="1792288" y="612775"/>
            <a:ext cx="5486403" cy="4114800"/>
          </a:xfrm>
          <a:prstGeom prst="rect">
            <a:avLst/>
          </a:prstGeom>
        </p:spPr>
        <p:txBody>
          <a:bodyPr lIns="91439" tIns="45719" rIns="91439" bIns="45719">
            <a:noAutofit/>
          </a:bodyPr>
          <a:lstStyle/>
          <a:p>
            <a:endParaRPr/>
          </a:p>
        </p:txBody>
      </p:sp>
      <p:sp>
        <p:nvSpPr>
          <p:cNvPr id="140" name="Body Level One…"/>
          <p:cNvSpPr txBox="1">
            <a:spLocks noGrp="1"/>
          </p:cNvSpPr>
          <p:nvPr>
            <p:ph type="body" sz="quarter" idx="1"/>
          </p:nvPr>
        </p:nvSpPr>
        <p:spPr>
          <a:xfrm>
            <a:off x="1792288" y="5367337"/>
            <a:ext cx="5486403" cy="490557"/>
          </a:xfrm>
          <a:prstGeom prst="rect">
            <a:avLst/>
          </a:prstGeom>
        </p:spPr>
        <p:txBody>
          <a:bodyPr/>
          <a:lstStyle>
            <a:lvl1pPr marL="0" indent="0">
              <a:spcBef>
                <a:spcPts val="500"/>
              </a:spcBef>
              <a:buClrTx/>
              <a:buSzTx/>
              <a:buNone/>
              <a:defRPr sz="1400"/>
            </a:lvl1pPr>
            <a:lvl2pPr indent="0">
              <a:spcBef>
                <a:spcPts val="500"/>
              </a:spcBef>
              <a:buClrTx/>
              <a:buFontTx/>
              <a:defRPr sz="1400"/>
            </a:lvl2pPr>
            <a:lvl3pPr indent="0">
              <a:spcBef>
                <a:spcPts val="500"/>
              </a:spcBef>
              <a:buClrTx/>
              <a:buFontTx/>
              <a:defRPr sz="1400"/>
            </a:lvl3pPr>
            <a:lvl4pPr indent="0">
              <a:spcBef>
                <a:spcPts val="500"/>
              </a:spcBef>
              <a:buClrTx/>
              <a:buFontTx/>
              <a:defRPr sz="1400"/>
            </a:lvl4pPr>
            <a:lvl5pPr indent="0">
              <a:spcBef>
                <a:spcPts val="500"/>
              </a:spcBef>
              <a:buClrTx/>
              <a:buFontTx/>
              <a:defRPr sz="1400"/>
            </a:lvl5pPr>
          </a:lstStyle>
          <a:p>
            <a:r>
              <a:t>Body Level One</a:t>
            </a:r>
          </a:p>
          <a:p>
            <a:pPr lvl="1"/>
            <a:r>
              <a:t>Body Level Two</a:t>
            </a:r>
          </a:p>
          <a:p>
            <a:pPr lvl="2"/>
            <a:r>
              <a:t>Body Level Three</a:t>
            </a:r>
          </a:p>
          <a:p>
            <a:pPr lvl="3"/>
            <a:r>
              <a:t>Body Level Four</a:t>
            </a:r>
          </a:p>
          <a:p>
            <a:pPr lvl="4"/>
            <a:r>
              <a:t>Body Level Five</a:t>
            </a:r>
          </a:p>
        </p:txBody>
      </p:sp>
      <p:sp>
        <p:nvSpPr>
          <p:cNvPr id="141"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
  <p:cSld name="Title and Vertical Text">
    <p:spTree>
      <p:nvGrpSpPr>
        <p:cNvPr id="1" name=""/>
        <p:cNvGrpSpPr/>
        <p:nvPr/>
      </p:nvGrpSpPr>
      <p:grpSpPr>
        <a:xfrm>
          <a:off x="0" y="0"/>
          <a:ext cx="0" cy="0"/>
          <a:chOff x="0" y="0"/>
          <a:chExt cx="0" cy="0"/>
        </a:xfrm>
      </p:grpSpPr>
      <p:sp>
        <p:nvSpPr>
          <p:cNvPr id="148"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149"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150" name="Title Text"/>
          <p:cNvSpPr txBox="1">
            <a:spLocks noGrp="1"/>
          </p:cNvSpPr>
          <p:nvPr>
            <p:ph type="title"/>
          </p:nvPr>
        </p:nvSpPr>
        <p:spPr>
          <a:xfrm>
            <a:off x="468312" y="560387"/>
            <a:ext cx="8207376" cy="996951"/>
          </a:xfrm>
          <a:prstGeom prst="rect">
            <a:avLst/>
          </a:prstGeom>
        </p:spPr>
        <p:txBody>
          <a:bodyPr/>
          <a:lstStyle/>
          <a:p>
            <a:r>
              <a:t>Title Text</a:t>
            </a:r>
          </a:p>
        </p:txBody>
      </p:sp>
      <p:sp>
        <p:nvSpPr>
          <p:cNvPr id="151" name="Body Level One…"/>
          <p:cNvSpPr txBox="1">
            <a:spLocks noGrp="1"/>
          </p:cNvSpPr>
          <p:nvPr>
            <p:ph type="body" idx="1"/>
          </p:nvPr>
        </p:nvSpPr>
        <p:spPr>
          <a:prstGeom prst="rect">
            <a:avLst/>
          </a:prstGeom>
        </p:spPr>
        <p:txBody>
          <a:bodyPr/>
          <a:lstStyle>
            <a:lvl2pPr indent="0"/>
            <a:lvl3pPr indent="0"/>
            <a:lvl4pPr indent="0"/>
            <a:lvl5pPr indent="0"/>
          </a:lstStyle>
          <a:p>
            <a:r>
              <a:t>Body Level One</a:t>
            </a:r>
          </a:p>
          <a:p>
            <a:pPr lvl="1"/>
            <a:r>
              <a:t>Body Level Two</a:t>
            </a:r>
          </a:p>
          <a:p>
            <a:pPr lvl="2"/>
            <a:r>
              <a:t>Body Level Three</a:t>
            </a:r>
          </a:p>
          <a:p>
            <a:pPr lvl="3"/>
            <a:r>
              <a:t>Body Level Four</a:t>
            </a:r>
          </a:p>
          <a:p>
            <a:pPr lvl="4"/>
            <a:r>
              <a:t>Body Level Five</a:t>
            </a:r>
          </a:p>
        </p:txBody>
      </p:sp>
      <p:sp>
        <p:nvSpPr>
          <p:cNvPr id="152"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x">
  <p:cSld name="Vertical Title and Text">
    <p:spTree>
      <p:nvGrpSpPr>
        <p:cNvPr id="1" name=""/>
        <p:cNvGrpSpPr/>
        <p:nvPr/>
      </p:nvGrpSpPr>
      <p:grpSpPr>
        <a:xfrm>
          <a:off x="0" y="0"/>
          <a:ext cx="0" cy="0"/>
          <a:chOff x="0" y="0"/>
          <a:chExt cx="0" cy="0"/>
        </a:xfrm>
      </p:grpSpPr>
      <p:sp>
        <p:nvSpPr>
          <p:cNvPr id="159"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160"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161" name="Title Text"/>
          <p:cNvSpPr txBox="1">
            <a:spLocks noGrp="1"/>
          </p:cNvSpPr>
          <p:nvPr>
            <p:ph type="title"/>
          </p:nvPr>
        </p:nvSpPr>
        <p:spPr>
          <a:xfrm>
            <a:off x="6629400" y="560387"/>
            <a:ext cx="2057400" cy="5389565"/>
          </a:xfrm>
          <a:prstGeom prst="rect">
            <a:avLst/>
          </a:prstGeom>
        </p:spPr>
        <p:txBody>
          <a:bodyPr/>
          <a:lstStyle/>
          <a:p>
            <a:r>
              <a:t>Title Text</a:t>
            </a:r>
          </a:p>
        </p:txBody>
      </p:sp>
      <p:sp>
        <p:nvSpPr>
          <p:cNvPr id="162" name="Body Level One…"/>
          <p:cNvSpPr txBox="1">
            <a:spLocks noGrp="1"/>
          </p:cNvSpPr>
          <p:nvPr>
            <p:ph type="body" idx="1"/>
          </p:nvPr>
        </p:nvSpPr>
        <p:spPr>
          <a:xfrm>
            <a:off x="457200" y="560387"/>
            <a:ext cx="6019800" cy="5389565"/>
          </a:xfrm>
          <a:prstGeom prst="rect">
            <a:avLst/>
          </a:prstGeom>
        </p:spPr>
        <p:txBody>
          <a:bodyPr/>
          <a:lstStyle>
            <a:lvl2pPr indent="0"/>
            <a:lvl3pPr indent="0"/>
            <a:lvl4pPr indent="0"/>
            <a:lvl5pPr indent="0"/>
          </a:lstStyle>
          <a:p>
            <a:r>
              <a:t>Body Level One</a:t>
            </a:r>
          </a:p>
          <a:p>
            <a:pPr lvl="1"/>
            <a:r>
              <a:t>Body Level Two</a:t>
            </a:r>
          </a:p>
          <a:p>
            <a:pPr lvl="2"/>
            <a:r>
              <a:t>Body Level Three</a:t>
            </a:r>
          </a:p>
          <a:p>
            <a:pPr lvl="3"/>
            <a:r>
              <a:t>Body Level Four</a:t>
            </a:r>
          </a:p>
          <a:p>
            <a:pPr lvl="4"/>
            <a:r>
              <a:t>Body Level Five</a:t>
            </a:r>
          </a:p>
        </p:txBody>
      </p:sp>
      <p:sp>
        <p:nvSpPr>
          <p:cNvPr id="163"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170" name="Slide Number"/>
          <p:cNvSpPr txBox="1">
            <a:spLocks noGrp="1"/>
          </p:cNvSpPr>
          <p:nvPr>
            <p:ph type="sldNum" sz="quarter" idx="2"/>
          </p:nvPr>
        </p:nvSpPr>
        <p:spPr>
          <a:xfrm>
            <a:off x="6553200" y="6356350"/>
            <a:ext cx="335862" cy="333084"/>
          </a:xfrm>
          <a:prstGeom prst="rect">
            <a:avLst/>
          </a:prstGeom>
        </p:spPr>
        <p:txBody>
          <a:bodyPr anchor="t"/>
          <a:lstStyle>
            <a:lvl1pPr algn="l">
              <a:defRPr sz="1800">
                <a:solidFill>
                  <a:srgbClr val="000000"/>
                </a:solidFill>
                <a:latin typeface="Calibri"/>
                <a:ea typeface="Calibri"/>
                <a:cs typeface="Calibri"/>
                <a:sym typeface="Calibri"/>
              </a:defRPr>
            </a:lvl1pPr>
          </a:lstStyle>
          <a:p>
            <a:fld id="{86CB4B4D-7CA3-9044-876B-883B54F8677D}" type="slidenum">
              <a:t>‹#›</a:t>
            </a:fld>
            <a:endParaRP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177" name="Slide Number"/>
          <p:cNvSpPr txBox="1">
            <a:spLocks noGrp="1"/>
          </p:cNvSpPr>
          <p:nvPr>
            <p:ph type="sldNum" sz="quarter" idx="2"/>
          </p:nvPr>
        </p:nvSpPr>
        <p:spPr>
          <a:xfrm>
            <a:off x="6279548" y="6224225"/>
            <a:ext cx="273652" cy="264251"/>
          </a:xfrm>
          <a:prstGeom prst="rect">
            <a:avLst/>
          </a:prstGeom>
        </p:spPr>
        <p:txBody>
          <a:bodyPr/>
          <a:lstStyle>
            <a:lvl1pPr>
              <a:defRPr>
                <a:solidFill>
                  <a:srgbClr val="000000"/>
                </a:solidFill>
              </a:defRPr>
            </a:lvl1pPr>
          </a:lstStyle>
          <a:p>
            <a:fld id="{86CB4B4D-7CA3-9044-876B-883B54F8677D}" type="slidenum">
              <a:t>‹#›</a:t>
            </a:fld>
            <a:endParaRPr/>
          </a:p>
        </p:txBody>
      </p:sp>
    </p:spTree>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184" name="Slide Number"/>
          <p:cNvSpPr txBox="1">
            <a:spLocks noGrp="1"/>
          </p:cNvSpPr>
          <p:nvPr>
            <p:ph type="sldNum" sz="quarter" idx="2"/>
          </p:nvPr>
        </p:nvSpPr>
        <p:spPr>
          <a:xfrm>
            <a:off x="6553200" y="6356350"/>
            <a:ext cx="335862" cy="333084"/>
          </a:xfrm>
          <a:prstGeom prst="rect">
            <a:avLst/>
          </a:prstGeom>
        </p:spPr>
        <p:txBody>
          <a:bodyPr anchor="t"/>
          <a:lstStyle>
            <a:lvl1pPr algn="l">
              <a:defRPr sz="1800">
                <a:solidFill>
                  <a:srgbClr val="000000"/>
                </a:solidFill>
                <a:latin typeface="Calibri"/>
                <a:ea typeface="Calibri"/>
                <a:cs typeface="Calibri"/>
                <a:sym typeface="Calibri"/>
              </a:defRPr>
            </a:lvl1pPr>
          </a:lstStyle>
          <a:p>
            <a:fld id="{86CB4B4D-7CA3-9044-876B-883B54F8677D}" type="slidenum">
              <a:t>‹#›</a:t>
            </a:fld>
            <a:endParaRPr/>
          </a:p>
        </p:txBody>
      </p:sp>
    </p:spTree>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x">
  <p:cSld name="Default">
    <p:bg>
      <p:bgPr>
        <a:solidFill>
          <a:schemeClr val="accent3">
            <a:lumOff val="38860"/>
          </a:schemeClr>
        </a:solidFill>
        <a:effectLst/>
      </p:bgPr>
    </p:bg>
    <p:spTree>
      <p:nvGrpSpPr>
        <p:cNvPr id="1" name=""/>
        <p:cNvGrpSpPr/>
        <p:nvPr/>
      </p:nvGrpSpPr>
      <p:grpSpPr>
        <a:xfrm>
          <a:off x="0" y="0"/>
          <a:ext cx="0" cy="0"/>
          <a:chOff x="0" y="0"/>
          <a:chExt cx="0" cy="0"/>
        </a:xfrm>
      </p:grpSpPr>
      <p:sp>
        <p:nvSpPr>
          <p:cNvPr id="191" name="Slide Number"/>
          <p:cNvSpPr txBox="1">
            <a:spLocks noGrp="1"/>
          </p:cNvSpPr>
          <p:nvPr>
            <p:ph type="sldNum" sz="quarter" idx="2"/>
          </p:nvPr>
        </p:nvSpPr>
        <p:spPr>
          <a:xfrm>
            <a:off x="4419600" y="6172200"/>
            <a:ext cx="2133600" cy="368301"/>
          </a:xfrm>
          <a:prstGeom prst="rect">
            <a:avLst/>
          </a:prstGeom>
        </p:spPr>
        <p:txBody>
          <a:bodyPr/>
          <a:lstStyle>
            <a:lvl1pPr>
              <a:defRPr>
                <a:solidFill>
                  <a:srgbClr val="000000"/>
                </a:solidFill>
              </a:defRPr>
            </a:lvl1p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gi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rtin University is a trademark of Curtin University of Technology…"/>
          <p:cNvSpPr txBox="1"/>
          <p:nvPr/>
        </p:nvSpPr>
        <p:spPr>
          <a:xfrm>
            <a:off x="468312" y="6302375"/>
            <a:ext cx="2230389" cy="1499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3" name="curtinPowerPointBGContent-Alpha.gif" descr="curtinPowerPointBGContent-Alpha.gif"/>
          <p:cNvPicPr>
            <a:picLocks noChangeAspect="1"/>
          </p:cNvPicPr>
          <p:nvPr userDrawn="1"/>
        </p:nvPicPr>
        <p:blipFill>
          <a:blip r:embed="rId20"/>
          <a:stretch>
            <a:fillRect/>
          </a:stretch>
        </p:blipFill>
        <p:spPr>
          <a:xfrm>
            <a:off x="0" y="0"/>
            <a:ext cx="9144000" cy="6858000"/>
          </a:xfrm>
          <a:prstGeom prst="rect">
            <a:avLst/>
          </a:prstGeom>
          <a:ln w="12700">
            <a:miter lim="400000"/>
          </a:ln>
        </p:spPr>
      </p:pic>
      <p:sp>
        <p:nvSpPr>
          <p:cNvPr id="4" name="Title Text"/>
          <p:cNvSpPr txBox="1">
            <a:spLocks noGrp="1"/>
          </p:cNvSpPr>
          <p:nvPr>
            <p:ph type="title"/>
          </p:nvPr>
        </p:nvSpPr>
        <p:spPr>
          <a:xfrm>
            <a:off x="468312" y="560387"/>
            <a:ext cx="8207376" cy="9969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rmAutofit/>
          </a:bodyPr>
          <a:lstStyle/>
          <a:p>
            <a:r>
              <a:t>Title Text</a:t>
            </a:r>
          </a:p>
        </p:txBody>
      </p:sp>
      <p:sp>
        <p:nvSpPr>
          <p:cNvPr id="5" name="Body Level One…"/>
          <p:cNvSpPr txBox="1">
            <a:spLocks noGrp="1"/>
          </p:cNvSpPr>
          <p:nvPr>
            <p:ph type="body" idx="1"/>
          </p:nvPr>
        </p:nvSpPr>
        <p:spPr>
          <a:xfrm>
            <a:off x="457200" y="1600200"/>
            <a:ext cx="8229600" cy="43497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rmAutofit/>
          </a:bodyPr>
          <a:lstStyle/>
          <a:p>
            <a:r>
              <a:t>Body Level One</a:t>
            </a:r>
          </a:p>
          <a:p>
            <a:pPr lvl="1"/>
            <a:r>
              <a:t>Body Level Two</a:t>
            </a:r>
          </a:p>
          <a:p>
            <a:pPr lvl="2"/>
            <a:r>
              <a:t>Body Level Three</a:t>
            </a:r>
          </a:p>
          <a:p>
            <a:pPr lvl="3"/>
            <a:r>
              <a:t>Body Level Four</a:t>
            </a:r>
          </a:p>
          <a:p>
            <a:pPr lvl="4"/>
            <a:r>
              <a:t>Body Level Five</a:t>
            </a:r>
          </a:p>
        </p:txBody>
      </p:sp>
      <p:sp>
        <p:nvSpPr>
          <p:cNvPr id="6" name="INSYS5002 - Introduction to Visual C#"/>
          <p:cNvSpPr txBox="1"/>
          <p:nvPr/>
        </p:nvSpPr>
        <p:spPr>
          <a:xfrm>
            <a:off x="468312" y="6143725"/>
            <a:ext cx="1846659" cy="15388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defRPr sz="1200">
                <a:solidFill>
                  <a:srgbClr val="666666"/>
                </a:solidFill>
                <a:latin typeface="+mj-lt"/>
                <a:ea typeface="+mj-ea"/>
                <a:cs typeface="+mj-cs"/>
                <a:sym typeface="Arial"/>
              </a:defRPr>
            </a:lvl1pPr>
          </a:lstStyle>
          <a:p>
            <a:r>
              <a:rPr sz="1000" dirty="0"/>
              <a:t>ISY</a:t>
            </a:r>
            <a:r>
              <a:rPr lang="en-AU" sz="1000" dirty="0"/>
              <a:t>S</a:t>
            </a:r>
            <a:r>
              <a:rPr sz="1000" dirty="0"/>
              <a:t>S</a:t>
            </a:r>
            <a:r>
              <a:rPr lang="en-AU" sz="1000" dirty="0"/>
              <a:t>2001</a:t>
            </a:r>
            <a:r>
              <a:rPr sz="1000" dirty="0"/>
              <a:t> </a:t>
            </a:r>
            <a:r>
              <a:rPr lang="en-AU" sz="1000" dirty="0"/>
              <a:t>– Data Management</a:t>
            </a:r>
            <a:endParaRPr sz="10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transition spd="med"/>
  <p:txStyles>
    <p:titleStyle>
      <a:lvl1pPr marL="0" marR="0" indent="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1pPr>
      <a:lvl2pPr marL="0" marR="0" indent="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2pPr>
      <a:lvl3pPr marL="0" marR="0" indent="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3pPr>
      <a:lvl4pPr marL="0" marR="0" indent="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4pPr>
      <a:lvl5pPr marL="0" marR="0" indent="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5pPr>
      <a:lvl6pPr marL="0" marR="0" indent="45720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6pPr>
      <a:lvl7pPr marL="0" marR="0" indent="91440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7pPr>
      <a:lvl8pPr marL="0" marR="0" indent="137160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8pPr>
      <a:lvl9pPr marL="0" marR="0" indent="182880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9pPr>
    </p:titleStyle>
    <p:bodyStyle>
      <a:lvl1pPr marL="266700" marR="0" indent="-266700" algn="l" defTabSz="914400" latinLnBrk="0">
        <a:lnSpc>
          <a:spcPct val="110000"/>
        </a:lnSpc>
        <a:spcBef>
          <a:spcPts val="800"/>
        </a:spcBef>
        <a:spcAft>
          <a:spcPts val="0"/>
        </a:spcAft>
        <a:buClr>
          <a:schemeClr val="accent1"/>
        </a:buClr>
        <a:buSzPct val="100000"/>
        <a:buFontTx/>
        <a:buChar char="▪"/>
        <a:tabLst/>
        <a:defRPr sz="2400" b="0" i="0" u="none" strike="noStrike" cap="none" spc="0" baseline="0">
          <a:solidFill>
            <a:srgbClr val="333333"/>
          </a:solidFill>
          <a:uFillTx/>
          <a:latin typeface="+mj-lt"/>
          <a:ea typeface="+mj-ea"/>
          <a:cs typeface="+mj-cs"/>
          <a:sym typeface="Arial"/>
        </a:defRPr>
      </a:lvl1pPr>
      <a:lvl2pPr marL="0" marR="0" indent="538162"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2pPr>
      <a:lvl3pPr marL="0" marR="0" indent="985837"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3pPr>
      <a:lvl4pPr marL="0" marR="0" indent="1433512"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4pPr>
      <a:lvl5pPr marL="0" marR="0" indent="17907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5pPr>
      <a:lvl6pPr marL="0" marR="0" indent="22479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6pPr>
      <a:lvl7pPr marL="0" marR="0" indent="27051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7pPr>
      <a:lvl8pPr marL="0" marR="0" indent="31623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8pPr>
      <a:lvl9pPr marL="0" marR="0" indent="36195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9pPr>
    </p:bodyStyle>
    <p:otherStyle>
      <a:lvl1pPr marL="0" marR="0" indent="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1pPr>
      <a:lvl2pPr marL="0" marR="0" indent="4572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2pPr>
      <a:lvl3pPr marL="0" marR="0" indent="9144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3pPr>
      <a:lvl4pPr marL="0" marR="0" indent="13716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4pPr>
      <a:lvl5pPr marL="0" marR="0" indent="18288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5pPr>
      <a:lvl6pPr marL="0" marR="0" indent="22860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6pPr>
      <a:lvl7pPr marL="0" marR="0" indent="27432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7pPr>
      <a:lvl8pPr marL="0" marR="0" indent="32004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8pPr>
      <a:lvl9pPr marL="0" marR="0" indent="36576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8000" b="-8000"/>
          </a:stretch>
        </a:blipFill>
        <a:effectLst/>
      </p:bgPr>
    </p:bg>
    <p:spTree>
      <p:nvGrpSpPr>
        <p:cNvPr id="1" name=""/>
        <p:cNvGrpSpPr/>
        <p:nvPr/>
      </p:nvGrpSpPr>
      <p:grpSpPr>
        <a:xfrm>
          <a:off x="0" y="0"/>
          <a:ext cx="0" cy="0"/>
          <a:chOff x="0" y="0"/>
          <a:chExt cx="0" cy="0"/>
        </a:xfrm>
      </p:grpSpPr>
      <p:sp>
        <p:nvSpPr>
          <p:cNvPr id="200" name="ISYS5002 Lecture 1, Department of Information Systems"/>
          <p:cNvSpPr txBox="1">
            <a:spLocks noGrp="1"/>
          </p:cNvSpPr>
          <p:nvPr>
            <p:ph type="body" sz="quarter" idx="1"/>
          </p:nvPr>
        </p:nvSpPr>
        <p:spPr>
          <a:xfrm>
            <a:off x="69850" y="5054603"/>
            <a:ext cx="5211763" cy="346078"/>
          </a:xfrm>
          <a:prstGeom prst="rect">
            <a:avLst/>
          </a:prstGeom>
        </p:spPr>
        <p:txBody>
          <a:bodyPr/>
          <a:lstStyle>
            <a:lvl1pPr defTabSz="704087">
              <a:spcBef>
                <a:spcPts val="700"/>
              </a:spcBef>
              <a:defRPr sz="1200"/>
            </a:lvl1pPr>
          </a:lstStyle>
          <a:p>
            <a:r>
              <a:rPr dirty="0"/>
              <a:t>ISYS</a:t>
            </a:r>
            <a:r>
              <a:rPr lang="en-AU" dirty="0"/>
              <a:t>2001</a:t>
            </a:r>
            <a:r>
              <a:rPr dirty="0"/>
              <a:t>, </a:t>
            </a:r>
            <a:r>
              <a:rPr lang="en-AU" dirty="0"/>
              <a:t>School of Marketing and Management</a:t>
            </a:r>
            <a:endParaRPr dirty="0"/>
          </a:p>
        </p:txBody>
      </p:sp>
      <p:sp>
        <p:nvSpPr>
          <p:cNvPr id="201" name="Introduction to Visual C#"/>
          <p:cNvSpPr txBox="1">
            <a:spLocks noGrp="1"/>
          </p:cNvSpPr>
          <p:nvPr>
            <p:ph type="title"/>
          </p:nvPr>
        </p:nvSpPr>
        <p:spPr>
          <a:xfrm>
            <a:off x="12700" y="4268437"/>
            <a:ext cx="5760000" cy="786166"/>
          </a:xfrm>
          <a:prstGeom prst="rect">
            <a:avLst/>
          </a:prstGeom>
        </p:spPr>
        <p:txBody>
          <a:bodyPr>
            <a:normAutofit/>
          </a:bodyPr>
          <a:lstStyle>
            <a:lvl1pPr defTabSz="768094">
              <a:defRPr sz="3600"/>
            </a:lvl1pPr>
          </a:lstStyle>
          <a:p>
            <a:r>
              <a:rPr lang="en-AU" dirty="0"/>
              <a:t>Data Management</a:t>
            </a:r>
            <a:endParaRPr dirty="0"/>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 name="Image" descr="Image"/>
          <p:cNvPicPr>
            <a:picLocks noChangeAspect="1"/>
          </p:cNvPicPr>
          <p:nvPr/>
        </p:nvPicPr>
        <p:blipFill>
          <a:blip r:embed="rId2"/>
          <a:srcRect l="17137" t="11714" r="17137" b="14544"/>
          <a:stretch>
            <a:fillRect/>
          </a:stretch>
        </p:blipFill>
        <p:spPr>
          <a:xfrm>
            <a:off x="652654" y="626076"/>
            <a:ext cx="8011053" cy="5055798"/>
          </a:xfrm>
          <a:prstGeom prst="rect">
            <a:avLst/>
          </a:prstGeom>
          <a:ln w="12700">
            <a:miter lim="400000"/>
          </a:ln>
        </p:spPr>
      </p:pic>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7" name="Curtin University would like to pay our respect to the Aboriginal and Torres Strait Islander members of our community by acknowledging the traditional owners of the land on which the Bentley Campus is located, the Wadjuk people of the Nyungar NNation; and on our Kalgoorlie Campus, the Wongutha people of the North-Eastern Goldfields."/>
          <p:cNvSpPr txBox="1">
            <a:spLocks noGrp="1"/>
          </p:cNvSpPr>
          <p:nvPr>
            <p:ph type="body" idx="1"/>
          </p:nvPr>
        </p:nvSpPr>
        <p:spPr>
          <a:xfrm>
            <a:off x="446448" y="2028825"/>
            <a:ext cx="8251104" cy="2800350"/>
          </a:xfrm>
          <a:prstGeom prst="rect">
            <a:avLst/>
          </a:prstGeom>
        </p:spPr>
        <p:txBody>
          <a:bodyPr>
            <a:noAutofit/>
          </a:bodyPr>
          <a:lstStyle>
            <a:lvl1pPr marL="0" indent="0">
              <a:buClrTx/>
              <a:buSzTx/>
              <a:buNone/>
            </a:lvl1pPr>
          </a:lstStyle>
          <a:p>
            <a:pPr algn="ctr"/>
            <a:r>
              <a:rPr lang="en-AU" sz="3200" dirty="0"/>
              <a:t>I acknowledge the traditional custodians of the land on which I work and live, and recognise their continuing connection to land, water and community. I pay respect to elders past, present and emerging.</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C5C9C-81D8-3B4E-9537-4B65F6FD4A47}"/>
              </a:ext>
            </a:extLst>
          </p:cNvPr>
          <p:cNvSpPr>
            <a:spLocks noGrp="1"/>
          </p:cNvSpPr>
          <p:nvPr>
            <p:ph type="title"/>
          </p:nvPr>
        </p:nvSpPr>
        <p:spPr/>
        <p:txBody>
          <a:bodyPr/>
          <a:lstStyle/>
          <a:p>
            <a:r>
              <a:rPr lang="en-AU" dirty="0"/>
              <a:t>Today</a:t>
            </a:r>
          </a:p>
        </p:txBody>
      </p:sp>
      <p:sp>
        <p:nvSpPr>
          <p:cNvPr id="3" name="Text Placeholder 2">
            <a:extLst>
              <a:ext uri="{FF2B5EF4-FFF2-40B4-BE49-F238E27FC236}">
                <a16:creationId xmlns:a16="http://schemas.microsoft.com/office/drawing/2014/main" id="{0B811E43-07E5-314C-B69B-65B4F6DD0A06}"/>
              </a:ext>
            </a:extLst>
          </p:cNvPr>
          <p:cNvSpPr>
            <a:spLocks noGrp="1"/>
          </p:cNvSpPr>
          <p:nvPr>
            <p:ph type="body" idx="1"/>
          </p:nvPr>
        </p:nvSpPr>
        <p:spPr/>
        <p:txBody>
          <a:bodyPr/>
          <a:lstStyle/>
          <a:p>
            <a:r>
              <a:rPr lang="en-AU" dirty="0"/>
              <a:t>Data Persistence</a:t>
            </a:r>
          </a:p>
          <a:p>
            <a:r>
              <a:rPr lang="en-AU" dirty="0"/>
              <a:t>Databases</a:t>
            </a:r>
          </a:p>
          <a:p>
            <a:r>
              <a:rPr lang="en-AU" dirty="0"/>
              <a:t>Python Options</a:t>
            </a:r>
          </a:p>
        </p:txBody>
      </p:sp>
    </p:spTree>
    <p:extLst>
      <p:ext uri="{BB962C8B-B14F-4D97-AF65-F5344CB8AC3E}">
        <p14:creationId xmlns:p14="http://schemas.microsoft.com/office/powerpoint/2010/main" val="905638004"/>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CFDA39-36DC-BE41-83C9-9D7736D65089}"/>
              </a:ext>
            </a:extLst>
          </p:cNvPr>
          <p:cNvSpPr>
            <a:spLocks noGrp="1"/>
          </p:cNvSpPr>
          <p:nvPr>
            <p:ph type="title"/>
          </p:nvPr>
        </p:nvSpPr>
        <p:spPr/>
        <p:txBody>
          <a:bodyPr/>
          <a:lstStyle/>
          <a:p>
            <a:r>
              <a:rPr lang="en-AU" dirty="0"/>
              <a:t>Flat Files</a:t>
            </a:r>
          </a:p>
        </p:txBody>
      </p:sp>
      <p:sp>
        <p:nvSpPr>
          <p:cNvPr id="3" name="Text Placeholder 2">
            <a:extLst>
              <a:ext uri="{FF2B5EF4-FFF2-40B4-BE49-F238E27FC236}">
                <a16:creationId xmlns:a16="http://schemas.microsoft.com/office/drawing/2014/main" id="{A16EC243-FD19-2B4F-B490-1AD73087C4F0}"/>
              </a:ext>
            </a:extLst>
          </p:cNvPr>
          <p:cNvSpPr>
            <a:spLocks noGrp="1"/>
          </p:cNvSpPr>
          <p:nvPr>
            <p:ph type="body" idx="1"/>
          </p:nvPr>
        </p:nvSpPr>
        <p:spPr/>
        <p:txBody>
          <a:bodyPr/>
          <a:lstStyle/>
          <a:p>
            <a:r>
              <a:rPr lang="en-AU" dirty="0"/>
              <a:t>Contain Data</a:t>
            </a:r>
          </a:p>
          <a:p>
            <a:r>
              <a:rPr lang="en-AU" dirty="0"/>
              <a:t>No internal hierarchy</a:t>
            </a:r>
          </a:p>
          <a:p>
            <a:r>
              <a:rPr lang="en-AU" dirty="0"/>
              <a:t>Human readable (usually)</a:t>
            </a:r>
          </a:p>
          <a:p>
            <a:r>
              <a:rPr lang="en-AU" b="1" dirty="0"/>
              <a:t>CSV – comma-separated value</a:t>
            </a:r>
          </a:p>
          <a:p>
            <a:r>
              <a:rPr lang="en-AU" dirty="0"/>
              <a:t>Use for data interchange</a:t>
            </a:r>
          </a:p>
          <a:p>
            <a:r>
              <a:rPr lang="en-AU" dirty="0"/>
              <a:t>Large files can be problem</a:t>
            </a:r>
          </a:p>
          <a:p>
            <a:r>
              <a:rPr lang="en-AU" dirty="0"/>
              <a:t>Relationships not explicit</a:t>
            </a:r>
          </a:p>
        </p:txBody>
      </p:sp>
    </p:spTree>
    <p:extLst>
      <p:ext uri="{BB962C8B-B14F-4D97-AF65-F5344CB8AC3E}">
        <p14:creationId xmlns:p14="http://schemas.microsoft.com/office/powerpoint/2010/main" val="2001899460"/>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783DF-4E85-BB4C-8199-AB22931A8195}"/>
              </a:ext>
            </a:extLst>
          </p:cNvPr>
          <p:cNvSpPr>
            <a:spLocks noGrp="1"/>
          </p:cNvSpPr>
          <p:nvPr>
            <p:ph type="title"/>
          </p:nvPr>
        </p:nvSpPr>
        <p:spPr/>
        <p:txBody>
          <a:bodyPr/>
          <a:lstStyle/>
          <a:p>
            <a:r>
              <a:rPr lang="en-AU" dirty="0"/>
              <a:t>Database</a:t>
            </a:r>
          </a:p>
        </p:txBody>
      </p:sp>
      <p:sp>
        <p:nvSpPr>
          <p:cNvPr id="3" name="Text Placeholder 2">
            <a:extLst>
              <a:ext uri="{FF2B5EF4-FFF2-40B4-BE49-F238E27FC236}">
                <a16:creationId xmlns:a16="http://schemas.microsoft.com/office/drawing/2014/main" id="{B0338847-C04E-3147-8251-81A6D09E8AC1}"/>
              </a:ext>
            </a:extLst>
          </p:cNvPr>
          <p:cNvSpPr>
            <a:spLocks noGrp="1"/>
          </p:cNvSpPr>
          <p:nvPr>
            <p:ph type="body" idx="1"/>
          </p:nvPr>
        </p:nvSpPr>
        <p:spPr/>
        <p:txBody>
          <a:bodyPr/>
          <a:lstStyle/>
          <a:p>
            <a:r>
              <a:rPr lang="en-AU" dirty="0"/>
              <a:t>Consists of Tables, Table consists of rows</a:t>
            </a:r>
          </a:p>
          <a:p>
            <a:r>
              <a:rPr lang="en-AU" dirty="0"/>
              <a:t>Tables can be ‘</a:t>
            </a:r>
            <a:r>
              <a:rPr lang="en-AU" dirty="0" err="1"/>
              <a:t>releated</a:t>
            </a:r>
            <a:r>
              <a:rPr lang="en-AU" dirty="0"/>
              <a:t>’</a:t>
            </a:r>
          </a:p>
          <a:p>
            <a:r>
              <a:rPr lang="en-AU" dirty="0"/>
              <a:t>DBMS – System to Manage Tables and Relationships</a:t>
            </a:r>
          </a:p>
          <a:p>
            <a:r>
              <a:rPr lang="en-AU" dirty="0"/>
              <a:t>Reduce Redundancy</a:t>
            </a:r>
          </a:p>
          <a:p>
            <a:r>
              <a:rPr lang="en-AU" dirty="0"/>
              <a:t>Relational Database</a:t>
            </a:r>
          </a:p>
          <a:p>
            <a:r>
              <a:rPr lang="en-AU" dirty="0"/>
              <a:t>Query Language</a:t>
            </a:r>
          </a:p>
          <a:p>
            <a:r>
              <a:rPr lang="en-AU" dirty="0"/>
              <a:t>Multi-user</a:t>
            </a:r>
          </a:p>
          <a:p>
            <a:endParaRPr lang="en-AU" dirty="0"/>
          </a:p>
        </p:txBody>
      </p:sp>
    </p:spTree>
    <p:extLst>
      <p:ext uri="{BB962C8B-B14F-4D97-AF65-F5344CB8AC3E}">
        <p14:creationId xmlns:p14="http://schemas.microsoft.com/office/powerpoint/2010/main" val="2169242420"/>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6789E-F431-2C47-9E75-0B10FB8DD18C}"/>
              </a:ext>
            </a:extLst>
          </p:cNvPr>
          <p:cNvSpPr>
            <a:spLocks noGrp="1"/>
          </p:cNvSpPr>
          <p:nvPr>
            <p:ph type="title"/>
          </p:nvPr>
        </p:nvSpPr>
        <p:spPr/>
        <p:txBody>
          <a:bodyPr/>
          <a:lstStyle/>
          <a:p>
            <a:r>
              <a:rPr lang="en-AU" dirty="0"/>
              <a:t>SQL Databases</a:t>
            </a:r>
          </a:p>
        </p:txBody>
      </p:sp>
      <p:sp>
        <p:nvSpPr>
          <p:cNvPr id="3" name="Text Placeholder 2">
            <a:extLst>
              <a:ext uri="{FF2B5EF4-FFF2-40B4-BE49-F238E27FC236}">
                <a16:creationId xmlns:a16="http://schemas.microsoft.com/office/drawing/2014/main" id="{7260E71F-E0A2-D741-A766-E9DF57186AE4}"/>
              </a:ext>
            </a:extLst>
          </p:cNvPr>
          <p:cNvSpPr>
            <a:spLocks noGrp="1"/>
          </p:cNvSpPr>
          <p:nvPr>
            <p:ph type="body" idx="1"/>
          </p:nvPr>
        </p:nvSpPr>
        <p:spPr/>
        <p:txBody>
          <a:bodyPr/>
          <a:lstStyle/>
          <a:p>
            <a:r>
              <a:rPr lang="en-AU" dirty="0"/>
              <a:t>SQLite</a:t>
            </a:r>
          </a:p>
          <a:p>
            <a:r>
              <a:rPr lang="en-AU" dirty="0" err="1"/>
              <a:t>PostgresSQL</a:t>
            </a:r>
            <a:endParaRPr lang="en-AU" dirty="0"/>
          </a:p>
          <a:p>
            <a:r>
              <a:rPr lang="en-AU" dirty="0"/>
              <a:t>MYSQL</a:t>
            </a:r>
          </a:p>
          <a:p>
            <a:r>
              <a:rPr lang="en-AU" dirty="0"/>
              <a:t>MS SQL</a:t>
            </a:r>
          </a:p>
          <a:p>
            <a:r>
              <a:rPr lang="en-AU" dirty="0"/>
              <a:t>Oracle</a:t>
            </a:r>
          </a:p>
          <a:p>
            <a:r>
              <a:rPr lang="en-AU" dirty="0"/>
              <a:t>Many more</a:t>
            </a:r>
          </a:p>
          <a:p>
            <a:r>
              <a:rPr lang="en-AU" dirty="0"/>
              <a:t>Non-Relational (NoSQL)</a:t>
            </a:r>
          </a:p>
          <a:p>
            <a:r>
              <a:rPr lang="en-AU" dirty="0"/>
              <a:t>MongoDB</a:t>
            </a:r>
          </a:p>
        </p:txBody>
      </p:sp>
    </p:spTree>
    <p:extLst>
      <p:ext uri="{BB962C8B-B14F-4D97-AF65-F5344CB8AC3E}">
        <p14:creationId xmlns:p14="http://schemas.microsoft.com/office/powerpoint/2010/main" val="960007098"/>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6789E-F431-2C47-9E75-0B10FB8DD18C}"/>
              </a:ext>
            </a:extLst>
          </p:cNvPr>
          <p:cNvSpPr>
            <a:spLocks noGrp="1"/>
          </p:cNvSpPr>
          <p:nvPr>
            <p:ph type="title"/>
          </p:nvPr>
        </p:nvSpPr>
        <p:spPr/>
        <p:txBody>
          <a:bodyPr/>
          <a:lstStyle/>
          <a:p>
            <a:r>
              <a:rPr lang="en-AU" dirty="0"/>
              <a:t>No SQL</a:t>
            </a:r>
          </a:p>
        </p:txBody>
      </p:sp>
      <p:sp>
        <p:nvSpPr>
          <p:cNvPr id="3" name="Text Placeholder 2">
            <a:extLst>
              <a:ext uri="{FF2B5EF4-FFF2-40B4-BE49-F238E27FC236}">
                <a16:creationId xmlns:a16="http://schemas.microsoft.com/office/drawing/2014/main" id="{7260E71F-E0A2-D741-A766-E9DF57186AE4}"/>
              </a:ext>
            </a:extLst>
          </p:cNvPr>
          <p:cNvSpPr>
            <a:spLocks noGrp="1"/>
          </p:cNvSpPr>
          <p:nvPr>
            <p:ph type="body" idx="1"/>
          </p:nvPr>
        </p:nvSpPr>
        <p:spPr/>
        <p:txBody>
          <a:bodyPr/>
          <a:lstStyle/>
          <a:p>
            <a:r>
              <a:rPr lang="en-AU" dirty="0"/>
              <a:t>Document</a:t>
            </a:r>
          </a:p>
          <a:p>
            <a:r>
              <a:rPr lang="en-AU" dirty="0"/>
              <a:t>Key-Value Stores</a:t>
            </a:r>
          </a:p>
          <a:p>
            <a:r>
              <a:rPr lang="en-AU" dirty="0"/>
              <a:t>Column-Oriented</a:t>
            </a:r>
          </a:p>
          <a:p>
            <a:r>
              <a:rPr lang="en-AU" dirty="0"/>
              <a:t>Graph</a:t>
            </a:r>
          </a:p>
          <a:p>
            <a:r>
              <a:rPr lang="en-AU" dirty="0"/>
              <a:t>Examples</a:t>
            </a:r>
          </a:p>
          <a:p>
            <a:pPr lvl="1"/>
            <a:r>
              <a:rPr lang="en-AU" dirty="0"/>
              <a:t>MongoDB</a:t>
            </a:r>
          </a:p>
          <a:p>
            <a:pPr lvl="1"/>
            <a:r>
              <a:rPr lang="en-AU" dirty="0"/>
              <a:t>Apache Cassandra</a:t>
            </a:r>
          </a:p>
        </p:txBody>
      </p:sp>
    </p:spTree>
    <p:extLst>
      <p:ext uri="{BB962C8B-B14F-4D97-AF65-F5344CB8AC3E}">
        <p14:creationId xmlns:p14="http://schemas.microsoft.com/office/powerpoint/2010/main" val="734382100"/>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E567F-EADB-DB49-AD87-6BA1DEAE935A}"/>
              </a:ext>
            </a:extLst>
          </p:cNvPr>
          <p:cNvSpPr>
            <a:spLocks noGrp="1"/>
          </p:cNvSpPr>
          <p:nvPr>
            <p:ph type="title"/>
          </p:nvPr>
        </p:nvSpPr>
        <p:spPr/>
        <p:txBody>
          <a:bodyPr/>
          <a:lstStyle/>
          <a:p>
            <a:r>
              <a:rPr lang="en-AU" dirty="0"/>
              <a:t>SQLite</a:t>
            </a:r>
          </a:p>
        </p:txBody>
      </p:sp>
      <p:sp>
        <p:nvSpPr>
          <p:cNvPr id="3" name="Text Placeholder 2">
            <a:extLst>
              <a:ext uri="{FF2B5EF4-FFF2-40B4-BE49-F238E27FC236}">
                <a16:creationId xmlns:a16="http://schemas.microsoft.com/office/drawing/2014/main" id="{6FD01DD8-2899-BE49-8E64-266742701DD6}"/>
              </a:ext>
            </a:extLst>
          </p:cNvPr>
          <p:cNvSpPr>
            <a:spLocks noGrp="1"/>
          </p:cNvSpPr>
          <p:nvPr>
            <p:ph type="body" idx="1"/>
          </p:nvPr>
        </p:nvSpPr>
        <p:spPr/>
        <p:txBody>
          <a:bodyPr/>
          <a:lstStyle/>
          <a:p>
            <a:r>
              <a:rPr lang="en-AU" dirty="0"/>
              <a:t>Included with Python</a:t>
            </a:r>
          </a:p>
          <a:p>
            <a:r>
              <a:rPr lang="en-AU" dirty="0"/>
              <a:t>Single file based</a:t>
            </a:r>
          </a:p>
          <a:p>
            <a:r>
              <a:rPr lang="en-AU" dirty="0"/>
              <a:t>Relational Database</a:t>
            </a:r>
          </a:p>
          <a:p>
            <a:r>
              <a:rPr lang="en-AU" dirty="0"/>
              <a:t>Uses SQL</a:t>
            </a:r>
          </a:p>
          <a:p>
            <a:r>
              <a:rPr lang="en-AU" dirty="0"/>
              <a:t>Standard CRUD Operations</a:t>
            </a:r>
          </a:p>
          <a:p>
            <a:r>
              <a:rPr lang="en-AU" dirty="0"/>
              <a:t>GUIs</a:t>
            </a:r>
          </a:p>
          <a:p>
            <a:pPr lvl="1"/>
            <a:r>
              <a:rPr lang="en-AU" dirty="0" err="1"/>
              <a:t>SQLiteStudio</a:t>
            </a:r>
            <a:endParaRPr lang="en-AU" dirty="0"/>
          </a:p>
          <a:p>
            <a:pPr lvl="1"/>
            <a:r>
              <a:rPr lang="en-AU" dirty="0"/>
              <a:t>DB Browser for SQLite</a:t>
            </a:r>
          </a:p>
        </p:txBody>
      </p:sp>
    </p:spTree>
    <p:extLst>
      <p:ext uri="{BB962C8B-B14F-4D97-AF65-F5344CB8AC3E}">
        <p14:creationId xmlns:p14="http://schemas.microsoft.com/office/powerpoint/2010/main" val="2406377753"/>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DBA7D-2869-9D45-B993-020D90EA2883}"/>
              </a:ext>
            </a:extLst>
          </p:cNvPr>
          <p:cNvSpPr>
            <a:spLocks noGrp="1"/>
          </p:cNvSpPr>
          <p:nvPr>
            <p:ph type="title"/>
          </p:nvPr>
        </p:nvSpPr>
        <p:spPr/>
        <p:txBody>
          <a:bodyPr/>
          <a:lstStyle/>
          <a:p>
            <a:r>
              <a:rPr lang="en-AU" dirty="0"/>
              <a:t>SQLite - Pattern</a:t>
            </a:r>
          </a:p>
        </p:txBody>
      </p:sp>
      <p:sp>
        <p:nvSpPr>
          <p:cNvPr id="3" name="Text Placeholder 2">
            <a:extLst>
              <a:ext uri="{FF2B5EF4-FFF2-40B4-BE49-F238E27FC236}">
                <a16:creationId xmlns:a16="http://schemas.microsoft.com/office/drawing/2014/main" id="{5D978DB3-4718-B244-A798-F7318F6E666F}"/>
              </a:ext>
            </a:extLst>
          </p:cNvPr>
          <p:cNvSpPr>
            <a:spLocks noGrp="1"/>
          </p:cNvSpPr>
          <p:nvPr>
            <p:ph type="body" idx="1"/>
          </p:nvPr>
        </p:nvSpPr>
        <p:spPr/>
        <p:txBody>
          <a:bodyPr/>
          <a:lstStyle/>
          <a:p>
            <a:pPr marL="0" indent="0">
              <a:buNone/>
            </a:pPr>
            <a:r>
              <a:rPr lang="en-AU" dirty="0">
                <a:latin typeface="American Typewriter" panose="02090604020004020304" pitchFamily="18" charset="77"/>
              </a:rPr>
              <a:t>import sqlite3</a:t>
            </a:r>
          </a:p>
          <a:p>
            <a:pPr marL="0" indent="0">
              <a:buNone/>
            </a:pPr>
            <a:endParaRPr lang="en-AU" dirty="0">
              <a:latin typeface="American Typewriter" panose="02090604020004020304" pitchFamily="18" charset="77"/>
            </a:endParaRPr>
          </a:p>
          <a:p>
            <a:pPr marL="0" indent="0">
              <a:buNone/>
            </a:pPr>
            <a:r>
              <a:rPr lang="en-AU" dirty="0">
                <a:latin typeface="American Typewriter" panose="02090604020004020304" pitchFamily="18" charset="77"/>
              </a:rPr>
              <a:t>conn = slqite3.connect(“</a:t>
            </a:r>
            <a:r>
              <a:rPr lang="en-AU" dirty="0" err="1">
                <a:latin typeface="American Typewriter" panose="02090604020004020304" pitchFamily="18" charset="77"/>
              </a:rPr>
              <a:t>filename.db</a:t>
            </a:r>
            <a:r>
              <a:rPr lang="en-AU" dirty="0">
                <a:latin typeface="American Typewriter" panose="02090604020004020304" pitchFamily="18" charset="77"/>
              </a:rPr>
              <a:t>”)</a:t>
            </a:r>
          </a:p>
          <a:p>
            <a:pPr marL="0" indent="0">
              <a:buNone/>
            </a:pPr>
            <a:r>
              <a:rPr lang="en-AU" dirty="0" err="1">
                <a:latin typeface="American Typewriter" panose="02090604020004020304" pitchFamily="18" charset="77"/>
              </a:rPr>
              <a:t>conn.execute</a:t>
            </a:r>
            <a:r>
              <a:rPr lang="en-AU" dirty="0">
                <a:latin typeface="American Typewriter" panose="02090604020004020304" pitchFamily="18" charset="77"/>
              </a:rPr>
              <a:t>(“CREATE TABLE </a:t>
            </a:r>
            <a:r>
              <a:rPr lang="en-AU" dirty="0" err="1">
                <a:latin typeface="American Typewriter" panose="02090604020004020304" pitchFamily="18" charset="77"/>
              </a:rPr>
              <a:t>myTable</a:t>
            </a:r>
            <a:r>
              <a:rPr lang="en-AU" dirty="0">
                <a:latin typeface="American Typewriter" panose="02090604020004020304" pitchFamily="18" charset="77"/>
              </a:rPr>
              <a:t> (name text);”)</a:t>
            </a:r>
          </a:p>
          <a:p>
            <a:pPr marL="0" indent="0">
              <a:buNone/>
            </a:pPr>
            <a:r>
              <a:rPr lang="en-AU" dirty="0" err="1">
                <a:latin typeface="American Typewriter" panose="02090604020004020304" pitchFamily="18" charset="77"/>
              </a:rPr>
              <a:t>conn.execute</a:t>
            </a:r>
            <a:r>
              <a:rPr lang="en-AU" dirty="0">
                <a:latin typeface="American Typewriter" panose="02090604020004020304" pitchFamily="18" charset="77"/>
              </a:rPr>
              <a:t>(“INSERT </a:t>
            </a:r>
            <a:r>
              <a:rPr lang="en-AU" dirty="0" err="1">
                <a:latin typeface="American Typewriter" panose="02090604020004020304" pitchFamily="18" charset="77"/>
              </a:rPr>
              <a:t>myTable</a:t>
            </a:r>
            <a:r>
              <a:rPr lang="en-AU" dirty="0">
                <a:latin typeface="American Typewriter" panose="02090604020004020304" pitchFamily="18" charset="77"/>
              </a:rPr>
              <a:t> VALUE (’Josh’);”)</a:t>
            </a:r>
          </a:p>
          <a:p>
            <a:pPr marL="0" indent="0">
              <a:buNone/>
            </a:pPr>
            <a:r>
              <a:rPr lang="en-AU" dirty="0">
                <a:latin typeface="American Typewriter" panose="02090604020004020304" pitchFamily="18" charset="77"/>
              </a:rPr>
              <a:t>rows = </a:t>
            </a:r>
            <a:r>
              <a:rPr lang="en-AU" dirty="0" err="1">
                <a:latin typeface="American Typewriter" panose="02090604020004020304" pitchFamily="18" charset="77"/>
              </a:rPr>
              <a:t>conn.execute</a:t>
            </a:r>
            <a:r>
              <a:rPr lang="en-AU" dirty="0">
                <a:latin typeface="American Typewriter" panose="02090604020004020304" pitchFamily="18" charset="77"/>
              </a:rPr>
              <a:t>(“SELECT * FROM </a:t>
            </a:r>
            <a:r>
              <a:rPr lang="en-AU" dirty="0" err="1">
                <a:latin typeface="American Typewriter" panose="02090604020004020304" pitchFamily="18" charset="77"/>
              </a:rPr>
              <a:t>myTable</a:t>
            </a:r>
            <a:r>
              <a:rPr lang="en-AU" dirty="0">
                <a:latin typeface="American Typewriter" panose="02090604020004020304" pitchFamily="18" charset="77"/>
              </a:rPr>
              <a:t>;”)</a:t>
            </a:r>
          </a:p>
          <a:p>
            <a:pPr marL="0" indent="0">
              <a:buNone/>
            </a:pPr>
            <a:r>
              <a:rPr lang="en-AU" dirty="0">
                <a:latin typeface="American Typewriter" panose="02090604020004020304" pitchFamily="18" charset="77"/>
              </a:rPr>
              <a:t>for row in rows:</a:t>
            </a:r>
          </a:p>
          <a:p>
            <a:pPr marL="0" indent="0">
              <a:buNone/>
            </a:pPr>
            <a:r>
              <a:rPr lang="en-AU" dirty="0">
                <a:latin typeface="American Typewriter" panose="02090604020004020304" pitchFamily="18" charset="77"/>
              </a:rPr>
              <a:t>	print(row)</a:t>
            </a:r>
          </a:p>
        </p:txBody>
      </p:sp>
    </p:spTree>
    <p:extLst>
      <p:ext uri="{BB962C8B-B14F-4D97-AF65-F5344CB8AC3E}">
        <p14:creationId xmlns:p14="http://schemas.microsoft.com/office/powerpoint/2010/main" val="465105134"/>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7FF3A-8920-054A-AC4F-FA320EACF8AD}"/>
              </a:ext>
            </a:extLst>
          </p:cNvPr>
          <p:cNvSpPr>
            <a:spLocks noGrp="1"/>
          </p:cNvSpPr>
          <p:nvPr>
            <p:ph type="title"/>
          </p:nvPr>
        </p:nvSpPr>
        <p:spPr/>
        <p:txBody>
          <a:bodyPr/>
          <a:lstStyle/>
          <a:p>
            <a:r>
              <a:rPr lang="en-AU" dirty="0" err="1"/>
              <a:t>SQLAlchemy</a:t>
            </a:r>
            <a:endParaRPr lang="en-AU" dirty="0"/>
          </a:p>
        </p:txBody>
      </p:sp>
      <p:sp>
        <p:nvSpPr>
          <p:cNvPr id="3" name="Text Placeholder 2">
            <a:extLst>
              <a:ext uri="{FF2B5EF4-FFF2-40B4-BE49-F238E27FC236}">
                <a16:creationId xmlns:a16="http://schemas.microsoft.com/office/drawing/2014/main" id="{22EBA687-38AB-1E41-A567-53A164C257F1}"/>
              </a:ext>
            </a:extLst>
          </p:cNvPr>
          <p:cNvSpPr>
            <a:spLocks noGrp="1"/>
          </p:cNvSpPr>
          <p:nvPr>
            <p:ph type="body" idx="1"/>
          </p:nvPr>
        </p:nvSpPr>
        <p:spPr/>
        <p:txBody>
          <a:bodyPr/>
          <a:lstStyle/>
          <a:p>
            <a:r>
              <a:rPr lang="en-AU" dirty="0"/>
              <a:t>Object Relations Mapper</a:t>
            </a:r>
          </a:p>
          <a:p>
            <a:r>
              <a:rPr lang="en-AU" dirty="0"/>
              <a:t>Map a Python model to database</a:t>
            </a:r>
          </a:p>
          <a:p>
            <a:r>
              <a:rPr lang="en-AU" dirty="0"/>
              <a:t>Use object model in Python</a:t>
            </a:r>
          </a:p>
          <a:p>
            <a:r>
              <a:rPr lang="en-AU" dirty="0"/>
              <a:t>Connect to many databases</a:t>
            </a:r>
          </a:p>
          <a:p>
            <a:r>
              <a:rPr lang="en-AU" dirty="0"/>
              <a:t>Abstract underlying data</a:t>
            </a:r>
          </a:p>
          <a:p>
            <a:endParaRPr lang="en-AU" dirty="0"/>
          </a:p>
        </p:txBody>
      </p:sp>
    </p:spTree>
    <p:extLst>
      <p:ext uri="{BB962C8B-B14F-4D97-AF65-F5344CB8AC3E}">
        <p14:creationId xmlns:p14="http://schemas.microsoft.com/office/powerpoint/2010/main" val="2397478111"/>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FB06B-6CE1-A04A-A560-D06B76486A7E}"/>
              </a:ext>
            </a:extLst>
          </p:cNvPr>
          <p:cNvSpPr>
            <a:spLocks noGrp="1"/>
          </p:cNvSpPr>
          <p:nvPr>
            <p:ph type="title"/>
          </p:nvPr>
        </p:nvSpPr>
        <p:spPr/>
        <p:txBody>
          <a:bodyPr/>
          <a:lstStyle/>
          <a:p>
            <a:r>
              <a:rPr lang="en-AU" dirty="0" err="1"/>
              <a:t>SQLAlchemy</a:t>
            </a:r>
            <a:r>
              <a:rPr lang="en-AU" dirty="0"/>
              <a:t> – Abstract Database</a:t>
            </a:r>
          </a:p>
        </p:txBody>
      </p:sp>
      <p:sp>
        <p:nvSpPr>
          <p:cNvPr id="3" name="Text Placeholder 2">
            <a:extLst>
              <a:ext uri="{FF2B5EF4-FFF2-40B4-BE49-F238E27FC236}">
                <a16:creationId xmlns:a16="http://schemas.microsoft.com/office/drawing/2014/main" id="{345F8D11-C17F-ED4A-B001-864545291CAC}"/>
              </a:ext>
            </a:extLst>
          </p:cNvPr>
          <p:cNvSpPr>
            <a:spLocks noGrp="1"/>
          </p:cNvSpPr>
          <p:nvPr>
            <p:ph type="body" idx="1"/>
          </p:nvPr>
        </p:nvSpPr>
        <p:spPr/>
        <p:txBody>
          <a:bodyPr>
            <a:normAutofit/>
          </a:bodyPr>
          <a:lstStyle/>
          <a:p>
            <a:pPr marL="0" indent="0">
              <a:buNone/>
            </a:pPr>
            <a:r>
              <a:rPr lang="en-AU" dirty="0">
                <a:latin typeface="American Typewriter" panose="02090604020004020304" pitchFamily="18" charset="77"/>
              </a:rPr>
              <a:t>from </a:t>
            </a:r>
            <a:r>
              <a:rPr lang="en-AU" dirty="0" err="1">
                <a:latin typeface="American Typewriter" panose="02090604020004020304" pitchFamily="18" charset="77"/>
              </a:rPr>
              <a:t>sqlalchemy</a:t>
            </a:r>
            <a:r>
              <a:rPr lang="en-AU" dirty="0">
                <a:latin typeface="American Typewriter" panose="02090604020004020304" pitchFamily="18" charset="77"/>
              </a:rPr>
              <a:t> import </a:t>
            </a:r>
            <a:r>
              <a:rPr lang="en-AU" dirty="0" err="1">
                <a:latin typeface="American Typewriter" panose="02090604020004020304" pitchFamily="18" charset="77"/>
              </a:rPr>
              <a:t>create_engine</a:t>
            </a:r>
            <a:r>
              <a:rPr lang="en-AU" dirty="0">
                <a:latin typeface="American Typewriter" panose="02090604020004020304" pitchFamily="18" charset="77"/>
              </a:rPr>
              <a:t> </a:t>
            </a:r>
          </a:p>
          <a:p>
            <a:pPr marL="0" indent="0">
              <a:buNone/>
            </a:pPr>
            <a:endParaRPr lang="en-AU" b="1" dirty="0">
              <a:latin typeface="American Typewriter" panose="02090604020004020304" pitchFamily="18" charset="77"/>
            </a:endParaRPr>
          </a:p>
          <a:p>
            <a:pPr marL="0" indent="0">
              <a:buNone/>
            </a:pPr>
            <a:r>
              <a:rPr lang="en-AU" b="1" dirty="0">
                <a:latin typeface="American Typewriter" panose="02090604020004020304" pitchFamily="18" charset="77"/>
              </a:rPr>
              <a:t>engine = </a:t>
            </a:r>
            <a:r>
              <a:rPr lang="en-AU" b="1" dirty="0" err="1">
                <a:latin typeface="American Typewriter" panose="02090604020004020304" pitchFamily="18" charset="77"/>
              </a:rPr>
              <a:t>create_engine</a:t>
            </a:r>
            <a:r>
              <a:rPr lang="en-AU" b="1" dirty="0">
                <a:latin typeface="American Typewriter" panose="02090604020004020304" pitchFamily="18" charset="77"/>
              </a:rPr>
              <a:t>('</a:t>
            </a:r>
            <a:r>
              <a:rPr lang="en-AU" b="1" dirty="0" err="1">
                <a:latin typeface="American Typewriter" panose="02090604020004020304" pitchFamily="18" charset="77"/>
              </a:rPr>
              <a:t>sqlite</a:t>
            </a:r>
            <a:r>
              <a:rPr lang="en-AU" b="1" dirty="0">
                <a:latin typeface="American Typewriter" panose="02090604020004020304" pitchFamily="18" charset="77"/>
              </a:rPr>
              <a:t>:///</a:t>
            </a:r>
            <a:r>
              <a:rPr lang="en-AU" b="1" dirty="0" err="1">
                <a:latin typeface="American Typewriter" panose="02090604020004020304" pitchFamily="18" charset="77"/>
              </a:rPr>
              <a:t>filename.db</a:t>
            </a:r>
            <a:r>
              <a:rPr lang="en-AU" b="1" dirty="0">
                <a:latin typeface="American Typewriter" panose="02090604020004020304" pitchFamily="18" charset="77"/>
              </a:rPr>
              <a:t>’)</a:t>
            </a:r>
          </a:p>
          <a:p>
            <a:pPr marL="0" indent="0">
              <a:buNone/>
            </a:pPr>
            <a:r>
              <a:rPr lang="en-AU" b="1" dirty="0">
                <a:latin typeface="American Typewriter" panose="02090604020004020304" pitchFamily="18" charset="77"/>
              </a:rPr>
              <a:t>conn = </a:t>
            </a:r>
            <a:r>
              <a:rPr lang="en-AU" b="1" dirty="0" err="1">
                <a:latin typeface="American Typewriter" panose="02090604020004020304" pitchFamily="18" charset="77"/>
              </a:rPr>
              <a:t>engine.connect</a:t>
            </a:r>
            <a:r>
              <a:rPr lang="en-AU" b="1" dirty="0">
                <a:latin typeface="American Typewriter" panose="02090604020004020304" pitchFamily="18" charset="77"/>
              </a:rPr>
              <a:t>()</a:t>
            </a:r>
          </a:p>
          <a:p>
            <a:pPr marL="0" indent="0">
              <a:buNone/>
            </a:pPr>
            <a:endParaRPr lang="en-AU" b="1" dirty="0">
              <a:latin typeface="American Typewriter" panose="02090604020004020304" pitchFamily="18" charset="77"/>
            </a:endParaRPr>
          </a:p>
          <a:p>
            <a:pPr marL="0" indent="0">
              <a:buNone/>
            </a:pPr>
            <a:r>
              <a:rPr lang="en-AU" dirty="0">
                <a:latin typeface="American Typewriter" panose="02090604020004020304" pitchFamily="18" charset="77"/>
              </a:rPr>
              <a:t>… then Pythonic Way (Objects)</a:t>
            </a:r>
          </a:p>
        </p:txBody>
      </p:sp>
    </p:spTree>
    <p:extLst>
      <p:ext uri="{BB962C8B-B14F-4D97-AF65-F5344CB8AC3E}">
        <p14:creationId xmlns:p14="http://schemas.microsoft.com/office/powerpoint/2010/main" val="3421890351"/>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6D8B83-DD78-0146-A6CA-7CCCC4C77CE9}"/>
              </a:ext>
            </a:extLst>
          </p:cNvPr>
          <p:cNvSpPr>
            <a:spLocks noGrp="1"/>
          </p:cNvSpPr>
          <p:nvPr>
            <p:ph type="title"/>
          </p:nvPr>
        </p:nvSpPr>
        <p:spPr/>
        <p:txBody>
          <a:bodyPr/>
          <a:lstStyle/>
          <a:p>
            <a:r>
              <a:rPr lang="en-AU" dirty="0"/>
              <a:t>Object Serialisation (Alternative)</a:t>
            </a:r>
          </a:p>
        </p:txBody>
      </p:sp>
      <p:sp>
        <p:nvSpPr>
          <p:cNvPr id="3" name="Text Placeholder 2">
            <a:extLst>
              <a:ext uri="{FF2B5EF4-FFF2-40B4-BE49-F238E27FC236}">
                <a16:creationId xmlns:a16="http://schemas.microsoft.com/office/drawing/2014/main" id="{23F37C49-1425-7D4E-980C-D283C33BB366}"/>
              </a:ext>
            </a:extLst>
          </p:cNvPr>
          <p:cNvSpPr>
            <a:spLocks noGrp="1"/>
          </p:cNvSpPr>
          <p:nvPr>
            <p:ph type="body" idx="1"/>
          </p:nvPr>
        </p:nvSpPr>
        <p:spPr/>
        <p:txBody>
          <a:bodyPr/>
          <a:lstStyle/>
          <a:p>
            <a:r>
              <a:rPr lang="en-AU" dirty="0"/>
              <a:t>Object Persistence</a:t>
            </a:r>
          </a:p>
          <a:p>
            <a:r>
              <a:rPr lang="en-AU" dirty="0"/>
              <a:t>Pickle library</a:t>
            </a:r>
          </a:p>
          <a:p>
            <a:r>
              <a:rPr lang="en-AU" dirty="0"/>
              <a:t>Object converted into bitstream</a:t>
            </a:r>
          </a:p>
          <a:p>
            <a:r>
              <a:rPr lang="en-AU" dirty="0"/>
              <a:t>Pickling -&gt; saves to file</a:t>
            </a:r>
          </a:p>
          <a:p>
            <a:r>
              <a:rPr lang="en-AU" dirty="0"/>
              <a:t>Unpickling &lt;- reads form file</a:t>
            </a:r>
          </a:p>
          <a:p>
            <a:r>
              <a:rPr lang="en-AU" dirty="0"/>
              <a:t>Maintain state across sessions</a:t>
            </a:r>
          </a:p>
        </p:txBody>
      </p:sp>
    </p:spTree>
    <p:extLst>
      <p:ext uri="{BB962C8B-B14F-4D97-AF65-F5344CB8AC3E}">
        <p14:creationId xmlns:p14="http://schemas.microsoft.com/office/powerpoint/2010/main" val="304483242"/>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C5C9C-81D8-3B4E-9537-4B65F6FD4A47}"/>
              </a:ext>
            </a:extLst>
          </p:cNvPr>
          <p:cNvSpPr>
            <a:spLocks noGrp="1"/>
          </p:cNvSpPr>
          <p:nvPr>
            <p:ph type="title"/>
          </p:nvPr>
        </p:nvSpPr>
        <p:spPr/>
        <p:txBody>
          <a:bodyPr/>
          <a:lstStyle/>
          <a:p>
            <a:r>
              <a:rPr lang="en-AU" dirty="0"/>
              <a:t>Can you?</a:t>
            </a:r>
          </a:p>
        </p:txBody>
      </p:sp>
      <p:sp>
        <p:nvSpPr>
          <p:cNvPr id="3" name="Text Placeholder 2">
            <a:extLst>
              <a:ext uri="{FF2B5EF4-FFF2-40B4-BE49-F238E27FC236}">
                <a16:creationId xmlns:a16="http://schemas.microsoft.com/office/drawing/2014/main" id="{0B811E43-07E5-314C-B69B-65B4F6DD0A06}"/>
              </a:ext>
            </a:extLst>
          </p:cNvPr>
          <p:cNvSpPr>
            <a:spLocks noGrp="1"/>
          </p:cNvSpPr>
          <p:nvPr>
            <p:ph type="body" idx="1"/>
          </p:nvPr>
        </p:nvSpPr>
        <p:spPr/>
        <p:txBody>
          <a:bodyPr/>
          <a:lstStyle/>
          <a:p>
            <a:r>
              <a:rPr lang="en-AU" dirty="0"/>
              <a:t>Explain Data Persistence</a:t>
            </a:r>
          </a:p>
          <a:p>
            <a:r>
              <a:rPr lang="en-AU" dirty="0"/>
              <a:t>Describe different databases</a:t>
            </a:r>
          </a:p>
          <a:p>
            <a:r>
              <a:rPr lang="en-AU" dirty="0"/>
              <a:t>Outline the options in Python</a:t>
            </a:r>
          </a:p>
          <a:p>
            <a:endParaRPr lang="en-AU" dirty="0"/>
          </a:p>
        </p:txBody>
      </p:sp>
    </p:spTree>
    <p:extLst>
      <p:ext uri="{BB962C8B-B14F-4D97-AF65-F5344CB8AC3E}">
        <p14:creationId xmlns:p14="http://schemas.microsoft.com/office/powerpoint/2010/main" val="3401558039"/>
      </p:ext>
    </p:extLst>
  </p:cSld>
  <p:clrMapOvr>
    <a:masterClrMapping/>
  </p:clrMapOvr>
  <p:transition spd="med"/>
</p:sld>
</file>

<file path=ppt/theme/theme1.xml><?xml version="1.0" encoding="utf-8"?>
<a:theme xmlns:a="http://schemas.openxmlformats.org/drawingml/2006/main" name="curtin2010-PP2003">
  <a:themeElements>
    <a:clrScheme name="curtin2010-PP2003">
      <a:dk1>
        <a:srgbClr val="333333"/>
      </a:dk1>
      <a:lt1>
        <a:srgbClr val="FFFFFF"/>
      </a:lt1>
      <a:dk2>
        <a:srgbClr val="A7A7A7"/>
      </a:dk2>
      <a:lt2>
        <a:srgbClr val="535353"/>
      </a:lt2>
      <a:accent1>
        <a:srgbClr val="CC9900"/>
      </a:accent1>
      <a:accent2>
        <a:srgbClr val="333399"/>
      </a:accent2>
      <a:accent3>
        <a:srgbClr val="8F8F8F"/>
      </a:accent3>
      <a:accent4>
        <a:srgbClr val="2A2A2A"/>
      </a:accent4>
      <a:accent5>
        <a:srgbClr val="E2CAAA"/>
      </a:accent5>
      <a:accent6>
        <a:srgbClr val="2D2D8A"/>
      </a:accent6>
      <a:hlink>
        <a:srgbClr val="0000FF"/>
      </a:hlink>
      <a:folHlink>
        <a:srgbClr val="FF00FF"/>
      </a:folHlink>
    </a:clrScheme>
    <a:fontScheme name="curtin2010-PP2003">
      <a:majorFont>
        <a:latin typeface="Arial"/>
        <a:ea typeface="Arial"/>
        <a:cs typeface="Arial"/>
      </a:majorFont>
      <a:minorFont>
        <a:latin typeface="Helvetica"/>
        <a:ea typeface="Helvetica"/>
        <a:cs typeface="Helvetica"/>
      </a:minorFont>
    </a:fontScheme>
    <a:fmtScheme name="curtin2010-PP2003">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8" tIns="45718" rIns="45718" bIns="45718"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curtin2010-PP2003">
  <a:themeElements>
    <a:clrScheme name="curtin2010-PP2003">
      <a:dk1>
        <a:srgbClr val="000000"/>
      </a:dk1>
      <a:lt1>
        <a:srgbClr val="FFFFFF"/>
      </a:lt1>
      <a:dk2>
        <a:srgbClr val="A7A7A7"/>
      </a:dk2>
      <a:lt2>
        <a:srgbClr val="535353"/>
      </a:lt2>
      <a:accent1>
        <a:srgbClr val="CC9900"/>
      </a:accent1>
      <a:accent2>
        <a:srgbClr val="333399"/>
      </a:accent2>
      <a:accent3>
        <a:srgbClr val="8F8F8F"/>
      </a:accent3>
      <a:accent4>
        <a:srgbClr val="2A2A2A"/>
      </a:accent4>
      <a:accent5>
        <a:srgbClr val="E2CAAA"/>
      </a:accent5>
      <a:accent6>
        <a:srgbClr val="2D2D8A"/>
      </a:accent6>
      <a:hlink>
        <a:srgbClr val="0000FF"/>
      </a:hlink>
      <a:folHlink>
        <a:srgbClr val="FF00FF"/>
      </a:folHlink>
    </a:clrScheme>
    <a:fontScheme name="curtin2010-PP2003">
      <a:majorFont>
        <a:latin typeface="Arial"/>
        <a:ea typeface="Arial"/>
        <a:cs typeface="Arial"/>
      </a:majorFont>
      <a:minorFont>
        <a:latin typeface="Helvetica"/>
        <a:ea typeface="Helvetica"/>
        <a:cs typeface="Helvetica"/>
      </a:minorFont>
    </a:fontScheme>
    <a:fmtScheme name="curtin2010-PP2003">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8" tIns="45718" rIns="45718" bIns="45718"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2898</TotalTime>
  <Words>4165</Words>
  <Application>Microsoft Macintosh PowerPoint</Application>
  <PresentationFormat>On-screen Show (4:3)</PresentationFormat>
  <Paragraphs>282</Paragraphs>
  <Slides>14</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American Typewriter</vt:lpstr>
      <vt:lpstr>Arial</vt:lpstr>
      <vt:lpstr>Calibri</vt:lpstr>
      <vt:lpstr>Helvetica</vt:lpstr>
      <vt:lpstr>Söhne</vt:lpstr>
      <vt:lpstr>Wingdings</vt:lpstr>
      <vt:lpstr>curtin2010-PP2003</vt:lpstr>
      <vt:lpstr>Data Management</vt:lpstr>
      <vt:lpstr>PowerPoint Presentation</vt:lpstr>
      <vt:lpstr>PowerPoint Presentation</vt:lpstr>
      <vt:lpstr>Today</vt:lpstr>
      <vt:lpstr>Flat Files</vt:lpstr>
      <vt:lpstr>Database</vt:lpstr>
      <vt:lpstr>SQL Databases</vt:lpstr>
      <vt:lpstr>No SQL</vt:lpstr>
      <vt:lpstr>SQLite</vt:lpstr>
      <vt:lpstr>SQLite - Pattern</vt:lpstr>
      <vt:lpstr>SQLAlchemy</vt:lpstr>
      <vt:lpstr>SQLAlchemy – Abstract Database</vt:lpstr>
      <vt:lpstr>Object Serialisation (Alternative)</vt:lpstr>
      <vt:lpstr>Can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Programming?</dc:title>
  <cp:lastModifiedBy>Michael Borck</cp:lastModifiedBy>
  <cp:revision>68</cp:revision>
  <cp:lastPrinted>2021-10-05T22:12:55Z</cp:lastPrinted>
  <dcterms:modified xsi:type="dcterms:W3CDTF">2023-04-24T02:42:27Z</dcterms:modified>
</cp:coreProperties>
</file>