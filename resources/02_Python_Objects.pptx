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6" r:id="rId2"/>
    <p:sldId id="257" r:id="rId3"/>
    <p:sldId id="258" r:id="rId4"/>
    <p:sldId id="289" r:id="rId5"/>
    <p:sldId id="261" r:id="rId6"/>
    <p:sldId id="259" r:id="rId7"/>
    <p:sldId id="262" r:id="rId8"/>
    <p:sldId id="260" r:id="rId9"/>
    <p:sldId id="288" r:id="rId10"/>
    <p:sldId id="269" r:id="rId11"/>
    <p:sldId id="270" r:id="rId12"/>
    <p:sldId id="290" r:id="rId13"/>
    <p:sldId id="272" r:id="rId14"/>
    <p:sldId id="273" r:id="rId15"/>
    <p:sldId id="277" r:id="rId16"/>
    <p:sldId id="280" r:id="rId17"/>
    <p:sldId id="274" r:id="rId18"/>
    <p:sldId id="279" r:id="rId19"/>
    <p:sldId id="281" r:id="rId20"/>
    <p:sldId id="278" r:id="rId21"/>
    <p:sldId id="282" r:id="rId22"/>
    <p:sldId id="283" r:id="rId23"/>
    <p:sldId id="284" r:id="rId24"/>
    <p:sldId id="285" r:id="rId25"/>
    <p:sldId id="286" r:id="rId26"/>
    <p:sldId id="275" r:id="rId27"/>
    <p:sldId id="287" r:id="rId28"/>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CDDCA"/>
          </a:solidFill>
        </a:fill>
      </a:tcStyle>
    </a:wholeTbl>
    <a:band2H>
      <a:tcTxStyle/>
      <a:tcStyle>
        <a:tcBdr/>
        <a:fill>
          <a:solidFill>
            <a:srgbClr val="F6EF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BDBDB"/>
          </a:solidFill>
        </a:fill>
      </a:tcStyle>
    </a:wholeTbl>
    <a:band2H>
      <a:tcTxStyle/>
      <a:tcStyle>
        <a:tcBdr/>
        <a:fill>
          <a:solidFill>
            <a:srgbClr val="EEEEEE"/>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D9"/>
          </a:solidFill>
        </a:fill>
      </a:tcStyle>
    </a:wholeTbl>
    <a:band2H>
      <a:tcTxStyle/>
      <a:tcStyle>
        <a:tcBdr/>
        <a:fill>
          <a:solidFill>
            <a:srgbClr val="E7E7E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333333"/>
        </a:fontRef>
        <a:srgbClr val="333333"/>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7"/>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333333"/>
        </a:fontRef>
        <a:srgbClr val="333333"/>
      </a:tcTxStyle>
      <a:tcStyle>
        <a:tcBdr>
          <a:left>
            <a:ln w="12700" cap="flat">
              <a:noFill/>
              <a:miter lim="400000"/>
            </a:ln>
          </a:left>
          <a:right>
            <a:ln w="12700" cap="flat">
              <a:noFill/>
              <a:miter lim="400000"/>
            </a:ln>
          </a:right>
          <a:top>
            <a:ln w="50800" cap="flat">
              <a:solidFill>
                <a:srgbClr val="333333"/>
              </a:solidFill>
              <a:prstDash val="solid"/>
              <a:round/>
            </a:ln>
          </a:top>
          <a:bottom>
            <a:ln w="25400" cap="flat">
              <a:solidFill>
                <a:srgbClr val="333333"/>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333333"/>
              </a:solidFill>
              <a:prstDash val="solid"/>
              <a:round/>
            </a:ln>
          </a:top>
          <a:bottom>
            <a:ln w="25400" cap="flat">
              <a:solidFill>
                <a:srgbClr val="333333"/>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CC"/>
          </a:solidFill>
        </a:fill>
      </a:tcStyle>
    </a:wholeTbl>
    <a:band2H>
      <a:tcTxStyle/>
      <a:tcStyle>
        <a:tcBdr/>
        <a:fill>
          <a:solidFill>
            <a:srgbClr val="E7E7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firstRow>
  </a:tblStyle>
  <a:tblStyle styleId="{2708684C-4D16-4618-839F-0558EEFCDFE6}" styleName="">
    <a:tblBg/>
    <a:wholeTbl>
      <a:tcTxStyle b="off"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solidFill>
            <a:srgbClr val="333333">
              <a:alpha val="20000"/>
            </a:srgbClr>
          </a:solidFill>
        </a:fill>
      </a:tcStyle>
    </a:wholeTbl>
    <a:band2H>
      <a:tcTxStyle/>
      <a:tcStyle>
        <a:tcBdr/>
        <a:fill>
          <a:solidFill>
            <a:srgbClr val="FFFFFF"/>
          </a:solidFill>
        </a:fill>
      </a:tcStyle>
    </a:band2H>
    <a:firstCol>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solidFill>
            <a:srgbClr val="333333">
              <a:alpha val="20000"/>
            </a:srgbClr>
          </a:solidFill>
        </a:fill>
      </a:tcStyle>
    </a:firstCol>
    <a:lastRow>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508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noFill/>
        </a:fill>
      </a:tcStyle>
    </a:lastRow>
    <a:firstRow>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254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089"/>
    <p:restoredTop sz="67287"/>
  </p:normalViewPr>
  <p:slideViewPr>
    <p:cSldViewPr snapToGrid="0" snapToObjects="1">
      <p:cViewPr varScale="1">
        <p:scale>
          <a:sx n="72" d="100"/>
          <a:sy n="72" d="100"/>
        </p:scale>
        <p:origin x="3232"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7" name="Shape 197"/>
          <p:cNvSpPr>
            <a:spLocks noGrp="1" noRot="1" noChangeAspect="1"/>
          </p:cNvSpPr>
          <p:nvPr>
            <p:ph type="sldImg"/>
          </p:nvPr>
        </p:nvSpPr>
        <p:spPr>
          <a:xfrm>
            <a:off x="1143000" y="685800"/>
            <a:ext cx="4572000" cy="3429000"/>
          </a:xfrm>
          <a:prstGeom prst="rect">
            <a:avLst/>
          </a:prstGeom>
        </p:spPr>
        <p:txBody>
          <a:bodyPr/>
          <a:lstStyle/>
          <a:p>
            <a:endParaRPr/>
          </a:p>
        </p:txBody>
      </p:sp>
      <p:sp>
        <p:nvSpPr>
          <p:cNvPr id="198" name="Shape 19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Arial"/>
      </a:defRPr>
    </a:lvl1pPr>
    <a:lvl2pPr indent="228600" latinLnBrk="0">
      <a:spcBef>
        <a:spcPts val="400"/>
      </a:spcBef>
      <a:defRPr sz="1200">
        <a:latin typeface="+mj-lt"/>
        <a:ea typeface="+mj-ea"/>
        <a:cs typeface="+mj-cs"/>
        <a:sym typeface="Arial"/>
      </a:defRPr>
    </a:lvl2pPr>
    <a:lvl3pPr indent="457200" latinLnBrk="0">
      <a:spcBef>
        <a:spcPts val="400"/>
      </a:spcBef>
      <a:defRPr sz="1200">
        <a:latin typeface="+mj-lt"/>
        <a:ea typeface="+mj-ea"/>
        <a:cs typeface="+mj-cs"/>
        <a:sym typeface="Arial"/>
      </a:defRPr>
    </a:lvl3pPr>
    <a:lvl4pPr indent="685800" latinLnBrk="0">
      <a:spcBef>
        <a:spcPts val="400"/>
      </a:spcBef>
      <a:defRPr sz="1200">
        <a:latin typeface="+mj-lt"/>
        <a:ea typeface="+mj-ea"/>
        <a:cs typeface="+mj-cs"/>
        <a:sym typeface="Arial"/>
      </a:defRPr>
    </a:lvl4pPr>
    <a:lvl5pPr indent="914400" latinLnBrk="0">
      <a:spcBef>
        <a:spcPts val="400"/>
      </a:spcBef>
      <a:defRPr sz="1200">
        <a:latin typeface="+mj-lt"/>
        <a:ea typeface="+mj-ea"/>
        <a:cs typeface="+mj-cs"/>
        <a:sym typeface="Arial"/>
      </a:defRPr>
    </a:lvl5pPr>
    <a:lvl6pPr indent="1143000" latinLnBrk="0">
      <a:spcBef>
        <a:spcPts val="400"/>
      </a:spcBef>
      <a:defRPr sz="1200">
        <a:latin typeface="+mj-lt"/>
        <a:ea typeface="+mj-ea"/>
        <a:cs typeface="+mj-cs"/>
        <a:sym typeface="Arial"/>
      </a:defRPr>
    </a:lvl6pPr>
    <a:lvl7pPr indent="1371600" latinLnBrk="0">
      <a:spcBef>
        <a:spcPts val="400"/>
      </a:spcBef>
      <a:defRPr sz="1200">
        <a:latin typeface="+mj-lt"/>
        <a:ea typeface="+mj-ea"/>
        <a:cs typeface="+mj-cs"/>
        <a:sym typeface="Arial"/>
      </a:defRPr>
    </a:lvl7pPr>
    <a:lvl8pPr indent="1600200" latinLnBrk="0">
      <a:spcBef>
        <a:spcPts val="400"/>
      </a:spcBef>
      <a:defRPr sz="1200">
        <a:latin typeface="+mj-lt"/>
        <a:ea typeface="+mj-ea"/>
        <a:cs typeface="+mj-cs"/>
        <a:sym typeface="Arial"/>
      </a:defRPr>
    </a:lvl8pPr>
    <a:lvl9pPr indent="1828800" latinLnBrk="0">
      <a:spcBef>
        <a:spcPts val="400"/>
      </a:spcBef>
      <a:defRPr sz="12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4588992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3768745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1192356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Rubber ducking is a technique used in computer programming and problem-solving that involves explaining a problem or code issue to an inanimate object, such as a rubber duck, as if it were a human listener. The goal of rubber ducking is to help the programmer better understand the problem and find a solution by forcing them to break down the issue into small, understandable pieces.</a:t>
            </a:r>
          </a:p>
          <a:p>
            <a:endParaRPr lang="en-AU" dirty="0"/>
          </a:p>
          <a:p>
            <a:r>
              <a:rPr lang="en-AU" dirty="0"/>
              <a:t>The idea behind rubber ducking is that by describing the problem out loud to an external entity, such as a rubber duck, the programmer can better understand the problem and identify solutions. This technique is often used when a programmer is stuck on a problem and cannot figure out a solution, and it can be helpful in identifying errors or misunderstandings in the code.</a:t>
            </a:r>
          </a:p>
          <a:p>
            <a:endParaRPr lang="en-AU" dirty="0"/>
          </a:p>
        </p:txBody>
      </p:sp>
    </p:spTree>
    <p:extLst>
      <p:ext uri="{BB962C8B-B14F-4D97-AF65-F5344CB8AC3E}">
        <p14:creationId xmlns:p14="http://schemas.microsoft.com/office/powerpoint/2010/main" val="18537348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Pseudocode is a type of informal language that programmers use to express the logic of an algorithm. It is a high-level description of the steps involved in solving a problem or completing a task, without using the syntax and specific details of any particular programming language.</a:t>
            </a:r>
          </a:p>
          <a:p>
            <a:endParaRPr lang="en-AU" dirty="0"/>
          </a:p>
          <a:p>
            <a:r>
              <a:rPr lang="en-AU" dirty="0"/>
              <a:t>Pseudocode uses simple and understandable English-like statements, and it allows developers to express their thoughts and ideas in a clear and concise manner. It is often used during the planning and design phase of software development, and it helps in communicating with stakeholders and other developers.</a:t>
            </a:r>
          </a:p>
          <a:p>
            <a:endParaRPr lang="en-AU" dirty="0"/>
          </a:p>
          <a:p>
            <a:r>
              <a:rPr lang="en-AU" dirty="0"/>
              <a:t>Pseudocode is not a formal programming language and cannot be compiled or executed directly by a computer. However, it serves as an essential tool for developers to understand and communicate the logic of a program before writing actual code. Once the pseudocode is created, developers can then use it as a guide to translate the algorithm into actual programming language code.</a:t>
            </a:r>
          </a:p>
          <a:p>
            <a:endParaRPr lang="en-AU" dirty="0"/>
          </a:p>
        </p:txBody>
      </p:sp>
    </p:spTree>
    <p:extLst>
      <p:ext uri="{BB962C8B-B14F-4D97-AF65-F5344CB8AC3E}">
        <p14:creationId xmlns:p14="http://schemas.microsoft.com/office/powerpoint/2010/main" val="28939728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When programming, algorithms must be translated into code. This is typically done through pseudocode, which is like an algorithm implemented in English (or another spoken or written language). To ensure accuracy and precision, it is important to consider fundamental concepts that will be useful throughout the programming process.</a:t>
            </a:r>
          </a:p>
          <a:p>
            <a:endParaRPr lang="en-AU" dirty="0"/>
          </a:p>
          <a:p>
            <a:r>
              <a:rPr lang="en-AU" dirty="0"/>
              <a:t>For example, let's consider the process of looking up a word in a dictionary. The algorithm for this task involves several steps. First, pick up the dictionary. Next, open it to the middle page. Then, look at the page to see if the word is present.</a:t>
            </a:r>
          </a:p>
          <a:p>
            <a:endParaRPr lang="en-AU" dirty="0"/>
          </a:p>
          <a:p>
            <a:r>
              <a:rPr lang="en-AU" dirty="0"/>
              <a:t>If the word is on the page, the definition can be read and the task is complete. However, if the word is not on the page, the algorithm continues. If the word is earlier in the book, open the left half of the book and repeat the process from step three. Similarly, if the word is later in the book, open the right half and repeat the process.</a:t>
            </a:r>
          </a:p>
          <a:p>
            <a:endParaRPr lang="en-AU" dirty="0"/>
          </a:p>
          <a:p>
            <a:r>
              <a:rPr lang="en-AU" dirty="0"/>
              <a:t>It's important to note that this algorithm can be repeated as needed to find the desired word. However, there is also the possibility that the word is not in the dictionary at all. In this case, a different approach would be necessary.</a:t>
            </a:r>
          </a:p>
          <a:p>
            <a:r>
              <a:rPr lang="en-AU" dirty="0"/>
              <a:t>In summary, understanding the fundamentals of programming concepts like algorithms and pseudocode is essential to effectively translating them into working code.</a:t>
            </a:r>
          </a:p>
        </p:txBody>
      </p:sp>
    </p:spTree>
    <p:extLst>
      <p:ext uri="{BB962C8B-B14F-4D97-AF65-F5344CB8AC3E}">
        <p14:creationId xmlns:p14="http://schemas.microsoft.com/office/powerpoint/2010/main" val="3968802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Problem solving methodology is a structured approach to identifying and resolving issues and challenges in a systematic way. It involves a step-by-step process that can be applied to a wide range of problems in various fields, such as science, engineering, mathematics, and computer science.</a:t>
            </a:r>
          </a:p>
          <a:p>
            <a:r>
              <a:rPr lang="en-AU" dirty="0"/>
              <a:t>A typical problem solving methodology includes the following steps:</a:t>
            </a:r>
          </a:p>
          <a:p>
            <a:endParaRPr lang="en-AU" dirty="0"/>
          </a:p>
          <a:p>
            <a:pPr>
              <a:buFont typeface="+mj-lt"/>
              <a:buAutoNum type="arabicPeriod"/>
            </a:pPr>
            <a:r>
              <a:rPr lang="en-AU" dirty="0"/>
              <a:t>Clearly identify and describe the problem or challenge that needs to be solved.</a:t>
            </a:r>
          </a:p>
          <a:p>
            <a:pPr>
              <a:buFont typeface="+mj-lt"/>
              <a:buAutoNum type="arabicPeriod"/>
            </a:pPr>
            <a:r>
              <a:rPr lang="en-AU" dirty="0"/>
              <a:t>Collect relevant data and information about the problem and its context.</a:t>
            </a:r>
          </a:p>
          <a:p>
            <a:pPr>
              <a:buFont typeface="+mj-lt"/>
              <a:buAutoNum type="arabicPeriod"/>
            </a:pPr>
            <a:r>
              <a:rPr lang="en-AU" dirty="0"/>
              <a:t>Generate possible solutions, Brainstorm potential solutions and alternatives.</a:t>
            </a:r>
          </a:p>
          <a:p>
            <a:pPr>
              <a:buFont typeface="+mj-lt"/>
              <a:buAutoNum type="arabicPeriod"/>
            </a:pPr>
            <a:r>
              <a:rPr lang="en-AU" dirty="0"/>
              <a:t>Evaluate options: Assess the advantages and disadvantages of each option and choose the best one.</a:t>
            </a:r>
          </a:p>
          <a:p>
            <a:pPr>
              <a:buFont typeface="+mj-lt"/>
              <a:buAutoNum type="arabicPeriod"/>
            </a:pPr>
            <a:r>
              <a:rPr lang="en-AU" dirty="0"/>
              <a:t>Develop and execute a plan to implement the chosen solution.</a:t>
            </a:r>
          </a:p>
          <a:p>
            <a:pPr>
              <a:buFont typeface="+mj-lt"/>
              <a:buAutoNum type="arabicPeriod"/>
            </a:pPr>
            <a:r>
              <a:rPr lang="en-AU" dirty="0"/>
              <a:t>Test/Evaluate the effectiveness of the solution and make necessary adjustments.</a:t>
            </a:r>
          </a:p>
          <a:p>
            <a:pPr>
              <a:buFont typeface="+mj-lt"/>
              <a:buAutoNum type="arabicPeriod"/>
            </a:pPr>
            <a:endParaRPr lang="en-AU" dirty="0"/>
          </a:p>
          <a:p>
            <a:r>
              <a:rPr lang="en-AU" dirty="0"/>
              <a:t>Problem solving methodology can be used for a variety of problems, from simple to complex, and it can be applied to both personal and professional settings. It provides a structured and systematic way of approaching problems, helping individuals and organizations to make more informed and effective decisions.</a:t>
            </a:r>
          </a:p>
          <a:p>
            <a:endParaRPr lang="en-AU" dirty="0"/>
          </a:p>
        </p:txBody>
      </p:sp>
    </p:spTree>
    <p:extLst>
      <p:ext uri="{BB962C8B-B14F-4D97-AF65-F5344CB8AC3E}">
        <p14:creationId xmlns:p14="http://schemas.microsoft.com/office/powerpoint/2010/main" val="24504100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5391212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44171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8562419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Tree>
    <p:extLst>
      <p:ext uri="{BB962C8B-B14F-4D97-AF65-F5344CB8AC3E}">
        <p14:creationId xmlns:p14="http://schemas.microsoft.com/office/powerpoint/2010/main" val="24504100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One-line 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4" name="Rectangle"/>
          <p:cNvSpPr/>
          <p:nvPr/>
        </p:nvSpPr>
        <p:spPr>
          <a:xfrm>
            <a:off x="0" y="4000503"/>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15" name="Body Level One…"/>
          <p:cNvSpPr txBox="1">
            <a:spLocks noGrp="1"/>
          </p:cNvSpPr>
          <p:nvPr>
            <p:ph type="body" sz="quarter" idx="1"/>
          </p:nvPr>
        </p:nvSpPr>
        <p:spPr>
          <a:xfrm>
            <a:off x="0" y="4000503"/>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6"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17" name="Title Text"/>
          <p:cNvSpPr txBox="1">
            <a:spLocks noGrp="1"/>
          </p:cNvSpPr>
          <p:nvPr>
            <p:ph type="title"/>
          </p:nvPr>
        </p:nvSpPr>
        <p:spPr>
          <a:xfrm>
            <a:off x="0" y="3214684"/>
            <a:ext cx="5760000" cy="786166"/>
          </a:xfrm>
          <a:prstGeom prst="rect">
            <a:avLst/>
          </a:prstGeom>
          <a:solidFill>
            <a:schemeClr val="accent1"/>
          </a:solidFill>
        </p:spPr>
        <p:txBody>
          <a:bodyPr anchor="b"/>
          <a:lstStyle>
            <a:lvl1pPr>
              <a:defRPr sz="4400">
                <a:solidFill>
                  <a:srgbClr val="FFFFFF"/>
                </a:solidFill>
              </a:defRPr>
            </a:lvl1pPr>
          </a:lstStyle>
          <a:p>
            <a:r>
              <a:t>Title Text</a:t>
            </a:r>
          </a:p>
        </p:txBody>
      </p:sp>
      <p:sp>
        <p:nvSpPr>
          <p:cNvPr id="1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One-line title, transparent">
    <p:spTree>
      <p:nvGrpSpPr>
        <p:cNvPr id="1" name=""/>
        <p:cNvGrpSpPr/>
        <p:nvPr/>
      </p:nvGrpSpPr>
      <p:grpSpPr>
        <a:xfrm>
          <a:off x="0" y="0"/>
          <a:ext cx="0" cy="0"/>
          <a:chOff x="0" y="0"/>
          <a:chExt cx="0" cy="0"/>
        </a:xfrm>
      </p:grpSpPr>
      <p:pic>
        <p:nvPicPr>
          <p:cNvPr id="25" name="curtinPowerPointBGTitle" descr="curtinPowerPointBGTitle"/>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26" name="Rectangle"/>
          <p:cNvSpPr/>
          <p:nvPr/>
        </p:nvSpPr>
        <p:spPr>
          <a:xfrm>
            <a:off x="0" y="5063734"/>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27" name="Body Level One…"/>
          <p:cNvSpPr txBox="1">
            <a:spLocks noGrp="1"/>
          </p:cNvSpPr>
          <p:nvPr>
            <p:ph type="body" sz="quarter" idx="1"/>
          </p:nvPr>
        </p:nvSpPr>
        <p:spPr>
          <a:xfrm>
            <a:off x="92818" y="5054603"/>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8"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000000"/>
                </a:solidFill>
                <a:latin typeface="+mj-lt"/>
                <a:ea typeface="+mj-ea"/>
                <a:cs typeface="+mj-cs"/>
                <a:sym typeface="Arial"/>
              </a:defRPr>
            </a:pPr>
            <a:r>
              <a:t>Curtin University is a trademark of Curtin University of Technology</a:t>
            </a:r>
          </a:p>
          <a:p>
            <a:pPr>
              <a:defRPr sz="600">
                <a:solidFill>
                  <a:srgbClr val="000000"/>
                </a:solidFill>
                <a:latin typeface="+mj-lt"/>
                <a:ea typeface="+mj-ea"/>
                <a:cs typeface="+mj-cs"/>
                <a:sym typeface="Arial"/>
              </a:defRPr>
            </a:pPr>
            <a:r>
              <a:t>CRICOS Provider Code 00301J</a:t>
            </a:r>
          </a:p>
        </p:txBody>
      </p:sp>
      <p:sp>
        <p:nvSpPr>
          <p:cNvPr id="29" name="Title Text"/>
          <p:cNvSpPr txBox="1">
            <a:spLocks noGrp="1"/>
          </p:cNvSpPr>
          <p:nvPr>
            <p:ph type="title"/>
          </p:nvPr>
        </p:nvSpPr>
        <p:spPr>
          <a:xfrm>
            <a:off x="0" y="4268437"/>
            <a:ext cx="5760000" cy="786166"/>
          </a:xfrm>
          <a:prstGeom prst="rect">
            <a:avLst/>
          </a:prstGeom>
          <a:solidFill>
            <a:schemeClr val="accent1">
              <a:alpha val="80000"/>
            </a:schemeClr>
          </a:solidFill>
        </p:spPr>
        <p:txBody>
          <a:bodyPr anchor="b"/>
          <a:lstStyle>
            <a:lvl1pPr>
              <a:defRPr sz="4400">
                <a:solidFill>
                  <a:srgbClr val="FFFFFF"/>
                </a:solidFill>
              </a:defRPr>
            </a:lvl1pPr>
          </a:lstStyle>
          <a:p>
            <a:r>
              <a:t>Title Text</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line 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37" name="Rectangle"/>
          <p:cNvSpPr/>
          <p:nvPr/>
        </p:nvSpPr>
        <p:spPr>
          <a:xfrm>
            <a:off x="0" y="4429130"/>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38" name="Body Level One…"/>
          <p:cNvSpPr txBox="1">
            <a:spLocks noGrp="1"/>
          </p:cNvSpPr>
          <p:nvPr>
            <p:ph type="body" sz="quarter" idx="1"/>
          </p:nvPr>
        </p:nvSpPr>
        <p:spPr>
          <a:xfrm>
            <a:off x="0" y="4429130"/>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39"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40" name="Title Text"/>
          <p:cNvSpPr txBox="1">
            <a:spLocks noGrp="1"/>
          </p:cNvSpPr>
          <p:nvPr>
            <p:ph type="title"/>
          </p:nvPr>
        </p:nvSpPr>
        <p:spPr>
          <a:xfrm>
            <a:off x="0" y="2857493"/>
            <a:ext cx="5760000" cy="786166"/>
          </a:xfrm>
          <a:prstGeom prst="rect">
            <a:avLst/>
          </a:prstGeom>
          <a:solidFill>
            <a:schemeClr val="accent1"/>
          </a:solidFill>
        </p:spPr>
        <p:txBody>
          <a:bodyPr anchor="b"/>
          <a:lstStyle>
            <a:lvl1pPr>
              <a:defRPr sz="4400">
                <a:solidFill>
                  <a:srgbClr val="FFFFFF"/>
                </a:solidFill>
              </a:defRPr>
            </a:lvl1pPr>
          </a:lstStyle>
          <a:p>
            <a:r>
              <a:t>Title Text</a:t>
            </a:r>
          </a:p>
        </p:txBody>
      </p:sp>
      <p:sp>
        <p:nvSpPr>
          <p:cNvPr id="41" name="CHANGE IN MASTER"/>
          <p:cNvSpPr/>
          <p:nvPr/>
        </p:nvSpPr>
        <p:spPr>
          <a:xfrm>
            <a:off x="-3" y="3812756"/>
            <a:ext cx="5601247" cy="616720"/>
          </a:xfrm>
          <a:prstGeom prst="rect">
            <a:avLst/>
          </a:prstGeom>
          <a:solidFill>
            <a:schemeClr val="accent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b">
            <a:spAutoFit/>
          </a:bodyPr>
          <a:lstStyle>
            <a:lvl1pPr>
              <a:defRPr sz="4400">
                <a:solidFill>
                  <a:srgbClr val="FFFFFF"/>
                </a:solidFill>
                <a:latin typeface="+mj-lt"/>
                <a:ea typeface="+mj-ea"/>
                <a:cs typeface="+mj-cs"/>
                <a:sym typeface="Arial"/>
              </a:defRPr>
            </a:lvl1pPr>
          </a:lstStyle>
          <a:p>
            <a:r>
              <a:t>CHANGE IN MASTER</a:t>
            </a:r>
          </a:p>
        </p:txBody>
      </p:sp>
      <p:sp>
        <p:nvSpPr>
          <p:cNvPr id="42"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wo-line title, transparent">
    <p:spTree>
      <p:nvGrpSpPr>
        <p:cNvPr id="1" name=""/>
        <p:cNvGrpSpPr/>
        <p:nvPr/>
      </p:nvGrpSpPr>
      <p:grpSpPr>
        <a:xfrm>
          <a:off x="0" y="0"/>
          <a:ext cx="0" cy="0"/>
          <a:chOff x="0" y="0"/>
          <a:chExt cx="0" cy="0"/>
        </a:xfrm>
      </p:grpSpPr>
      <p:pic>
        <p:nvPicPr>
          <p:cNvPr id="49" name="curtinPowerPointBGTitle" descr="curtinPowerPointBGTitle"/>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50"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51" name="Rectangle"/>
          <p:cNvSpPr/>
          <p:nvPr/>
        </p:nvSpPr>
        <p:spPr>
          <a:xfrm>
            <a:off x="0" y="4429130"/>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52" name="Body Level One…"/>
          <p:cNvSpPr txBox="1">
            <a:spLocks noGrp="1"/>
          </p:cNvSpPr>
          <p:nvPr>
            <p:ph type="body" sz="quarter" idx="1"/>
          </p:nvPr>
        </p:nvSpPr>
        <p:spPr>
          <a:xfrm>
            <a:off x="0" y="4429130"/>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53" name="Title Text"/>
          <p:cNvSpPr txBox="1">
            <a:spLocks noGrp="1"/>
          </p:cNvSpPr>
          <p:nvPr>
            <p:ph type="title"/>
          </p:nvPr>
        </p:nvSpPr>
        <p:spPr>
          <a:xfrm>
            <a:off x="0" y="2857493"/>
            <a:ext cx="5760000" cy="786166"/>
          </a:xfrm>
          <a:prstGeom prst="rect">
            <a:avLst/>
          </a:prstGeom>
          <a:solidFill>
            <a:schemeClr val="accent1">
              <a:alpha val="80000"/>
            </a:schemeClr>
          </a:solidFill>
        </p:spPr>
        <p:txBody>
          <a:bodyPr anchor="b"/>
          <a:lstStyle>
            <a:lvl1pPr>
              <a:defRPr sz="4400">
                <a:solidFill>
                  <a:srgbClr val="FFFFFF"/>
                </a:solidFill>
              </a:defRPr>
            </a:lvl1pPr>
          </a:lstStyle>
          <a:p>
            <a:r>
              <a:t>Title Text</a:t>
            </a:r>
          </a:p>
        </p:txBody>
      </p:sp>
      <p:sp>
        <p:nvSpPr>
          <p:cNvPr id="54" name="CHANGE IN MASTER"/>
          <p:cNvSpPr/>
          <p:nvPr/>
        </p:nvSpPr>
        <p:spPr>
          <a:xfrm>
            <a:off x="-3" y="3812756"/>
            <a:ext cx="5601247" cy="616720"/>
          </a:xfrm>
          <a:prstGeom prst="rect">
            <a:avLst/>
          </a:prstGeom>
          <a:solidFill>
            <a:schemeClr val="accent1">
              <a:alpha val="80000"/>
            </a:schemeClr>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b">
            <a:spAutoFit/>
          </a:bodyPr>
          <a:lstStyle>
            <a:lvl1pPr>
              <a:defRPr sz="4400">
                <a:solidFill>
                  <a:srgbClr val="FFFFFF"/>
                </a:solidFill>
                <a:latin typeface="+mj-lt"/>
                <a:ea typeface="+mj-ea"/>
                <a:cs typeface="+mj-cs"/>
                <a:sym typeface="Arial"/>
              </a:defRPr>
            </a:lvl1pPr>
          </a:lstStyle>
          <a:p>
            <a:r>
              <a:t>CHANGE IN MASTER</a:t>
            </a:r>
          </a:p>
        </p:txBody>
      </p:sp>
      <p:sp>
        <p:nvSpPr>
          <p:cNvPr id="55"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62" name="Title Text"/>
          <p:cNvSpPr txBox="1">
            <a:spLocks noGrp="1"/>
          </p:cNvSpPr>
          <p:nvPr>
            <p:ph type="title"/>
          </p:nvPr>
        </p:nvSpPr>
        <p:spPr>
          <a:prstGeom prst="rect">
            <a:avLst/>
          </a:prstGeom>
        </p:spPr>
        <p:txBody>
          <a:bodyPr/>
          <a:lstStyle/>
          <a:p>
            <a:r>
              <a:t>Title Text</a:t>
            </a:r>
          </a:p>
        </p:txBody>
      </p:sp>
      <p:sp>
        <p:nvSpPr>
          <p:cNvPr id="63"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64" name="Slide Number"/>
          <p:cNvSpPr txBox="1">
            <a:spLocks noGrp="1"/>
          </p:cNvSpPr>
          <p:nvPr>
            <p:ph type="sldNum" sz="quarter" idx="2"/>
          </p:nvPr>
        </p:nvSpPr>
        <p:spPr>
          <a:xfrm>
            <a:off x="4419600" y="6172200"/>
            <a:ext cx="2133600" cy="3683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71"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72"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73" name="Title Text"/>
          <p:cNvSpPr txBox="1">
            <a:spLocks noGrp="1"/>
          </p:cNvSpPr>
          <p:nvPr>
            <p:ph type="title"/>
          </p:nvPr>
        </p:nvSpPr>
        <p:spPr>
          <a:xfrm>
            <a:off x="722312" y="4406900"/>
            <a:ext cx="7772401" cy="1362075"/>
          </a:xfrm>
          <a:prstGeom prst="rect">
            <a:avLst/>
          </a:prstGeom>
        </p:spPr>
        <p:txBody>
          <a:bodyPr/>
          <a:lstStyle>
            <a:lvl1pPr>
              <a:defRPr sz="4000" b="1" cap="all"/>
            </a:lvl1pPr>
          </a:lstStyle>
          <a:p>
            <a:r>
              <a:t>Title Text</a:t>
            </a:r>
          </a:p>
        </p:txBody>
      </p:sp>
      <p:sp>
        <p:nvSpPr>
          <p:cNvPr id="74" name="Body Level One…"/>
          <p:cNvSpPr txBox="1">
            <a:spLocks noGrp="1"/>
          </p:cNvSpPr>
          <p:nvPr>
            <p:ph type="body" sz="quarter" idx="1"/>
          </p:nvPr>
        </p:nvSpPr>
        <p:spPr>
          <a:xfrm>
            <a:off x="722312" y="2906713"/>
            <a:ext cx="7772401" cy="1500190"/>
          </a:xfrm>
          <a:prstGeom prst="rect">
            <a:avLst/>
          </a:prstGeom>
        </p:spPr>
        <p:txBody>
          <a:bodyPr anchor="b"/>
          <a:lstStyle>
            <a:lvl1pPr marL="0" indent="0">
              <a:spcBef>
                <a:spcPts val="700"/>
              </a:spcBef>
              <a:buClrTx/>
              <a:buSzTx/>
              <a:buNone/>
              <a:defRPr sz="2000"/>
            </a:lvl1pPr>
            <a:lvl2pPr indent="0">
              <a:spcBef>
                <a:spcPts val="700"/>
              </a:spcBef>
              <a:buClrTx/>
              <a:buFontTx/>
              <a:defRPr sz="2000"/>
            </a:lvl2pPr>
            <a:lvl3pPr indent="0">
              <a:spcBef>
                <a:spcPts val="700"/>
              </a:spcBef>
              <a:buClrTx/>
              <a:buFontTx/>
              <a:defRPr sz="2000"/>
            </a:lvl3pPr>
            <a:lvl4pPr indent="0">
              <a:spcBef>
                <a:spcPts val="700"/>
              </a:spcBef>
              <a:buClrTx/>
              <a:buFontTx/>
              <a:defRPr sz="2000"/>
            </a:lvl4pPr>
            <a:lvl5pPr indent="0">
              <a:spcBef>
                <a:spcPts val="700"/>
              </a:spcBef>
              <a:buClrTx/>
              <a:buFontTx/>
              <a:defRPr sz="2000"/>
            </a:lvl5pPr>
          </a:lstStyle>
          <a:p>
            <a:r>
              <a:t>Body Level One</a:t>
            </a:r>
          </a:p>
          <a:p>
            <a:pPr lvl="1"/>
            <a:r>
              <a:t>Body Level Two</a:t>
            </a:r>
          </a:p>
          <a:p>
            <a:pPr lvl="2"/>
            <a:r>
              <a:t>Body Level Three</a:t>
            </a:r>
          </a:p>
          <a:p>
            <a:pPr lvl="3"/>
            <a:r>
              <a:t>Body Level Four</a:t>
            </a:r>
          </a:p>
          <a:p>
            <a:pPr lvl="4"/>
            <a:r>
              <a:t>Body Level Five</a:t>
            </a:r>
          </a:p>
        </p:txBody>
      </p:sp>
      <p:sp>
        <p:nvSpPr>
          <p:cNvPr id="75"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82"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83"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84"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85" name="Body Level One…"/>
          <p:cNvSpPr txBox="1">
            <a:spLocks noGrp="1"/>
          </p:cNvSpPr>
          <p:nvPr>
            <p:ph type="body" sz="half" idx="1"/>
          </p:nvPr>
        </p:nvSpPr>
        <p:spPr>
          <a:xfrm>
            <a:off x="457200" y="1600200"/>
            <a:ext cx="4038600" cy="4349750"/>
          </a:xfrm>
          <a:prstGeom prst="rect">
            <a:avLst/>
          </a:prstGeom>
        </p:spPr>
        <p:txBody>
          <a:bodyPr/>
          <a:lstStyle>
            <a:lvl1pPr>
              <a:spcBef>
                <a:spcPts val="1000"/>
              </a:spcBef>
              <a:defRPr sz="2800"/>
            </a:lvl1pPr>
            <a:lvl2pPr indent="0">
              <a:spcBef>
                <a:spcPts val="1000"/>
              </a:spcBef>
              <a:defRPr sz="2800"/>
            </a:lvl2pPr>
            <a:lvl3pPr indent="0">
              <a:spcBef>
                <a:spcPts val="1000"/>
              </a:spcBef>
              <a:defRPr sz="2800"/>
            </a:lvl3pPr>
            <a:lvl4pPr indent="0">
              <a:spcBef>
                <a:spcPts val="1000"/>
              </a:spcBef>
              <a:defRPr sz="2800"/>
            </a:lvl4pPr>
            <a:lvl5pPr indent="0">
              <a:spcBef>
                <a:spcPts val="1000"/>
              </a:spcBef>
              <a:defRPr sz="28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93"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94"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95"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96" name="Body Level One…"/>
          <p:cNvSpPr txBox="1">
            <a:spLocks noGrp="1"/>
          </p:cNvSpPr>
          <p:nvPr>
            <p:ph type="body" sz="quarter" idx="1"/>
          </p:nvPr>
        </p:nvSpPr>
        <p:spPr>
          <a:xfrm>
            <a:off x="457200" y="1535112"/>
            <a:ext cx="4040188" cy="639763"/>
          </a:xfrm>
          <a:prstGeom prst="rect">
            <a:avLst/>
          </a:prstGeom>
        </p:spPr>
        <p:txBody>
          <a:bodyPr anchor="b"/>
          <a:lstStyle>
            <a:lvl1pPr marL="0" indent="0">
              <a:buClrTx/>
              <a:buSzTx/>
              <a:buNone/>
              <a:defRPr b="1"/>
            </a:lvl1pPr>
            <a:lvl2pPr indent="0">
              <a:buClrTx/>
              <a:buFontTx/>
              <a:defRPr b="1"/>
            </a:lvl2pPr>
            <a:lvl3pPr indent="0">
              <a:buClrTx/>
              <a:buFontTx/>
              <a:defRPr b="1"/>
            </a:lvl3pPr>
            <a:lvl4pPr indent="0">
              <a:buClrTx/>
              <a:buFontTx/>
              <a:defRPr b="1"/>
            </a:lvl4pPr>
            <a:lvl5pPr indent="0">
              <a:buClrTx/>
              <a:buFontTx/>
              <a:defRPr b="1"/>
            </a:lvl5pPr>
          </a:lstStyle>
          <a:p>
            <a:r>
              <a:t>Body Level One</a:t>
            </a:r>
          </a:p>
          <a:p>
            <a:pPr lvl="1"/>
            <a:r>
              <a:t>Body Level Two</a:t>
            </a:r>
          </a:p>
          <a:p>
            <a:pPr lvl="2"/>
            <a:r>
              <a:t>Body Level Three</a:t>
            </a:r>
          </a:p>
          <a:p>
            <a:pPr lvl="3"/>
            <a:r>
              <a:t>Body Level Four</a:t>
            </a:r>
          </a:p>
          <a:p>
            <a:pPr lvl="4"/>
            <a:r>
              <a:t>Body Level Five</a:t>
            </a:r>
          </a:p>
        </p:txBody>
      </p:sp>
      <p:sp>
        <p:nvSpPr>
          <p:cNvPr id="97" name="Rectangle"/>
          <p:cNvSpPr>
            <a:spLocks noGrp="1"/>
          </p:cNvSpPr>
          <p:nvPr>
            <p:ph type="body" sz="quarter" idx="13"/>
          </p:nvPr>
        </p:nvSpPr>
        <p:spPr>
          <a:xfrm>
            <a:off x="4645025" y="1535112"/>
            <a:ext cx="4041775" cy="639765"/>
          </a:xfrm>
          <a:prstGeom prst="rect">
            <a:avLst/>
          </a:prstGeom>
        </p:spPr>
        <p:txBody>
          <a:bodyPr anchor="b"/>
          <a:lstStyle/>
          <a:p>
            <a:endParaRPr/>
          </a:p>
        </p:txBody>
      </p:sp>
      <p:sp>
        <p:nvSpPr>
          <p:cNvPr id="9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105"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06"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07"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10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115"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16"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17"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124"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25"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26" name="Title Text"/>
          <p:cNvSpPr txBox="1">
            <a:spLocks noGrp="1"/>
          </p:cNvSpPr>
          <p:nvPr>
            <p:ph type="title"/>
          </p:nvPr>
        </p:nvSpPr>
        <p:spPr>
          <a:xfrm>
            <a:off x="457200" y="273050"/>
            <a:ext cx="3008316" cy="1162050"/>
          </a:xfrm>
          <a:prstGeom prst="rect">
            <a:avLst/>
          </a:prstGeom>
        </p:spPr>
        <p:txBody>
          <a:bodyPr anchor="b"/>
          <a:lstStyle>
            <a:lvl1pPr>
              <a:defRPr sz="2000" b="1"/>
            </a:lvl1pPr>
          </a:lstStyle>
          <a:p>
            <a:r>
              <a:t>Title Text</a:t>
            </a:r>
          </a:p>
        </p:txBody>
      </p:sp>
      <p:sp>
        <p:nvSpPr>
          <p:cNvPr id="127" name="Body Level One…"/>
          <p:cNvSpPr txBox="1">
            <a:spLocks noGrp="1"/>
          </p:cNvSpPr>
          <p:nvPr>
            <p:ph type="body" idx="1"/>
          </p:nvPr>
        </p:nvSpPr>
        <p:spPr>
          <a:xfrm>
            <a:off x="3575050" y="273050"/>
            <a:ext cx="5111750" cy="5656282"/>
          </a:xfrm>
          <a:prstGeom prst="rect">
            <a:avLst/>
          </a:prstGeom>
        </p:spPr>
        <p:txBody>
          <a:bodyPr/>
          <a:lstStyle>
            <a:lvl1pPr>
              <a:spcBef>
                <a:spcPts val="1100"/>
              </a:spcBef>
              <a:defRPr sz="3200"/>
            </a:lvl1pPr>
            <a:lvl2pPr indent="0">
              <a:spcBef>
                <a:spcPts val="1100"/>
              </a:spcBef>
              <a:defRPr sz="3200"/>
            </a:lvl2pPr>
            <a:lvl3pPr indent="0">
              <a:spcBef>
                <a:spcPts val="1100"/>
              </a:spcBef>
              <a:defRPr sz="3200"/>
            </a:lvl3pPr>
            <a:lvl4pPr indent="0">
              <a:spcBef>
                <a:spcPts val="1100"/>
              </a:spcBef>
              <a:defRPr sz="3200"/>
            </a:lvl4pPr>
            <a:lvl5pPr indent="0">
              <a:spcBef>
                <a:spcPts val="1100"/>
              </a:spcBef>
              <a:defRPr sz="3200"/>
            </a:lvl5pPr>
          </a:lstStyle>
          <a:p>
            <a:r>
              <a:t>Body Level One</a:t>
            </a:r>
          </a:p>
          <a:p>
            <a:pPr lvl="1"/>
            <a:r>
              <a:t>Body Level Two</a:t>
            </a:r>
          </a:p>
          <a:p>
            <a:pPr lvl="2"/>
            <a:r>
              <a:t>Body Level Three</a:t>
            </a:r>
          </a:p>
          <a:p>
            <a:pPr lvl="3"/>
            <a:r>
              <a:t>Body Level Four</a:t>
            </a:r>
          </a:p>
          <a:p>
            <a:pPr lvl="4"/>
            <a:r>
              <a:t>Body Level Five</a:t>
            </a:r>
          </a:p>
        </p:txBody>
      </p:sp>
      <p:sp>
        <p:nvSpPr>
          <p:cNvPr id="128" name="Rectangle"/>
          <p:cNvSpPr>
            <a:spLocks noGrp="1"/>
          </p:cNvSpPr>
          <p:nvPr>
            <p:ph type="body" sz="half" idx="13"/>
          </p:nvPr>
        </p:nvSpPr>
        <p:spPr>
          <a:xfrm>
            <a:off x="457198" y="1435099"/>
            <a:ext cx="3008317" cy="4494234"/>
          </a:xfrm>
          <a:prstGeom prst="rect">
            <a:avLst/>
          </a:prstGeom>
        </p:spPr>
        <p:txBody>
          <a:bodyPr/>
          <a:lstStyle/>
          <a:p>
            <a:endParaRPr/>
          </a:p>
        </p:txBody>
      </p:sp>
      <p:sp>
        <p:nvSpPr>
          <p:cNvPr id="129"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136"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37"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38" name="Title Text"/>
          <p:cNvSpPr txBox="1">
            <a:spLocks noGrp="1"/>
          </p:cNvSpPr>
          <p:nvPr>
            <p:ph type="title"/>
          </p:nvPr>
        </p:nvSpPr>
        <p:spPr>
          <a:xfrm>
            <a:off x="1792288" y="4800600"/>
            <a:ext cx="5486403" cy="566738"/>
          </a:xfrm>
          <a:prstGeom prst="rect">
            <a:avLst/>
          </a:prstGeom>
        </p:spPr>
        <p:txBody>
          <a:bodyPr anchor="b"/>
          <a:lstStyle>
            <a:lvl1pPr>
              <a:defRPr sz="2000" b="1"/>
            </a:lvl1pPr>
          </a:lstStyle>
          <a:p>
            <a:r>
              <a:t>Title Text</a:t>
            </a:r>
          </a:p>
        </p:txBody>
      </p:sp>
      <p:sp>
        <p:nvSpPr>
          <p:cNvPr id="139" name="Image"/>
          <p:cNvSpPr>
            <a:spLocks noGrp="1"/>
          </p:cNvSpPr>
          <p:nvPr>
            <p:ph type="pic" sz="half" idx="13"/>
          </p:nvPr>
        </p:nvSpPr>
        <p:spPr>
          <a:xfrm>
            <a:off x="1792288" y="612775"/>
            <a:ext cx="5486403" cy="4114800"/>
          </a:xfrm>
          <a:prstGeom prst="rect">
            <a:avLst/>
          </a:prstGeom>
        </p:spPr>
        <p:txBody>
          <a:bodyPr lIns="91439" tIns="45719" rIns="91439" bIns="45719">
            <a:noAutofit/>
          </a:bodyPr>
          <a:lstStyle/>
          <a:p>
            <a:endParaRPr/>
          </a:p>
        </p:txBody>
      </p:sp>
      <p:sp>
        <p:nvSpPr>
          <p:cNvPr id="140" name="Body Level One…"/>
          <p:cNvSpPr txBox="1">
            <a:spLocks noGrp="1"/>
          </p:cNvSpPr>
          <p:nvPr>
            <p:ph type="body" sz="quarter" idx="1"/>
          </p:nvPr>
        </p:nvSpPr>
        <p:spPr>
          <a:xfrm>
            <a:off x="1792288" y="5367337"/>
            <a:ext cx="5486403" cy="490557"/>
          </a:xfrm>
          <a:prstGeom prst="rect">
            <a:avLst/>
          </a:prstGeom>
        </p:spPr>
        <p:txBody>
          <a:bodyPr/>
          <a:lstStyle>
            <a:lvl1pPr marL="0" indent="0">
              <a:spcBef>
                <a:spcPts val="500"/>
              </a:spcBef>
              <a:buClrTx/>
              <a:buSzTx/>
              <a:buNone/>
              <a:defRPr sz="1400"/>
            </a:lvl1pPr>
            <a:lvl2pPr indent="0">
              <a:spcBef>
                <a:spcPts val="500"/>
              </a:spcBef>
              <a:buClrTx/>
              <a:buFontTx/>
              <a:defRPr sz="1400"/>
            </a:lvl2pPr>
            <a:lvl3pPr indent="0">
              <a:spcBef>
                <a:spcPts val="500"/>
              </a:spcBef>
              <a:buClrTx/>
              <a:buFontTx/>
              <a:defRPr sz="1400"/>
            </a:lvl3pPr>
            <a:lvl4pPr indent="0">
              <a:spcBef>
                <a:spcPts val="500"/>
              </a:spcBef>
              <a:buClrTx/>
              <a:buFontTx/>
              <a:defRPr sz="1400"/>
            </a:lvl4pPr>
            <a:lvl5pPr indent="0">
              <a:spcBef>
                <a:spcPts val="500"/>
              </a:spcBef>
              <a:buClrTx/>
              <a:buFontTx/>
              <a:defRPr sz="1400"/>
            </a:lvl5pPr>
          </a:lstStyle>
          <a:p>
            <a:r>
              <a:t>Body Level One</a:t>
            </a:r>
          </a:p>
          <a:p>
            <a:pPr lvl="1"/>
            <a:r>
              <a:t>Body Level Two</a:t>
            </a:r>
          </a:p>
          <a:p>
            <a:pPr lvl="2"/>
            <a:r>
              <a:t>Body Level Three</a:t>
            </a:r>
          </a:p>
          <a:p>
            <a:pPr lvl="3"/>
            <a:r>
              <a:t>Body Level Four</a:t>
            </a:r>
          </a:p>
          <a:p>
            <a:pPr lvl="4"/>
            <a:r>
              <a:t>Body Level Five</a:t>
            </a:r>
          </a:p>
        </p:txBody>
      </p:sp>
      <p:sp>
        <p:nvSpPr>
          <p:cNvPr id="141"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Title and Vertical Text">
    <p:spTree>
      <p:nvGrpSpPr>
        <p:cNvPr id="1" name=""/>
        <p:cNvGrpSpPr/>
        <p:nvPr/>
      </p:nvGrpSpPr>
      <p:grpSpPr>
        <a:xfrm>
          <a:off x="0" y="0"/>
          <a:ext cx="0" cy="0"/>
          <a:chOff x="0" y="0"/>
          <a:chExt cx="0" cy="0"/>
        </a:xfrm>
      </p:grpSpPr>
      <p:sp>
        <p:nvSpPr>
          <p:cNvPr id="148"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49"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50"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151" name="Body Level One…"/>
          <p:cNvSpPr txBox="1">
            <a:spLocks noGrp="1"/>
          </p:cNvSpPr>
          <p:nvPr>
            <p:ph type="body" idx="1"/>
          </p:nvPr>
        </p:nvSpPr>
        <p:spPr>
          <a:prstGeom prst="rect">
            <a:avLst/>
          </a:prstGeom>
        </p:spPr>
        <p:txBody>
          <a:bodyPr/>
          <a:lstStyle>
            <a:lvl2pPr indent="0"/>
            <a:lvl3pPr indent="0"/>
            <a:lvl4pPr indent="0"/>
            <a:lvl5pPr indent="0"/>
          </a:lstStyle>
          <a:p>
            <a:r>
              <a:t>Body Level One</a:t>
            </a:r>
          </a:p>
          <a:p>
            <a:pPr lvl="1"/>
            <a:r>
              <a:t>Body Level Two</a:t>
            </a:r>
          </a:p>
          <a:p>
            <a:pPr lvl="2"/>
            <a:r>
              <a:t>Body Level Three</a:t>
            </a:r>
          </a:p>
          <a:p>
            <a:pPr lvl="3"/>
            <a:r>
              <a:t>Body Level Four</a:t>
            </a:r>
          </a:p>
          <a:p>
            <a:pPr lvl="4"/>
            <a:r>
              <a:t>Body Level Five</a:t>
            </a:r>
          </a:p>
        </p:txBody>
      </p:sp>
      <p:sp>
        <p:nvSpPr>
          <p:cNvPr id="152"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Vertical Title and Text">
    <p:spTree>
      <p:nvGrpSpPr>
        <p:cNvPr id="1" name=""/>
        <p:cNvGrpSpPr/>
        <p:nvPr/>
      </p:nvGrpSpPr>
      <p:grpSpPr>
        <a:xfrm>
          <a:off x="0" y="0"/>
          <a:ext cx="0" cy="0"/>
          <a:chOff x="0" y="0"/>
          <a:chExt cx="0" cy="0"/>
        </a:xfrm>
      </p:grpSpPr>
      <p:sp>
        <p:nvSpPr>
          <p:cNvPr id="159"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60"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61" name="Title Text"/>
          <p:cNvSpPr txBox="1">
            <a:spLocks noGrp="1"/>
          </p:cNvSpPr>
          <p:nvPr>
            <p:ph type="title"/>
          </p:nvPr>
        </p:nvSpPr>
        <p:spPr>
          <a:xfrm>
            <a:off x="6629400" y="560387"/>
            <a:ext cx="2057400" cy="5389565"/>
          </a:xfrm>
          <a:prstGeom prst="rect">
            <a:avLst/>
          </a:prstGeom>
        </p:spPr>
        <p:txBody>
          <a:bodyPr/>
          <a:lstStyle/>
          <a:p>
            <a:r>
              <a:t>Title Text</a:t>
            </a:r>
          </a:p>
        </p:txBody>
      </p:sp>
      <p:sp>
        <p:nvSpPr>
          <p:cNvPr id="162" name="Body Level One…"/>
          <p:cNvSpPr txBox="1">
            <a:spLocks noGrp="1"/>
          </p:cNvSpPr>
          <p:nvPr>
            <p:ph type="body" idx="1"/>
          </p:nvPr>
        </p:nvSpPr>
        <p:spPr>
          <a:xfrm>
            <a:off x="457200" y="560387"/>
            <a:ext cx="6019800" cy="5389565"/>
          </a:xfrm>
          <a:prstGeom prst="rect">
            <a:avLst/>
          </a:prstGeom>
        </p:spPr>
        <p:txBody>
          <a:bodyPr/>
          <a:lstStyle>
            <a:lvl2pPr indent="0"/>
            <a:lvl3pPr indent="0"/>
            <a:lvl4pPr indent="0"/>
            <a:lvl5pPr indent="0"/>
          </a:lstStyle>
          <a:p>
            <a:r>
              <a:t>Body Level One</a:t>
            </a:r>
          </a:p>
          <a:p>
            <a:pPr lvl="1"/>
            <a:r>
              <a:t>Body Level Two</a:t>
            </a:r>
          </a:p>
          <a:p>
            <a:pPr lvl="2"/>
            <a:r>
              <a:t>Body Level Three</a:t>
            </a:r>
          </a:p>
          <a:p>
            <a:pPr lvl="3"/>
            <a:r>
              <a:t>Body Level Four</a:t>
            </a:r>
          </a:p>
          <a:p>
            <a:pPr lvl="4"/>
            <a:r>
              <a:t>Body Level Five</a:t>
            </a:r>
          </a:p>
        </p:txBody>
      </p:sp>
      <p:sp>
        <p:nvSpPr>
          <p:cNvPr id="163"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70" name="Slide Number"/>
          <p:cNvSpPr txBox="1">
            <a:spLocks noGrp="1"/>
          </p:cNvSpPr>
          <p:nvPr>
            <p:ph type="sldNum" sz="quarter" idx="2"/>
          </p:nvPr>
        </p:nvSpPr>
        <p:spPr>
          <a:xfrm>
            <a:off x="6553200" y="6356350"/>
            <a:ext cx="335862" cy="333084"/>
          </a:xfrm>
          <a:prstGeom prst="rect">
            <a:avLst/>
          </a:prstGeom>
        </p:spPr>
        <p:txBody>
          <a:bodyPr anchor="t"/>
          <a:lstStyle>
            <a:lvl1pPr algn="l">
              <a:defRPr sz="1800">
                <a:solidFill>
                  <a:srgbClr val="00000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77" name="Slide Number"/>
          <p:cNvSpPr txBox="1">
            <a:spLocks noGrp="1"/>
          </p:cNvSpPr>
          <p:nvPr>
            <p:ph type="sldNum" sz="quarter" idx="2"/>
          </p:nvPr>
        </p:nvSpPr>
        <p:spPr>
          <a:xfrm>
            <a:off x="6279548" y="6224225"/>
            <a:ext cx="273652" cy="26425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xfrm>
            <a:off x="6553200" y="6356350"/>
            <a:ext cx="335862" cy="333084"/>
          </a:xfrm>
          <a:prstGeom prst="rect">
            <a:avLst/>
          </a:prstGeom>
        </p:spPr>
        <p:txBody>
          <a:bodyPr anchor="t"/>
          <a:lstStyle>
            <a:lvl1pPr algn="l">
              <a:defRPr sz="1800">
                <a:solidFill>
                  <a:srgbClr val="00000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Default">
    <p:bg>
      <p:bgPr>
        <a:solidFill>
          <a:schemeClr val="accent3">
            <a:lumOff val="38860"/>
          </a:schemeClr>
        </a:solidFill>
        <a:effectLst/>
      </p:bgPr>
    </p:bg>
    <p:spTree>
      <p:nvGrpSpPr>
        <p:cNvPr id="1" name=""/>
        <p:cNvGrpSpPr/>
        <p:nvPr/>
      </p:nvGrpSpPr>
      <p:grpSpPr>
        <a:xfrm>
          <a:off x="0" y="0"/>
          <a:ext cx="0" cy="0"/>
          <a:chOff x="0" y="0"/>
          <a:chExt cx="0" cy="0"/>
        </a:xfrm>
      </p:grpSpPr>
      <p:sp>
        <p:nvSpPr>
          <p:cNvPr id="191" name="Slide Number"/>
          <p:cNvSpPr txBox="1">
            <a:spLocks noGrp="1"/>
          </p:cNvSpPr>
          <p:nvPr>
            <p:ph type="sldNum" sz="quarter" idx="2"/>
          </p:nvPr>
        </p:nvSpPr>
        <p:spPr>
          <a:xfrm>
            <a:off x="4419600" y="6172200"/>
            <a:ext cx="2133600" cy="36830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gi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rtin University is a trademark of Curtin University of Technology…"/>
          <p:cNvSpPr txBox="1"/>
          <p:nvPr/>
        </p:nvSpPr>
        <p:spPr>
          <a:xfrm>
            <a:off x="468312" y="6302375"/>
            <a:ext cx="2230389" cy="14990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3" name="curtinPowerPointBGContent-Alpha.gif" descr="curtinPowerPointBGContent-Alpha.gif"/>
          <p:cNvPicPr>
            <a:picLocks noChangeAspect="1"/>
          </p:cNvPicPr>
          <p:nvPr userDrawn="1"/>
        </p:nvPicPr>
        <p:blipFill>
          <a:blip r:embed="rId20"/>
          <a:stretch>
            <a:fillRect/>
          </a:stretch>
        </p:blipFill>
        <p:spPr>
          <a:xfrm>
            <a:off x="0" y="0"/>
            <a:ext cx="9144000" cy="6858000"/>
          </a:xfrm>
          <a:prstGeom prst="rect">
            <a:avLst/>
          </a:prstGeom>
          <a:ln w="12700">
            <a:miter lim="400000"/>
          </a:ln>
        </p:spPr>
      </p:pic>
      <p:sp>
        <p:nvSpPr>
          <p:cNvPr id="4" name="Title Text"/>
          <p:cNvSpPr txBox="1">
            <a:spLocks noGrp="1"/>
          </p:cNvSpPr>
          <p:nvPr>
            <p:ph type="title"/>
          </p:nvPr>
        </p:nvSpPr>
        <p:spPr>
          <a:xfrm>
            <a:off x="468312" y="560387"/>
            <a:ext cx="8207376" cy="9969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r>
              <a:t>Title Text</a:t>
            </a:r>
          </a:p>
        </p:txBody>
      </p:sp>
      <p:sp>
        <p:nvSpPr>
          <p:cNvPr id="5" name="Body Level One…"/>
          <p:cNvSpPr txBox="1">
            <a:spLocks noGrp="1"/>
          </p:cNvSpPr>
          <p:nvPr>
            <p:ph type="body" idx="1"/>
          </p:nvPr>
        </p:nvSpPr>
        <p:spPr>
          <a:xfrm>
            <a:off x="457200" y="1600200"/>
            <a:ext cx="8229600" cy="43497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r>
              <a:t>Body Level One</a:t>
            </a:r>
          </a:p>
          <a:p>
            <a:pPr lvl="1"/>
            <a:r>
              <a:t>Body Level Two</a:t>
            </a:r>
          </a:p>
          <a:p>
            <a:pPr lvl="2"/>
            <a:r>
              <a:t>Body Level Three</a:t>
            </a:r>
          </a:p>
          <a:p>
            <a:pPr lvl="3"/>
            <a:r>
              <a:t>Body Level Four</a:t>
            </a:r>
          </a:p>
          <a:p>
            <a:pPr lvl="4"/>
            <a:r>
              <a:t>Body Level Five</a:t>
            </a:r>
          </a:p>
        </p:txBody>
      </p:sp>
      <p:sp>
        <p:nvSpPr>
          <p:cNvPr id="6" name="INSYS5002 - Introduction to Visual C#"/>
          <p:cNvSpPr txBox="1"/>
          <p:nvPr/>
        </p:nvSpPr>
        <p:spPr>
          <a:xfrm>
            <a:off x="468312" y="6143725"/>
            <a:ext cx="1577355" cy="1538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a:defRPr sz="1200">
                <a:solidFill>
                  <a:srgbClr val="666666"/>
                </a:solidFill>
                <a:latin typeface="+mj-lt"/>
                <a:ea typeface="+mj-ea"/>
                <a:cs typeface="+mj-cs"/>
                <a:sym typeface="Arial"/>
              </a:defRPr>
            </a:lvl1pPr>
          </a:lstStyle>
          <a:p>
            <a:r>
              <a:rPr sz="1000" dirty="0"/>
              <a:t>ISY</a:t>
            </a:r>
            <a:r>
              <a:rPr lang="en-AU" sz="1000" dirty="0"/>
              <a:t>S2001</a:t>
            </a:r>
            <a:r>
              <a:rPr sz="1000" dirty="0"/>
              <a:t> </a:t>
            </a:r>
            <a:r>
              <a:rPr lang="en-AU" sz="1000" dirty="0"/>
              <a:t>– Python Objects</a:t>
            </a:r>
            <a:endParaRPr sz="10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ransition spd="med"/>
  <p:txStyles>
    <p:titleStyle>
      <a:lvl1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1pPr>
      <a:lvl2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2pPr>
      <a:lvl3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3pPr>
      <a:lvl4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4pPr>
      <a:lvl5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5pPr>
      <a:lvl6pPr marL="0" marR="0" indent="4572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6pPr>
      <a:lvl7pPr marL="0" marR="0" indent="9144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7pPr>
      <a:lvl8pPr marL="0" marR="0" indent="13716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8pPr>
      <a:lvl9pPr marL="0" marR="0" indent="18288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9pPr>
    </p:titleStyle>
    <p:bodyStyle>
      <a:lvl1pPr marL="266700" marR="0" indent="-266700" algn="l" defTabSz="914400" latinLnBrk="0">
        <a:lnSpc>
          <a:spcPct val="110000"/>
        </a:lnSpc>
        <a:spcBef>
          <a:spcPts val="800"/>
        </a:spcBef>
        <a:spcAft>
          <a:spcPts val="0"/>
        </a:spcAft>
        <a:buClr>
          <a:schemeClr val="accent1"/>
        </a:buClr>
        <a:buSzPct val="100000"/>
        <a:buFontTx/>
        <a:buChar char="▪"/>
        <a:tabLst/>
        <a:defRPr sz="2400" b="0" i="0" u="none" strike="noStrike" cap="none" spc="0" baseline="0">
          <a:solidFill>
            <a:srgbClr val="333333"/>
          </a:solidFill>
          <a:uFillTx/>
          <a:latin typeface="+mj-lt"/>
          <a:ea typeface="+mj-ea"/>
          <a:cs typeface="+mj-cs"/>
          <a:sym typeface="Arial"/>
        </a:defRPr>
      </a:lvl1pPr>
      <a:lvl2pPr marL="0" marR="0" indent="53816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2pPr>
      <a:lvl3pPr marL="0" marR="0" indent="985837"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3pPr>
      <a:lvl4pPr marL="0" marR="0" indent="143351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4pPr>
      <a:lvl5pPr marL="0" marR="0" indent="17907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5pPr>
      <a:lvl6pPr marL="0" marR="0" indent="22479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6pPr>
      <a:lvl7pPr marL="0" marR="0" indent="27051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7pPr>
      <a:lvl8pPr marL="0" marR="0" indent="31623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8pPr>
      <a:lvl9pPr marL="0" marR="0" indent="36195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9pPr>
    </p:bodyStyle>
    <p:otherStyle>
      <a:lvl1pPr marL="0" marR="0" indent="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9000" r="-9000"/>
          </a:stretch>
        </a:blipFill>
        <a:effectLst/>
      </p:bgPr>
    </p:bg>
    <p:spTree>
      <p:nvGrpSpPr>
        <p:cNvPr id="1" name=""/>
        <p:cNvGrpSpPr/>
        <p:nvPr/>
      </p:nvGrpSpPr>
      <p:grpSpPr>
        <a:xfrm>
          <a:off x="0" y="0"/>
          <a:ext cx="0" cy="0"/>
          <a:chOff x="0" y="0"/>
          <a:chExt cx="0" cy="0"/>
        </a:xfrm>
      </p:grpSpPr>
      <p:sp>
        <p:nvSpPr>
          <p:cNvPr id="200" name="ISYS5002 Lecture 1, Department of Information Systems"/>
          <p:cNvSpPr txBox="1">
            <a:spLocks noGrp="1"/>
          </p:cNvSpPr>
          <p:nvPr>
            <p:ph type="body" sz="quarter" idx="1"/>
          </p:nvPr>
        </p:nvSpPr>
        <p:spPr>
          <a:xfrm>
            <a:off x="69850" y="5054603"/>
            <a:ext cx="5211763" cy="346078"/>
          </a:xfrm>
          <a:prstGeom prst="rect">
            <a:avLst/>
          </a:prstGeom>
        </p:spPr>
        <p:txBody>
          <a:bodyPr>
            <a:normAutofit/>
          </a:bodyPr>
          <a:lstStyle>
            <a:lvl1pPr defTabSz="704087">
              <a:spcBef>
                <a:spcPts val="700"/>
              </a:spcBef>
              <a:defRPr sz="1200"/>
            </a:lvl1pPr>
          </a:lstStyle>
          <a:p>
            <a:r>
              <a:rPr dirty="0"/>
              <a:t>ISYS</a:t>
            </a:r>
            <a:r>
              <a:rPr lang="en-AU" dirty="0"/>
              <a:t>2001</a:t>
            </a:r>
            <a:r>
              <a:rPr dirty="0"/>
              <a:t>, </a:t>
            </a:r>
            <a:r>
              <a:rPr lang="en-AU" dirty="0"/>
              <a:t>School of Marketing and Management</a:t>
            </a:r>
            <a:endParaRPr dirty="0"/>
          </a:p>
        </p:txBody>
      </p:sp>
      <p:sp>
        <p:nvSpPr>
          <p:cNvPr id="201" name="Introduction to Visual C#"/>
          <p:cNvSpPr txBox="1">
            <a:spLocks noGrp="1"/>
          </p:cNvSpPr>
          <p:nvPr>
            <p:ph type="title"/>
          </p:nvPr>
        </p:nvSpPr>
        <p:spPr>
          <a:xfrm>
            <a:off x="12700" y="4268437"/>
            <a:ext cx="5760000" cy="786166"/>
          </a:xfrm>
          <a:prstGeom prst="rect">
            <a:avLst/>
          </a:prstGeom>
        </p:spPr>
        <p:txBody>
          <a:bodyPr>
            <a:normAutofit/>
          </a:bodyPr>
          <a:lstStyle>
            <a:lvl1pPr defTabSz="768094">
              <a:defRPr sz="3600"/>
            </a:lvl1pPr>
          </a:lstStyle>
          <a:p>
            <a:r>
              <a:rPr lang="en-AU" dirty="0"/>
              <a:t>Python Objects</a:t>
            </a: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 name="Image" descr="Image"/>
          <p:cNvPicPr>
            <a:picLocks noChangeAspect="1"/>
          </p:cNvPicPr>
          <p:nvPr/>
        </p:nvPicPr>
        <p:blipFill>
          <a:blip r:embed="rId2"/>
          <a:srcRect l="17137" t="11714" r="17137" b="14544"/>
          <a:stretch>
            <a:fillRect/>
          </a:stretch>
        </p:blipFill>
        <p:spPr>
          <a:xfrm>
            <a:off x="652654" y="626076"/>
            <a:ext cx="8011053" cy="5055798"/>
          </a:xfrm>
          <a:prstGeom prst="rect">
            <a:avLst/>
          </a:prstGeom>
          <a:ln w="12700">
            <a:miter lim="400000"/>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446448" y="2028825"/>
            <a:ext cx="8251104" cy="2800350"/>
          </a:xfrm>
          <a:prstGeom prst="rect">
            <a:avLst/>
          </a:prstGeom>
        </p:spPr>
        <p:txBody>
          <a:bodyPr>
            <a:noAutofit/>
          </a:bodyPr>
          <a:lstStyle>
            <a:lvl1pPr marL="0" indent="0">
              <a:buClrTx/>
              <a:buSzTx/>
              <a:buNone/>
            </a:lvl1pPr>
          </a:lstStyle>
          <a:p>
            <a:pPr algn="ctr"/>
            <a:r>
              <a:rPr lang="en-AU" sz="3200" dirty="0"/>
              <a:t>I acknowledge the traditional custodians of the land on which I work and live, and recognise their continuing connection to land, water and community. I pay respect to elders past, present and emerging.</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E381C-D1C3-3D40-A04D-19F9386AD994}"/>
              </a:ext>
            </a:extLst>
          </p:cNvPr>
          <p:cNvSpPr>
            <a:spLocks noGrp="1"/>
          </p:cNvSpPr>
          <p:nvPr>
            <p:ph type="title"/>
          </p:nvPr>
        </p:nvSpPr>
        <p:spPr/>
        <p:txBody>
          <a:bodyPr/>
          <a:lstStyle/>
          <a:p>
            <a:r>
              <a:rPr lang="en-AU" dirty="0"/>
              <a:t>Today</a:t>
            </a:r>
          </a:p>
        </p:txBody>
      </p:sp>
      <p:sp>
        <p:nvSpPr>
          <p:cNvPr id="3" name="Text Placeholder 2">
            <a:extLst>
              <a:ext uri="{FF2B5EF4-FFF2-40B4-BE49-F238E27FC236}">
                <a16:creationId xmlns:a16="http://schemas.microsoft.com/office/drawing/2014/main" id="{C189B0FC-34E2-0C47-8BAB-FF44E6C339F4}"/>
              </a:ext>
            </a:extLst>
          </p:cNvPr>
          <p:cNvSpPr>
            <a:spLocks noGrp="1"/>
          </p:cNvSpPr>
          <p:nvPr>
            <p:ph type="body" idx="1"/>
          </p:nvPr>
        </p:nvSpPr>
        <p:spPr/>
        <p:txBody>
          <a:bodyPr>
            <a:normAutofit/>
          </a:bodyPr>
          <a:lstStyle/>
          <a:p>
            <a:r>
              <a:rPr lang="en-AU" dirty="0"/>
              <a:t>Break a problems down into simple actions</a:t>
            </a:r>
          </a:p>
          <a:p>
            <a:r>
              <a:rPr lang="en-AU" dirty="0"/>
              <a:t>Actions carry out simple tasks</a:t>
            </a:r>
          </a:p>
          <a:p>
            <a:r>
              <a:rPr lang="en-AU" dirty="0"/>
              <a:t>A set of actions is called an algorithm</a:t>
            </a:r>
          </a:p>
          <a:p>
            <a:r>
              <a:rPr lang="en-AU" dirty="0"/>
              <a:t>Algorithms expressed as Pseudocode</a:t>
            </a:r>
          </a:p>
          <a:p>
            <a:r>
              <a:rPr lang="en-AU" dirty="0"/>
              <a:t>Coding is translating an algorithm to a program</a:t>
            </a:r>
          </a:p>
          <a:p>
            <a:r>
              <a:rPr lang="en-AU" dirty="0"/>
              <a:t>Six operations a computer can do </a:t>
            </a:r>
          </a:p>
        </p:txBody>
      </p:sp>
    </p:spTree>
    <p:extLst>
      <p:ext uri="{BB962C8B-B14F-4D97-AF65-F5344CB8AC3E}">
        <p14:creationId xmlns:p14="http://schemas.microsoft.com/office/powerpoint/2010/main" val="417604364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446448" y="2028825"/>
            <a:ext cx="8251104" cy="2800350"/>
          </a:xfrm>
          <a:prstGeom prst="rect">
            <a:avLst/>
          </a:prstGeom>
        </p:spPr>
        <p:txBody>
          <a:bodyPr>
            <a:noAutofit/>
          </a:bodyPr>
          <a:lstStyle>
            <a:lvl1pPr marL="0" indent="0">
              <a:buClrTx/>
              <a:buSzTx/>
              <a:buNone/>
            </a:lvl1pPr>
          </a:lstStyle>
          <a:p>
            <a:pPr algn="ctr"/>
            <a:r>
              <a:rPr lang="en-AU" sz="3200" dirty="0"/>
              <a:t>“The biggest mistake I see new programmers make is focusing on learning syntax instead of learning how to solve problems.” </a:t>
            </a:r>
          </a:p>
          <a:p>
            <a:pPr algn="ctr"/>
            <a:r>
              <a:rPr lang="en-AU" sz="1600" dirty="0"/>
              <a:t>— V. Anton </a:t>
            </a:r>
            <a:r>
              <a:rPr lang="en-AU" sz="1600" dirty="0" err="1"/>
              <a:t>Spraul</a:t>
            </a:r>
            <a:r>
              <a:rPr lang="en-AU" sz="1600" dirty="0"/>
              <a:t>, Think Like a Programmer: An Introduction to Creative Problem solving</a:t>
            </a:r>
          </a:p>
        </p:txBody>
      </p:sp>
    </p:spTree>
    <p:extLst>
      <p:ext uri="{BB962C8B-B14F-4D97-AF65-F5344CB8AC3E}">
        <p14:creationId xmlns:p14="http://schemas.microsoft.com/office/powerpoint/2010/main" val="3851953300"/>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E381C-D1C3-3D40-A04D-19F9386AD994}"/>
              </a:ext>
            </a:extLst>
          </p:cNvPr>
          <p:cNvSpPr>
            <a:spLocks noGrp="1"/>
          </p:cNvSpPr>
          <p:nvPr>
            <p:ph type="title"/>
          </p:nvPr>
        </p:nvSpPr>
        <p:spPr/>
        <p:txBody>
          <a:bodyPr/>
          <a:lstStyle/>
          <a:p>
            <a:r>
              <a:rPr lang="en-AU" dirty="0"/>
              <a:t>Problem Solving Methodology</a:t>
            </a:r>
          </a:p>
        </p:txBody>
      </p:sp>
      <p:sp>
        <p:nvSpPr>
          <p:cNvPr id="3" name="Text Placeholder 2">
            <a:extLst>
              <a:ext uri="{FF2B5EF4-FFF2-40B4-BE49-F238E27FC236}">
                <a16:creationId xmlns:a16="http://schemas.microsoft.com/office/drawing/2014/main" id="{C189B0FC-34E2-0C47-8BAB-FF44E6C339F4}"/>
              </a:ext>
            </a:extLst>
          </p:cNvPr>
          <p:cNvSpPr>
            <a:spLocks noGrp="1"/>
          </p:cNvSpPr>
          <p:nvPr>
            <p:ph type="body" idx="1"/>
          </p:nvPr>
        </p:nvSpPr>
        <p:spPr/>
        <p:txBody>
          <a:bodyPr/>
          <a:lstStyle/>
          <a:p>
            <a:r>
              <a:rPr lang="en-AU" dirty="0"/>
              <a:t>State the problem clearly</a:t>
            </a:r>
          </a:p>
          <a:p>
            <a:r>
              <a:rPr lang="en-AU" dirty="0"/>
              <a:t>Describe the input and output</a:t>
            </a:r>
          </a:p>
          <a:p>
            <a:r>
              <a:rPr lang="en-AU" dirty="0"/>
              <a:t>Work a simple example by hand</a:t>
            </a:r>
          </a:p>
          <a:p>
            <a:r>
              <a:rPr lang="en-AU" dirty="0"/>
              <a:t>Develop and algorithm (and convert to Python)</a:t>
            </a:r>
          </a:p>
          <a:p>
            <a:r>
              <a:rPr lang="en-AU" dirty="0"/>
              <a:t>Test solution with a variety of data</a:t>
            </a:r>
          </a:p>
        </p:txBody>
      </p:sp>
    </p:spTree>
    <p:extLst>
      <p:ext uri="{BB962C8B-B14F-4D97-AF65-F5344CB8AC3E}">
        <p14:creationId xmlns:p14="http://schemas.microsoft.com/office/powerpoint/2010/main" val="368827823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446448" y="2028825"/>
            <a:ext cx="8251104" cy="2800350"/>
          </a:xfrm>
          <a:prstGeom prst="rect">
            <a:avLst/>
          </a:prstGeom>
        </p:spPr>
        <p:txBody>
          <a:bodyPr>
            <a:noAutofit/>
          </a:bodyPr>
          <a:lstStyle>
            <a:lvl1pPr marL="0" indent="0">
              <a:buClrTx/>
              <a:buSzTx/>
              <a:buNone/>
            </a:lvl1pPr>
          </a:lstStyle>
          <a:p>
            <a:pPr algn="ctr"/>
            <a:r>
              <a:rPr lang="en-AU" sz="3200" dirty="0"/>
              <a:t>“If you can’t explain something in simple terms, you don’t understand it.” </a:t>
            </a:r>
          </a:p>
          <a:p>
            <a:pPr algn="ctr"/>
            <a:r>
              <a:rPr lang="en-AU" sz="1600" dirty="0"/>
              <a:t>— Richard Feynman</a:t>
            </a:r>
          </a:p>
        </p:txBody>
      </p:sp>
      <p:pic>
        <p:nvPicPr>
          <p:cNvPr id="2" name="Picture 1" descr="Graphical user interface, text, application, chat or text message&#10;&#10;Description automatically generated">
            <a:extLst>
              <a:ext uri="{FF2B5EF4-FFF2-40B4-BE49-F238E27FC236}">
                <a16:creationId xmlns:a16="http://schemas.microsoft.com/office/drawing/2014/main" id="{03722AE0-D703-1AD0-9F2A-65888C6C9E96}"/>
              </a:ext>
            </a:extLst>
          </p:cNvPr>
          <p:cNvPicPr>
            <a:picLocks noChangeAspect="1"/>
          </p:cNvPicPr>
          <p:nvPr/>
        </p:nvPicPr>
        <p:blipFill rotWithShape="1">
          <a:blip r:embed="rId3">
            <a:extLst>
              <a:ext uri="{28A0092B-C50C-407E-A947-70E740481C1C}">
                <a14:useLocalDpi xmlns:a14="http://schemas.microsoft.com/office/drawing/2010/main" val="0"/>
              </a:ext>
            </a:extLst>
          </a:blip>
          <a:srcRect l="7870" t="9714" r="10014" b="11374"/>
          <a:stretch/>
        </p:blipFill>
        <p:spPr>
          <a:xfrm>
            <a:off x="6275294" y="3752851"/>
            <a:ext cx="2240065" cy="2152648"/>
          </a:xfrm>
          <a:prstGeom prst="rect">
            <a:avLst/>
          </a:prstGeom>
        </p:spPr>
      </p:pic>
    </p:spTree>
    <p:extLst>
      <p:ext uri="{BB962C8B-B14F-4D97-AF65-F5344CB8AC3E}">
        <p14:creationId xmlns:p14="http://schemas.microsoft.com/office/powerpoint/2010/main" val="107919159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raphical user interface, text, application, chat or text message&#10;&#10;Description automatically generated">
            <a:extLst>
              <a:ext uri="{FF2B5EF4-FFF2-40B4-BE49-F238E27FC236}">
                <a16:creationId xmlns:a16="http://schemas.microsoft.com/office/drawing/2014/main" id="{7B57C5C8-8A92-2D46-9D5F-CE40AB4CE216}"/>
              </a:ext>
            </a:extLst>
          </p:cNvPr>
          <p:cNvPicPr>
            <a:picLocks noChangeAspect="1"/>
          </p:cNvPicPr>
          <p:nvPr/>
        </p:nvPicPr>
        <p:blipFill rotWithShape="1">
          <a:blip r:embed="rId3">
            <a:extLst>
              <a:ext uri="{28A0092B-C50C-407E-A947-70E740481C1C}">
                <a14:useLocalDpi xmlns:a14="http://schemas.microsoft.com/office/drawing/2010/main" val="0"/>
              </a:ext>
            </a:extLst>
          </a:blip>
          <a:srcRect l="7870" t="9714" r="10014" b="11374"/>
          <a:stretch/>
        </p:blipFill>
        <p:spPr>
          <a:xfrm>
            <a:off x="1901628" y="862837"/>
            <a:ext cx="5340743" cy="5132325"/>
          </a:xfrm>
          <a:prstGeom prst="rect">
            <a:avLst/>
          </a:prstGeom>
        </p:spPr>
      </p:pic>
      <p:sp>
        <p:nvSpPr>
          <p:cNvPr id="2" name="Title 1">
            <a:extLst>
              <a:ext uri="{FF2B5EF4-FFF2-40B4-BE49-F238E27FC236}">
                <a16:creationId xmlns:a16="http://schemas.microsoft.com/office/drawing/2014/main" id="{E2365EC7-70C6-FC4A-A902-3FF2D832770B}"/>
              </a:ext>
            </a:extLst>
          </p:cNvPr>
          <p:cNvSpPr>
            <a:spLocks noGrp="1"/>
          </p:cNvSpPr>
          <p:nvPr>
            <p:ph type="title"/>
          </p:nvPr>
        </p:nvSpPr>
        <p:spPr/>
        <p:txBody>
          <a:bodyPr/>
          <a:lstStyle/>
          <a:p>
            <a:r>
              <a:rPr lang="en-AU" dirty="0"/>
              <a:t>Rubber Duck</a:t>
            </a:r>
          </a:p>
        </p:txBody>
      </p:sp>
    </p:spTree>
    <p:extLst>
      <p:ext uri="{BB962C8B-B14F-4D97-AF65-F5344CB8AC3E}">
        <p14:creationId xmlns:p14="http://schemas.microsoft.com/office/powerpoint/2010/main" val="2606506071"/>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BC270-E730-58E8-8E36-66A77098C4C1}"/>
              </a:ext>
            </a:extLst>
          </p:cNvPr>
          <p:cNvSpPr>
            <a:spLocks noGrp="1"/>
          </p:cNvSpPr>
          <p:nvPr>
            <p:ph type="title"/>
          </p:nvPr>
        </p:nvSpPr>
        <p:spPr/>
        <p:txBody>
          <a:bodyPr/>
          <a:lstStyle/>
          <a:p>
            <a:r>
              <a:rPr lang="en-AU" dirty="0" err="1"/>
              <a:t>Psuedocode</a:t>
            </a:r>
            <a:endParaRPr lang="en-AU" dirty="0"/>
          </a:p>
        </p:txBody>
      </p:sp>
      <p:sp>
        <p:nvSpPr>
          <p:cNvPr id="3" name="Text Placeholder 2">
            <a:extLst>
              <a:ext uri="{FF2B5EF4-FFF2-40B4-BE49-F238E27FC236}">
                <a16:creationId xmlns:a16="http://schemas.microsoft.com/office/drawing/2014/main" id="{91047A95-7138-E371-849D-C331C21D8E8E}"/>
              </a:ext>
            </a:extLst>
          </p:cNvPr>
          <p:cNvSpPr>
            <a:spLocks noGrp="1"/>
          </p:cNvSpPr>
          <p:nvPr>
            <p:ph type="body" idx="1"/>
          </p:nvPr>
        </p:nvSpPr>
        <p:spPr/>
        <p:txBody>
          <a:bodyPr/>
          <a:lstStyle/>
          <a:p>
            <a:r>
              <a:rPr lang="en-AU" dirty="0"/>
              <a:t>List the steps</a:t>
            </a:r>
          </a:p>
          <a:p>
            <a:r>
              <a:rPr lang="en-AU" dirty="0"/>
              <a:t>Use short phrases (make it easier to convert)</a:t>
            </a:r>
          </a:p>
          <a:p>
            <a:r>
              <a:rPr lang="en-AU" dirty="0"/>
              <a:t>No Syntax or rules</a:t>
            </a:r>
          </a:p>
          <a:p>
            <a:r>
              <a:rPr lang="en-AU" dirty="0"/>
              <a:t>Not a language </a:t>
            </a:r>
            <a:r>
              <a:rPr lang="en-AU" dirty="0">
                <a:sym typeface="Wingdings" pitchFamily="2" charset="2"/>
              </a:rPr>
              <a:t> (not compiled or executed)</a:t>
            </a:r>
          </a:p>
          <a:p>
            <a:r>
              <a:rPr lang="en-AU" dirty="0">
                <a:sym typeface="Wingdings" pitchFamily="2" charset="2"/>
              </a:rPr>
              <a:t>Communication tool</a:t>
            </a:r>
          </a:p>
          <a:p>
            <a:r>
              <a:rPr lang="en-AU" dirty="0">
                <a:sym typeface="Wingdings" pitchFamily="2" charset="2"/>
              </a:rPr>
              <a:t>Logic of the solution</a:t>
            </a:r>
          </a:p>
          <a:p>
            <a:r>
              <a:rPr lang="en-AU" dirty="0">
                <a:sym typeface="Wingdings" pitchFamily="2" charset="2"/>
              </a:rPr>
              <a:t>Translate into a programming language</a:t>
            </a:r>
            <a:endParaRPr lang="en-AU" dirty="0"/>
          </a:p>
        </p:txBody>
      </p:sp>
    </p:spTree>
    <p:extLst>
      <p:ext uri="{BB962C8B-B14F-4D97-AF65-F5344CB8AC3E}">
        <p14:creationId xmlns:p14="http://schemas.microsoft.com/office/powerpoint/2010/main" val="381336487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4453453" y="560387"/>
            <a:ext cx="4690547" cy="5211336"/>
          </a:xfrm>
          <a:prstGeom prst="rect">
            <a:avLst/>
          </a:prstGeom>
        </p:spPr>
        <p:txBody>
          <a:bodyPr>
            <a:noAutofit/>
          </a:bodyPr>
          <a:lstStyle>
            <a:lvl1pPr marL="0" indent="0">
              <a:buClrTx/>
              <a:buSzTx/>
              <a:buNone/>
            </a:lvl1pPr>
          </a:lstStyle>
          <a:p>
            <a:r>
              <a:rPr lang="en-AU" sz="1800" dirty="0"/>
              <a:t>Pick up dictionary</a:t>
            </a:r>
          </a:p>
          <a:p>
            <a:r>
              <a:rPr lang="en-AU" sz="1800" dirty="0"/>
              <a:t>Open to middle of dictionary</a:t>
            </a:r>
          </a:p>
          <a:p>
            <a:r>
              <a:rPr lang="en-AU" sz="1800" dirty="0"/>
              <a:t>Look at page</a:t>
            </a:r>
          </a:p>
          <a:p>
            <a:r>
              <a:rPr lang="en-AU" sz="1800" dirty="0"/>
              <a:t>If word is on page</a:t>
            </a:r>
          </a:p>
          <a:p>
            <a:r>
              <a:rPr lang="en-AU" sz="1800" dirty="0"/>
              <a:t>    Read definition</a:t>
            </a:r>
          </a:p>
          <a:p>
            <a:r>
              <a:rPr lang="en-AU" sz="1800" dirty="0"/>
              <a:t>Else if word is earlier in book</a:t>
            </a:r>
          </a:p>
          <a:p>
            <a:r>
              <a:rPr lang="en-AU" sz="1800" dirty="0"/>
              <a:t>    Open to middle of left half of book</a:t>
            </a:r>
          </a:p>
          <a:p>
            <a:r>
              <a:rPr lang="en-AU" sz="1800" dirty="0"/>
              <a:t>    Go back to line 3</a:t>
            </a:r>
          </a:p>
          <a:p>
            <a:r>
              <a:rPr lang="en-AU" sz="1800" dirty="0"/>
              <a:t>Else if word is later in book</a:t>
            </a:r>
          </a:p>
          <a:p>
            <a:r>
              <a:rPr lang="en-AU" sz="1800" dirty="0"/>
              <a:t>    Open to middle of right half of book</a:t>
            </a:r>
          </a:p>
          <a:p>
            <a:r>
              <a:rPr lang="en-AU" sz="1800" dirty="0"/>
              <a:t>    Go back to line 3</a:t>
            </a:r>
          </a:p>
          <a:p>
            <a:r>
              <a:rPr lang="en-AU" sz="1800" dirty="0"/>
              <a:t>Else</a:t>
            </a:r>
          </a:p>
          <a:p>
            <a:r>
              <a:rPr lang="en-AU" sz="1800" dirty="0"/>
              <a:t>    Quit</a:t>
            </a:r>
          </a:p>
        </p:txBody>
      </p:sp>
      <p:sp>
        <p:nvSpPr>
          <p:cNvPr id="3" name="Title 1">
            <a:extLst>
              <a:ext uri="{FF2B5EF4-FFF2-40B4-BE49-F238E27FC236}">
                <a16:creationId xmlns:a16="http://schemas.microsoft.com/office/drawing/2014/main" id="{E79D1453-5A12-2644-8A35-370C9F2F6E55}"/>
              </a:ext>
            </a:extLst>
          </p:cNvPr>
          <p:cNvSpPr>
            <a:spLocks noGrp="1"/>
          </p:cNvSpPr>
          <p:nvPr>
            <p:ph type="title"/>
          </p:nvPr>
        </p:nvSpPr>
        <p:spPr>
          <a:xfrm>
            <a:off x="468312" y="560387"/>
            <a:ext cx="8207376" cy="996951"/>
          </a:xfrm>
        </p:spPr>
        <p:txBody>
          <a:bodyPr/>
          <a:lstStyle/>
          <a:p>
            <a:r>
              <a:rPr lang="en-AU" dirty="0"/>
              <a:t>Recall</a:t>
            </a:r>
          </a:p>
        </p:txBody>
      </p:sp>
    </p:spTree>
    <p:extLst>
      <p:ext uri="{BB962C8B-B14F-4D97-AF65-F5344CB8AC3E}">
        <p14:creationId xmlns:p14="http://schemas.microsoft.com/office/powerpoint/2010/main" val="3106622395"/>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E381C-D1C3-3D40-A04D-19F9386AD994}"/>
              </a:ext>
            </a:extLst>
          </p:cNvPr>
          <p:cNvSpPr>
            <a:spLocks noGrp="1"/>
          </p:cNvSpPr>
          <p:nvPr>
            <p:ph type="title"/>
          </p:nvPr>
        </p:nvSpPr>
        <p:spPr/>
        <p:txBody>
          <a:bodyPr/>
          <a:lstStyle/>
          <a:p>
            <a:r>
              <a:rPr lang="en-AU" dirty="0"/>
              <a:t>Problem Solving Methodology</a:t>
            </a:r>
          </a:p>
        </p:txBody>
      </p:sp>
      <p:sp>
        <p:nvSpPr>
          <p:cNvPr id="3" name="Text Placeholder 2">
            <a:extLst>
              <a:ext uri="{FF2B5EF4-FFF2-40B4-BE49-F238E27FC236}">
                <a16:creationId xmlns:a16="http://schemas.microsoft.com/office/drawing/2014/main" id="{C189B0FC-34E2-0C47-8BAB-FF44E6C339F4}"/>
              </a:ext>
            </a:extLst>
          </p:cNvPr>
          <p:cNvSpPr>
            <a:spLocks noGrp="1"/>
          </p:cNvSpPr>
          <p:nvPr>
            <p:ph type="body" idx="1"/>
          </p:nvPr>
        </p:nvSpPr>
        <p:spPr/>
        <p:txBody>
          <a:bodyPr/>
          <a:lstStyle/>
          <a:p>
            <a:r>
              <a:rPr lang="en-AU" dirty="0"/>
              <a:t>State the problem clearly</a:t>
            </a:r>
          </a:p>
          <a:p>
            <a:r>
              <a:rPr lang="en-AU" dirty="0"/>
              <a:t>Describe the input and output</a:t>
            </a:r>
          </a:p>
          <a:p>
            <a:r>
              <a:rPr lang="en-AU" dirty="0"/>
              <a:t>Work a simple example by hand</a:t>
            </a:r>
          </a:p>
          <a:p>
            <a:r>
              <a:rPr lang="en-AU" dirty="0"/>
              <a:t>Develop and algorithm (and convert to Python)</a:t>
            </a:r>
          </a:p>
          <a:p>
            <a:r>
              <a:rPr lang="en-AU" dirty="0"/>
              <a:t>Test solution with a variety of data</a:t>
            </a:r>
          </a:p>
        </p:txBody>
      </p:sp>
      <p:grpSp>
        <p:nvGrpSpPr>
          <p:cNvPr id="18" name="Group 17">
            <a:extLst>
              <a:ext uri="{FF2B5EF4-FFF2-40B4-BE49-F238E27FC236}">
                <a16:creationId xmlns:a16="http://schemas.microsoft.com/office/drawing/2014/main" id="{6F5F16C1-CA57-DD4B-9643-7E2E826D88F3}"/>
              </a:ext>
            </a:extLst>
          </p:cNvPr>
          <p:cNvGrpSpPr/>
          <p:nvPr/>
        </p:nvGrpSpPr>
        <p:grpSpPr>
          <a:xfrm>
            <a:off x="7236816" y="1476417"/>
            <a:ext cx="841570" cy="2633902"/>
            <a:chOff x="7123528" y="1557338"/>
            <a:chExt cx="841570" cy="2633902"/>
          </a:xfrm>
        </p:grpSpPr>
        <p:grpSp>
          <p:nvGrpSpPr>
            <p:cNvPr id="11" name="Group 10">
              <a:extLst>
                <a:ext uri="{FF2B5EF4-FFF2-40B4-BE49-F238E27FC236}">
                  <a16:creationId xmlns:a16="http://schemas.microsoft.com/office/drawing/2014/main" id="{B3638019-652B-DD4C-B839-E821D1C8ADC0}"/>
                </a:ext>
              </a:extLst>
            </p:cNvPr>
            <p:cNvGrpSpPr/>
            <p:nvPr/>
          </p:nvGrpSpPr>
          <p:grpSpPr>
            <a:xfrm>
              <a:off x="7544313" y="1557338"/>
              <a:ext cx="420785" cy="2422498"/>
              <a:chOff x="7297667" y="1578769"/>
              <a:chExt cx="420785" cy="2422498"/>
            </a:xfrm>
          </p:grpSpPr>
          <p:sp>
            <p:nvSpPr>
              <p:cNvPr id="5" name="Curved Left Arrow 4">
                <a:extLst>
                  <a:ext uri="{FF2B5EF4-FFF2-40B4-BE49-F238E27FC236}">
                    <a16:creationId xmlns:a16="http://schemas.microsoft.com/office/drawing/2014/main" id="{2064E6F3-1CB2-F944-9402-9F1739DF1EB6}"/>
                  </a:ext>
                </a:extLst>
              </p:cNvPr>
              <p:cNvSpPr/>
              <p:nvPr/>
            </p:nvSpPr>
            <p:spPr>
              <a:xfrm>
                <a:off x="7297667" y="1578769"/>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6" name="Curved Left Arrow 5">
                <a:extLst>
                  <a:ext uri="{FF2B5EF4-FFF2-40B4-BE49-F238E27FC236}">
                    <a16:creationId xmlns:a16="http://schemas.microsoft.com/office/drawing/2014/main" id="{0FB88419-5B1B-B94B-9659-C93C2C1CCF0C}"/>
                  </a:ext>
                </a:extLst>
              </p:cNvPr>
              <p:cNvSpPr/>
              <p:nvPr/>
            </p:nvSpPr>
            <p:spPr>
              <a:xfrm>
                <a:off x="7297667" y="2107754"/>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8" name="Curved Left Arrow 7">
                <a:extLst>
                  <a:ext uri="{FF2B5EF4-FFF2-40B4-BE49-F238E27FC236}">
                    <a16:creationId xmlns:a16="http://schemas.microsoft.com/office/drawing/2014/main" id="{D61C9891-09A5-C747-BA60-81A09063F30D}"/>
                  </a:ext>
                </a:extLst>
              </p:cNvPr>
              <p:cNvSpPr/>
              <p:nvPr/>
            </p:nvSpPr>
            <p:spPr>
              <a:xfrm>
                <a:off x="7297667" y="2645329"/>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9" name="Curved Left Arrow 8">
                <a:extLst>
                  <a:ext uri="{FF2B5EF4-FFF2-40B4-BE49-F238E27FC236}">
                    <a16:creationId xmlns:a16="http://schemas.microsoft.com/office/drawing/2014/main" id="{E4DE9A37-42BD-8145-A80B-C8B5D4A58CEE}"/>
                  </a:ext>
                </a:extLst>
              </p:cNvPr>
              <p:cNvSpPr/>
              <p:nvPr/>
            </p:nvSpPr>
            <p:spPr>
              <a:xfrm>
                <a:off x="7297667" y="3089569"/>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0" name="Curved Left Arrow 9">
                <a:extLst>
                  <a:ext uri="{FF2B5EF4-FFF2-40B4-BE49-F238E27FC236}">
                    <a16:creationId xmlns:a16="http://schemas.microsoft.com/office/drawing/2014/main" id="{08D3BFC4-5491-F44A-9616-FC8F08F0D617}"/>
                  </a:ext>
                </a:extLst>
              </p:cNvPr>
              <p:cNvSpPr/>
              <p:nvPr/>
            </p:nvSpPr>
            <p:spPr>
              <a:xfrm>
                <a:off x="7297667" y="3578458"/>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grpSp>
        <p:grpSp>
          <p:nvGrpSpPr>
            <p:cNvPr id="12" name="Group 11">
              <a:extLst>
                <a:ext uri="{FF2B5EF4-FFF2-40B4-BE49-F238E27FC236}">
                  <a16:creationId xmlns:a16="http://schemas.microsoft.com/office/drawing/2014/main" id="{CB10CDAD-17C1-F648-8580-13360A1AC821}"/>
                </a:ext>
              </a:extLst>
            </p:cNvPr>
            <p:cNvGrpSpPr/>
            <p:nvPr/>
          </p:nvGrpSpPr>
          <p:grpSpPr>
            <a:xfrm rot="10800000">
              <a:off x="7123528" y="1768742"/>
              <a:ext cx="420785" cy="2422498"/>
              <a:chOff x="7297667" y="1578769"/>
              <a:chExt cx="420785" cy="2422498"/>
            </a:xfrm>
          </p:grpSpPr>
          <p:sp>
            <p:nvSpPr>
              <p:cNvPr id="13" name="Curved Left Arrow 12">
                <a:extLst>
                  <a:ext uri="{FF2B5EF4-FFF2-40B4-BE49-F238E27FC236}">
                    <a16:creationId xmlns:a16="http://schemas.microsoft.com/office/drawing/2014/main" id="{C9378ECB-A147-4D47-8861-B5D30D77DD08}"/>
                  </a:ext>
                </a:extLst>
              </p:cNvPr>
              <p:cNvSpPr/>
              <p:nvPr/>
            </p:nvSpPr>
            <p:spPr>
              <a:xfrm>
                <a:off x="7297667" y="1578769"/>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4" name="Curved Left Arrow 13">
                <a:extLst>
                  <a:ext uri="{FF2B5EF4-FFF2-40B4-BE49-F238E27FC236}">
                    <a16:creationId xmlns:a16="http://schemas.microsoft.com/office/drawing/2014/main" id="{3B380E9B-788E-754A-80EF-B62DDB993312}"/>
                  </a:ext>
                </a:extLst>
              </p:cNvPr>
              <p:cNvSpPr/>
              <p:nvPr/>
            </p:nvSpPr>
            <p:spPr>
              <a:xfrm>
                <a:off x="7297667" y="2107754"/>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5" name="Curved Left Arrow 14">
                <a:extLst>
                  <a:ext uri="{FF2B5EF4-FFF2-40B4-BE49-F238E27FC236}">
                    <a16:creationId xmlns:a16="http://schemas.microsoft.com/office/drawing/2014/main" id="{44B248A8-1FC3-2845-8967-BF05E30FC645}"/>
                  </a:ext>
                </a:extLst>
              </p:cNvPr>
              <p:cNvSpPr/>
              <p:nvPr/>
            </p:nvSpPr>
            <p:spPr>
              <a:xfrm>
                <a:off x="7297667" y="2645329"/>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6" name="Curved Left Arrow 15">
                <a:extLst>
                  <a:ext uri="{FF2B5EF4-FFF2-40B4-BE49-F238E27FC236}">
                    <a16:creationId xmlns:a16="http://schemas.microsoft.com/office/drawing/2014/main" id="{7294B635-7E52-8E41-BC63-E15BA1C94D18}"/>
                  </a:ext>
                </a:extLst>
              </p:cNvPr>
              <p:cNvSpPr/>
              <p:nvPr/>
            </p:nvSpPr>
            <p:spPr>
              <a:xfrm>
                <a:off x="7297667" y="3089569"/>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7" name="Curved Left Arrow 16">
                <a:extLst>
                  <a:ext uri="{FF2B5EF4-FFF2-40B4-BE49-F238E27FC236}">
                    <a16:creationId xmlns:a16="http://schemas.microsoft.com/office/drawing/2014/main" id="{9FC0F8F6-1A9E-684B-A261-E4DB97194243}"/>
                  </a:ext>
                </a:extLst>
              </p:cNvPr>
              <p:cNvSpPr/>
              <p:nvPr/>
            </p:nvSpPr>
            <p:spPr>
              <a:xfrm>
                <a:off x="7297667" y="3578458"/>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grpSp>
      </p:grpSp>
      <p:sp>
        <p:nvSpPr>
          <p:cNvPr id="19" name="TextBox 18">
            <a:extLst>
              <a:ext uri="{FF2B5EF4-FFF2-40B4-BE49-F238E27FC236}">
                <a16:creationId xmlns:a16="http://schemas.microsoft.com/office/drawing/2014/main" id="{2FFA7D90-E152-D842-AFFA-D4B36B26BDA7}"/>
              </a:ext>
            </a:extLst>
          </p:cNvPr>
          <p:cNvSpPr txBox="1"/>
          <p:nvPr/>
        </p:nvSpPr>
        <p:spPr>
          <a:xfrm rot="5400000">
            <a:off x="7338601" y="2647690"/>
            <a:ext cx="1951812"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Feedback Loop(s)</a:t>
            </a:r>
          </a:p>
        </p:txBody>
      </p:sp>
    </p:spTree>
    <p:extLst>
      <p:ext uri="{BB962C8B-B14F-4D97-AF65-F5344CB8AC3E}">
        <p14:creationId xmlns:p14="http://schemas.microsoft.com/office/powerpoint/2010/main" val="291441229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B547E-EB61-D5A1-75AC-CA5EB7A6BD2A}"/>
              </a:ext>
            </a:extLst>
          </p:cNvPr>
          <p:cNvSpPr>
            <a:spLocks noGrp="1"/>
          </p:cNvSpPr>
          <p:nvPr>
            <p:ph type="title"/>
          </p:nvPr>
        </p:nvSpPr>
        <p:spPr/>
        <p:txBody>
          <a:bodyPr/>
          <a:lstStyle/>
          <a:p>
            <a:r>
              <a:rPr lang="en-AU" dirty="0"/>
              <a:t>Computer can…</a:t>
            </a:r>
          </a:p>
        </p:txBody>
      </p:sp>
      <p:sp>
        <p:nvSpPr>
          <p:cNvPr id="4"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a:extLst>
              <a:ext uri="{FF2B5EF4-FFF2-40B4-BE49-F238E27FC236}">
                <a16:creationId xmlns:a16="http://schemas.microsoft.com/office/drawing/2014/main" id="{0987AED5-3199-453D-C7C6-7D6F9A2C023F}"/>
              </a:ext>
            </a:extLst>
          </p:cNvPr>
          <p:cNvSpPr txBox="1">
            <a:spLocks noGrp="1"/>
          </p:cNvSpPr>
          <p:nvPr>
            <p:ph type="body" idx="1"/>
          </p:nvPr>
        </p:nvSpPr>
        <p:spPr>
          <a:xfrm>
            <a:off x="446448" y="2028825"/>
            <a:ext cx="8251104" cy="2800350"/>
          </a:xfrm>
          <a:prstGeom prst="rect">
            <a:avLst/>
          </a:prstGeom>
        </p:spPr>
        <p:txBody>
          <a:bodyPr>
            <a:noAutofit/>
          </a:bodyPr>
          <a:lstStyle>
            <a:lvl1pPr marL="0" indent="0">
              <a:buClrTx/>
              <a:buSzTx/>
              <a:buNone/>
            </a:lvl1pPr>
          </a:lstStyle>
          <a:p>
            <a:pPr algn="ctr"/>
            <a:r>
              <a:rPr lang="en-AU" sz="3200" dirty="0"/>
              <a:t>Store Values</a:t>
            </a:r>
          </a:p>
          <a:p>
            <a:pPr algn="ctr"/>
            <a:endParaRPr lang="en-AU" sz="3200" dirty="0"/>
          </a:p>
          <a:p>
            <a:pPr algn="ctr"/>
            <a:r>
              <a:rPr lang="en-AU" sz="3200" dirty="0"/>
              <a:t>Perform Operations </a:t>
            </a:r>
          </a:p>
        </p:txBody>
      </p:sp>
    </p:spTree>
    <p:extLst>
      <p:ext uri="{BB962C8B-B14F-4D97-AF65-F5344CB8AC3E}">
        <p14:creationId xmlns:p14="http://schemas.microsoft.com/office/powerpoint/2010/main" val="1907325681"/>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6682C-425C-3344-BA83-9CD14D899180}"/>
              </a:ext>
            </a:extLst>
          </p:cNvPr>
          <p:cNvSpPr>
            <a:spLocks noGrp="1"/>
          </p:cNvSpPr>
          <p:nvPr>
            <p:ph type="title"/>
          </p:nvPr>
        </p:nvSpPr>
        <p:spPr/>
        <p:txBody>
          <a:bodyPr/>
          <a:lstStyle/>
          <a:p>
            <a:r>
              <a:rPr lang="en-AU" dirty="0"/>
              <a:t>What are values?</a:t>
            </a:r>
          </a:p>
        </p:txBody>
      </p:sp>
      <p:sp>
        <p:nvSpPr>
          <p:cNvPr id="3" name="Text Placeholder 2">
            <a:extLst>
              <a:ext uri="{FF2B5EF4-FFF2-40B4-BE49-F238E27FC236}">
                <a16:creationId xmlns:a16="http://schemas.microsoft.com/office/drawing/2014/main" id="{FAC6A1F0-2F2D-8648-8543-2682B5005107}"/>
              </a:ext>
            </a:extLst>
          </p:cNvPr>
          <p:cNvSpPr>
            <a:spLocks noGrp="1"/>
          </p:cNvSpPr>
          <p:nvPr>
            <p:ph type="body" idx="1"/>
          </p:nvPr>
        </p:nvSpPr>
        <p:spPr/>
        <p:txBody>
          <a:bodyPr>
            <a:normAutofit lnSpcReduction="10000"/>
          </a:bodyPr>
          <a:lstStyle/>
          <a:p>
            <a:r>
              <a:rPr lang="en-AU" dirty="0"/>
              <a:t>Single Value</a:t>
            </a:r>
          </a:p>
          <a:p>
            <a:pPr lvl="1"/>
            <a:r>
              <a:rPr lang="en-AU" dirty="0"/>
              <a:t>Integer</a:t>
            </a:r>
          </a:p>
          <a:p>
            <a:pPr lvl="1"/>
            <a:r>
              <a:rPr lang="en-AU" dirty="0"/>
              <a:t>Float</a:t>
            </a:r>
          </a:p>
          <a:p>
            <a:pPr lvl="1"/>
            <a:r>
              <a:rPr lang="en-AU" dirty="0"/>
              <a:t>Character</a:t>
            </a:r>
          </a:p>
          <a:p>
            <a:pPr lvl="1"/>
            <a:r>
              <a:rPr lang="en-AU" dirty="0"/>
              <a:t>Boolean</a:t>
            </a:r>
          </a:p>
          <a:p>
            <a:r>
              <a:rPr lang="en-AU" dirty="0"/>
              <a:t>Data Structure</a:t>
            </a:r>
          </a:p>
          <a:p>
            <a:pPr lvl="1"/>
            <a:r>
              <a:rPr lang="en-AU" dirty="0"/>
              <a:t>Lists</a:t>
            </a:r>
          </a:p>
          <a:p>
            <a:pPr lvl="1"/>
            <a:r>
              <a:rPr lang="en-AU" dirty="0"/>
              <a:t>Strings</a:t>
            </a:r>
          </a:p>
          <a:p>
            <a:pPr lvl="1"/>
            <a:r>
              <a:rPr lang="en-AU" dirty="0"/>
              <a:t>Files</a:t>
            </a:r>
          </a:p>
        </p:txBody>
      </p:sp>
    </p:spTree>
    <p:extLst>
      <p:ext uri="{BB962C8B-B14F-4D97-AF65-F5344CB8AC3E}">
        <p14:creationId xmlns:p14="http://schemas.microsoft.com/office/powerpoint/2010/main" val="360138388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Table&#10;&#10;Description automatically generated">
            <a:extLst>
              <a:ext uri="{FF2B5EF4-FFF2-40B4-BE49-F238E27FC236}">
                <a16:creationId xmlns:a16="http://schemas.microsoft.com/office/drawing/2014/main" id="{11FE3A1B-C0FD-D149-96EA-8D9E74C76E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74676"/>
            <a:ext cx="9144000" cy="3508648"/>
          </a:xfrm>
          <a:prstGeom prst="rect">
            <a:avLst/>
          </a:prstGeom>
        </p:spPr>
      </p:pic>
    </p:spTree>
    <p:extLst>
      <p:ext uri="{BB962C8B-B14F-4D97-AF65-F5344CB8AC3E}">
        <p14:creationId xmlns:p14="http://schemas.microsoft.com/office/powerpoint/2010/main" val="1282512676"/>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446448" y="2028825"/>
            <a:ext cx="8251104" cy="2800350"/>
          </a:xfrm>
          <a:prstGeom prst="rect">
            <a:avLst/>
          </a:prstGeom>
        </p:spPr>
        <p:txBody>
          <a:bodyPr>
            <a:noAutofit/>
          </a:bodyPr>
          <a:lstStyle>
            <a:lvl1pPr marL="0" indent="0">
              <a:buClrTx/>
              <a:buSzTx/>
              <a:buNone/>
            </a:lvl1pPr>
          </a:lstStyle>
          <a:p>
            <a:r>
              <a:rPr lang="en-AU" sz="3200" dirty="0"/>
              <a:t>A </a:t>
            </a:r>
            <a:r>
              <a:rPr lang="en-AU" sz="3200" b="1" i="1" dirty="0"/>
              <a:t>variable</a:t>
            </a:r>
            <a:r>
              <a:rPr lang="en-AU" sz="3200" dirty="0"/>
              <a:t> is the name given to a part of the computers memory, designed to store a particular data item. </a:t>
            </a:r>
          </a:p>
        </p:txBody>
      </p:sp>
      <p:pic>
        <p:nvPicPr>
          <p:cNvPr id="3" name="Picture 2" descr="Diagram&#10;&#10;Description automatically generated">
            <a:extLst>
              <a:ext uri="{FF2B5EF4-FFF2-40B4-BE49-F238E27FC236}">
                <a16:creationId xmlns:a16="http://schemas.microsoft.com/office/drawing/2014/main" id="{121074DA-6186-5CF5-BB9F-0668B0D922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3412" y="3215895"/>
            <a:ext cx="4645958" cy="2630588"/>
          </a:xfrm>
          <a:prstGeom prst="rect">
            <a:avLst/>
          </a:prstGeom>
        </p:spPr>
      </p:pic>
    </p:spTree>
    <p:extLst>
      <p:ext uri="{BB962C8B-B14F-4D97-AF65-F5344CB8AC3E}">
        <p14:creationId xmlns:p14="http://schemas.microsoft.com/office/powerpoint/2010/main" val="364487840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35D5D-2C41-E642-A1E8-96BBB4639B3C}"/>
              </a:ext>
            </a:extLst>
          </p:cNvPr>
          <p:cNvSpPr>
            <a:spLocks noGrp="1"/>
          </p:cNvSpPr>
          <p:nvPr>
            <p:ph type="title"/>
          </p:nvPr>
        </p:nvSpPr>
        <p:spPr/>
        <p:txBody>
          <a:bodyPr/>
          <a:lstStyle/>
          <a:p>
            <a:r>
              <a:rPr lang="en-AU" dirty="0"/>
              <a:t>Variable Names</a:t>
            </a:r>
          </a:p>
        </p:txBody>
      </p:sp>
      <p:sp>
        <p:nvSpPr>
          <p:cNvPr id="3" name="Text Placeholder 2">
            <a:extLst>
              <a:ext uri="{FF2B5EF4-FFF2-40B4-BE49-F238E27FC236}">
                <a16:creationId xmlns:a16="http://schemas.microsoft.com/office/drawing/2014/main" id="{8B2BFCEF-E8DC-634D-8E62-55727EC83475}"/>
              </a:ext>
            </a:extLst>
          </p:cNvPr>
          <p:cNvSpPr>
            <a:spLocks noGrp="1"/>
          </p:cNvSpPr>
          <p:nvPr>
            <p:ph type="body" idx="1"/>
          </p:nvPr>
        </p:nvSpPr>
        <p:spPr/>
        <p:txBody>
          <a:bodyPr>
            <a:normAutofit lnSpcReduction="10000"/>
          </a:bodyPr>
          <a:lstStyle/>
          <a:p>
            <a:r>
              <a:rPr lang="en-AU" dirty="0"/>
              <a:t>Rules</a:t>
            </a:r>
          </a:p>
          <a:p>
            <a:pPr lvl="1"/>
            <a:r>
              <a:rPr lang="en-AU" dirty="0"/>
              <a:t>Only letters, numbers, and the underscore character (_)</a:t>
            </a:r>
          </a:p>
          <a:p>
            <a:pPr lvl="1"/>
            <a:r>
              <a:rPr lang="en-AU" dirty="0"/>
              <a:t>No spaces</a:t>
            </a:r>
          </a:p>
          <a:p>
            <a:pPr lvl="1"/>
            <a:r>
              <a:rPr lang="en-AU" dirty="0"/>
              <a:t>No quotes</a:t>
            </a:r>
          </a:p>
          <a:p>
            <a:pPr lvl="1"/>
            <a:r>
              <a:rPr lang="en-AU" dirty="0"/>
              <a:t>Can’t start with a number</a:t>
            </a:r>
          </a:p>
          <a:p>
            <a:pPr lvl="1"/>
            <a:r>
              <a:rPr lang="en-AU" dirty="0"/>
              <a:t>Can't be a keyword import</a:t>
            </a:r>
          </a:p>
          <a:p>
            <a:r>
              <a:rPr lang="en-AU" dirty="0"/>
              <a:t>Conventions</a:t>
            </a:r>
          </a:p>
          <a:p>
            <a:pPr lvl="1"/>
            <a:r>
              <a:rPr lang="en-AU" dirty="0"/>
              <a:t>variable names should be meaningful</a:t>
            </a:r>
          </a:p>
          <a:p>
            <a:pPr lvl="1"/>
            <a:r>
              <a:rPr lang="en-AU" dirty="0"/>
              <a:t>separate words with underscores  (</a:t>
            </a:r>
            <a:r>
              <a:rPr lang="en-AU" dirty="0" err="1"/>
              <a:t>snake_case</a:t>
            </a:r>
            <a:r>
              <a:rPr lang="en-AU" dirty="0"/>
              <a:t>)</a:t>
            </a:r>
          </a:p>
          <a:p>
            <a:endParaRPr lang="en-AU" dirty="0"/>
          </a:p>
        </p:txBody>
      </p:sp>
    </p:spTree>
    <p:extLst>
      <p:ext uri="{BB962C8B-B14F-4D97-AF65-F5344CB8AC3E}">
        <p14:creationId xmlns:p14="http://schemas.microsoft.com/office/powerpoint/2010/main" val="3629440535"/>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6682C-425C-3344-BA83-9CD14D899180}"/>
              </a:ext>
            </a:extLst>
          </p:cNvPr>
          <p:cNvSpPr>
            <a:spLocks noGrp="1"/>
          </p:cNvSpPr>
          <p:nvPr>
            <p:ph type="title"/>
          </p:nvPr>
        </p:nvSpPr>
        <p:spPr/>
        <p:txBody>
          <a:bodyPr/>
          <a:lstStyle/>
          <a:p>
            <a:r>
              <a:rPr lang="en-AU" dirty="0"/>
              <a:t>Only Six  Operations</a:t>
            </a:r>
          </a:p>
        </p:txBody>
      </p:sp>
      <p:sp>
        <p:nvSpPr>
          <p:cNvPr id="3" name="Text Placeholder 2">
            <a:extLst>
              <a:ext uri="{FF2B5EF4-FFF2-40B4-BE49-F238E27FC236}">
                <a16:creationId xmlns:a16="http://schemas.microsoft.com/office/drawing/2014/main" id="{FAC6A1F0-2F2D-8648-8543-2682B5005107}"/>
              </a:ext>
            </a:extLst>
          </p:cNvPr>
          <p:cNvSpPr>
            <a:spLocks noGrp="1"/>
          </p:cNvSpPr>
          <p:nvPr>
            <p:ph type="body" idx="1"/>
          </p:nvPr>
        </p:nvSpPr>
        <p:spPr/>
        <p:txBody>
          <a:bodyPr/>
          <a:lstStyle/>
          <a:p>
            <a:pPr marL="0" indent="0">
              <a:buNone/>
            </a:pPr>
            <a:r>
              <a:rPr lang="en-AU" dirty="0"/>
              <a:t>Receive Information</a:t>
            </a:r>
          </a:p>
          <a:p>
            <a:pPr marL="0" indent="0">
              <a:buNone/>
            </a:pPr>
            <a:r>
              <a:rPr lang="en-AU" dirty="0"/>
              <a:t>Output Information</a:t>
            </a:r>
          </a:p>
          <a:p>
            <a:pPr marL="0" indent="0">
              <a:buNone/>
            </a:pPr>
            <a:r>
              <a:rPr lang="en-AU" dirty="0"/>
              <a:t>Perform Arithmetic</a:t>
            </a:r>
          </a:p>
          <a:p>
            <a:pPr marL="0" indent="0">
              <a:buNone/>
            </a:pPr>
            <a:r>
              <a:rPr lang="en-AU" dirty="0"/>
              <a:t>Assign a value to a variable</a:t>
            </a:r>
          </a:p>
          <a:p>
            <a:pPr marL="0" indent="0">
              <a:buNone/>
            </a:pPr>
            <a:r>
              <a:rPr lang="en-AU" dirty="0"/>
              <a:t>Compare to variables</a:t>
            </a:r>
          </a:p>
          <a:p>
            <a:pPr marL="0" indent="0">
              <a:buNone/>
            </a:pPr>
            <a:r>
              <a:rPr lang="en-AU" dirty="0"/>
              <a:t>Repeat a group of actions.</a:t>
            </a:r>
          </a:p>
        </p:txBody>
      </p:sp>
    </p:spTree>
    <p:extLst>
      <p:ext uri="{BB962C8B-B14F-4D97-AF65-F5344CB8AC3E}">
        <p14:creationId xmlns:p14="http://schemas.microsoft.com/office/powerpoint/2010/main" val="3055766339"/>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106680" y="2028825"/>
            <a:ext cx="9037320" cy="2800350"/>
          </a:xfrm>
          <a:prstGeom prst="rect">
            <a:avLst/>
          </a:prstGeom>
        </p:spPr>
        <p:txBody>
          <a:bodyPr>
            <a:noAutofit/>
          </a:bodyPr>
          <a:lstStyle>
            <a:lvl1pPr marL="0" indent="0">
              <a:buClrTx/>
              <a:buSzTx/>
              <a:buNone/>
            </a:lvl1pPr>
          </a:lstStyle>
          <a:p>
            <a:pPr algn="ctr"/>
            <a:r>
              <a:rPr lang="en-AU" sz="4400" dirty="0"/>
              <a:t>input(“What is your name?”)</a:t>
            </a:r>
          </a:p>
        </p:txBody>
      </p:sp>
    </p:spTree>
    <p:extLst>
      <p:ext uri="{BB962C8B-B14F-4D97-AF65-F5344CB8AC3E}">
        <p14:creationId xmlns:p14="http://schemas.microsoft.com/office/powerpoint/2010/main" val="3079693126"/>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106680" y="2028825"/>
            <a:ext cx="9037320" cy="2800350"/>
          </a:xfrm>
          <a:prstGeom prst="rect">
            <a:avLst/>
          </a:prstGeom>
        </p:spPr>
        <p:txBody>
          <a:bodyPr>
            <a:noAutofit/>
          </a:bodyPr>
          <a:lstStyle>
            <a:lvl1pPr marL="0" indent="0">
              <a:buClrTx/>
              <a:buSzTx/>
              <a:buNone/>
            </a:lvl1pPr>
          </a:lstStyle>
          <a:p>
            <a:pPr algn="ctr"/>
            <a:r>
              <a:rPr lang="en-AU" sz="4400" dirty="0"/>
              <a:t>print(“Hello, world”)</a:t>
            </a:r>
          </a:p>
        </p:txBody>
      </p:sp>
    </p:spTree>
    <p:extLst>
      <p:ext uri="{BB962C8B-B14F-4D97-AF65-F5344CB8AC3E}">
        <p14:creationId xmlns:p14="http://schemas.microsoft.com/office/powerpoint/2010/main" val="284842801"/>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able&#10;&#10;Description automatically generated">
            <a:extLst>
              <a:ext uri="{FF2B5EF4-FFF2-40B4-BE49-F238E27FC236}">
                <a16:creationId xmlns:a16="http://schemas.microsoft.com/office/drawing/2014/main" id="{BDB40318-222C-1A4C-8D8F-BA6F383EDA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540" y="588997"/>
            <a:ext cx="7360920" cy="5082328"/>
          </a:xfrm>
          <a:prstGeom prst="rect">
            <a:avLst/>
          </a:prstGeom>
        </p:spPr>
      </p:pic>
    </p:spTree>
    <p:extLst>
      <p:ext uri="{BB962C8B-B14F-4D97-AF65-F5344CB8AC3E}">
        <p14:creationId xmlns:p14="http://schemas.microsoft.com/office/powerpoint/2010/main" val="4268510082"/>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106680" y="2028825"/>
            <a:ext cx="9037320" cy="2800350"/>
          </a:xfrm>
          <a:prstGeom prst="rect">
            <a:avLst/>
          </a:prstGeom>
        </p:spPr>
        <p:txBody>
          <a:bodyPr>
            <a:noAutofit/>
          </a:bodyPr>
          <a:lstStyle>
            <a:lvl1pPr marL="0" indent="0">
              <a:buClrTx/>
              <a:buSzTx/>
              <a:buNone/>
            </a:lvl1pPr>
          </a:lstStyle>
          <a:p>
            <a:pPr algn="ctr"/>
            <a:r>
              <a:rPr lang="en-AU" sz="4400" dirty="0"/>
              <a:t>name = input(“What is your name?”)</a:t>
            </a:r>
          </a:p>
        </p:txBody>
      </p:sp>
    </p:spTree>
    <p:extLst>
      <p:ext uri="{BB962C8B-B14F-4D97-AF65-F5344CB8AC3E}">
        <p14:creationId xmlns:p14="http://schemas.microsoft.com/office/powerpoint/2010/main" val="3716636433"/>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106680" y="198120"/>
            <a:ext cx="9037320" cy="4631055"/>
          </a:xfrm>
          <a:prstGeom prst="rect">
            <a:avLst/>
          </a:prstGeom>
        </p:spPr>
        <p:txBody>
          <a:bodyPr>
            <a:noAutofit/>
          </a:bodyPr>
          <a:lstStyle>
            <a:lvl1pPr marL="0" indent="0">
              <a:buClrTx/>
              <a:buSzTx/>
              <a:buNone/>
            </a:lvl1pPr>
          </a:lstStyle>
          <a:p>
            <a:endParaRPr lang="en-AU" sz="4400" dirty="0"/>
          </a:p>
          <a:p>
            <a:r>
              <a:rPr lang="en-AU" sz="4400" dirty="0"/>
              <a:t>if </a:t>
            </a:r>
            <a:r>
              <a:rPr lang="en-AU" sz="4400" dirty="0" err="1"/>
              <a:t>first_number</a:t>
            </a:r>
            <a:r>
              <a:rPr lang="en-AU" sz="4400" dirty="0"/>
              <a:t> &gt; </a:t>
            </a:r>
            <a:r>
              <a:rPr lang="en-AU" sz="4400" dirty="0" err="1"/>
              <a:t>second_number</a:t>
            </a:r>
            <a:r>
              <a:rPr lang="en-AU" sz="4400" dirty="0"/>
              <a:t>:</a:t>
            </a:r>
          </a:p>
          <a:p>
            <a:r>
              <a:rPr lang="en-AU" sz="4400" dirty="0"/>
              <a:t>    print(</a:t>
            </a:r>
            <a:r>
              <a:rPr lang="en-AU" sz="4400" dirty="0" err="1"/>
              <a:t>first_number</a:t>
            </a:r>
            <a:r>
              <a:rPr lang="en-AU" sz="4400" dirty="0"/>
              <a:t>)</a:t>
            </a:r>
          </a:p>
          <a:p>
            <a:r>
              <a:rPr lang="en-AU" sz="4400" dirty="0"/>
              <a:t>else:</a:t>
            </a:r>
          </a:p>
          <a:p>
            <a:r>
              <a:rPr lang="en-AU" sz="4400" dirty="0"/>
              <a:t>    print(</a:t>
            </a:r>
            <a:r>
              <a:rPr lang="en-AU" sz="4400" dirty="0" err="1"/>
              <a:t>second_number</a:t>
            </a:r>
            <a:r>
              <a:rPr lang="en-AU" sz="4400" dirty="0"/>
              <a:t>)</a:t>
            </a:r>
          </a:p>
        </p:txBody>
      </p:sp>
    </p:spTree>
    <p:extLst>
      <p:ext uri="{BB962C8B-B14F-4D97-AF65-F5344CB8AC3E}">
        <p14:creationId xmlns:p14="http://schemas.microsoft.com/office/powerpoint/2010/main" val="761857311"/>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able&#10;&#10;Description automatically generated">
            <a:extLst>
              <a:ext uri="{FF2B5EF4-FFF2-40B4-BE49-F238E27FC236}">
                <a16:creationId xmlns:a16="http://schemas.microsoft.com/office/drawing/2014/main" id="{01BF7815-686E-C143-85C2-52F895BAB7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90443"/>
            <a:ext cx="9144000" cy="5376074"/>
          </a:xfrm>
          <a:prstGeom prst="rect">
            <a:avLst/>
          </a:prstGeom>
        </p:spPr>
      </p:pic>
    </p:spTree>
    <p:extLst>
      <p:ext uri="{BB962C8B-B14F-4D97-AF65-F5344CB8AC3E}">
        <p14:creationId xmlns:p14="http://schemas.microsoft.com/office/powerpoint/2010/main" val="2250738798"/>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106680" y="198120"/>
            <a:ext cx="9037320" cy="4631055"/>
          </a:xfrm>
          <a:prstGeom prst="rect">
            <a:avLst/>
          </a:prstGeom>
        </p:spPr>
        <p:txBody>
          <a:bodyPr>
            <a:noAutofit/>
          </a:bodyPr>
          <a:lstStyle>
            <a:lvl1pPr marL="0" indent="0">
              <a:buClrTx/>
              <a:buSzTx/>
              <a:buNone/>
            </a:lvl1pPr>
          </a:lstStyle>
          <a:p>
            <a:endParaRPr lang="en-AU" sz="4400" dirty="0"/>
          </a:p>
          <a:p>
            <a:r>
              <a:rPr lang="en-AU" sz="4400" dirty="0"/>
              <a:t>for number in [10,9,8,7,6,5,4,3,2,1]:</a:t>
            </a:r>
          </a:p>
          <a:p>
            <a:r>
              <a:rPr lang="en-AU" sz="4400" dirty="0"/>
              <a:t>    print(number)</a:t>
            </a:r>
          </a:p>
          <a:p>
            <a:r>
              <a:rPr lang="en-AU" sz="4400" dirty="0"/>
              <a:t>print("Blast Off!")</a:t>
            </a:r>
          </a:p>
        </p:txBody>
      </p:sp>
    </p:spTree>
    <p:extLst>
      <p:ext uri="{BB962C8B-B14F-4D97-AF65-F5344CB8AC3E}">
        <p14:creationId xmlns:p14="http://schemas.microsoft.com/office/powerpoint/2010/main" val="1147675128"/>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E381C-D1C3-3D40-A04D-19F9386AD994}"/>
              </a:ext>
            </a:extLst>
          </p:cNvPr>
          <p:cNvSpPr>
            <a:spLocks noGrp="1"/>
          </p:cNvSpPr>
          <p:nvPr>
            <p:ph type="title"/>
          </p:nvPr>
        </p:nvSpPr>
        <p:spPr/>
        <p:txBody>
          <a:bodyPr/>
          <a:lstStyle/>
          <a:p>
            <a:r>
              <a:rPr lang="en-AU" dirty="0"/>
              <a:t>Problem Solving Methodology</a:t>
            </a:r>
          </a:p>
        </p:txBody>
      </p:sp>
      <p:sp>
        <p:nvSpPr>
          <p:cNvPr id="3" name="Text Placeholder 2">
            <a:extLst>
              <a:ext uri="{FF2B5EF4-FFF2-40B4-BE49-F238E27FC236}">
                <a16:creationId xmlns:a16="http://schemas.microsoft.com/office/drawing/2014/main" id="{C189B0FC-34E2-0C47-8BAB-FF44E6C339F4}"/>
              </a:ext>
            </a:extLst>
          </p:cNvPr>
          <p:cNvSpPr>
            <a:spLocks noGrp="1"/>
          </p:cNvSpPr>
          <p:nvPr>
            <p:ph type="body" idx="1"/>
          </p:nvPr>
        </p:nvSpPr>
        <p:spPr/>
        <p:txBody>
          <a:bodyPr/>
          <a:lstStyle/>
          <a:p>
            <a:r>
              <a:rPr lang="en-AU" dirty="0"/>
              <a:t>State the problem clearly</a:t>
            </a:r>
          </a:p>
          <a:p>
            <a:r>
              <a:rPr lang="en-AU" dirty="0"/>
              <a:t>Describe the input and output</a:t>
            </a:r>
          </a:p>
          <a:p>
            <a:r>
              <a:rPr lang="en-AU" dirty="0"/>
              <a:t>Work a simple example by hand</a:t>
            </a:r>
          </a:p>
          <a:p>
            <a:r>
              <a:rPr lang="en-AU" dirty="0"/>
              <a:t>Develop and algorithm (and convert to Python)</a:t>
            </a:r>
          </a:p>
          <a:p>
            <a:r>
              <a:rPr lang="en-AU" dirty="0"/>
              <a:t>Test solution with a variety of data</a:t>
            </a:r>
          </a:p>
        </p:txBody>
      </p:sp>
      <p:grpSp>
        <p:nvGrpSpPr>
          <p:cNvPr id="18" name="Group 17">
            <a:extLst>
              <a:ext uri="{FF2B5EF4-FFF2-40B4-BE49-F238E27FC236}">
                <a16:creationId xmlns:a16="http://schemas.microsoft.com/office/drawing/2014/main" id="{6F5F16C1-CA57-DD4B-9643-7E2E826D88F3}"/>
              </a:ext>
            </a:extLst>
          </p:cNvPr>
          <p:cNvGrpSpPr/>
          <p:nvPr/>
        </p:nvGrpSpPr>
        <p:grpSpPr>
          <a:xfrm>
            <a:off x="7236816" y="1476417"/>
            <a:ext cx="841570" cy="2633902"/>
            <a:chOff x="7123528" y="1557338"/>
            <a:chExt cx="841570" cy="2633902"/>
          </a:xfrm>
        </p:grpSpPr>
        <p:grpSp>
          <p:nvGrpSpPr>
            <p:cNvPr id="11" name="Group 10">
              <a:extLst>
                <a:ext uri="{FF2B5EF4-FFF2-40B4-BE49-F238E27FC236}">
                  <a16:creationId xmlns:a16="http://schemas.microsoft.com/office/drawing/2014/main" id="{B3638019-652B-DD4C-B839-E821D1C8ADC0}"/>
                </a:ext>
              </a:extLst>
            </p:cNvPr>
            <p:cNvGrpSpPr/>
            <p:nvPr/>
          </p:nvGrpSpPr>
          <p:grpSpPr>
            <a:xfrm>
              <a:off x="7544313" y="1557338"/>
              <a:ext cx="420785" cy="2422498"/>
              <a:chOff x="7297667" y="1578769"/>
              <a:chExt cx="420785" cy="2422498"/>
            </a:xfrm>
          </p:grpSpPr>
          <p:sp>
            <p:nvSpPr>
              <p:cNvPr id="5" name="Curved Left Arrow 4">
                <a:extLst>
                  <a:ext uri="{FF2B5EF4-FFF2-40B4-BE49-F238E27FC236}">
                    <a16:creationId xmlns:a16="http://schemas.microsoft.com/office/drawing/2014/main" id="{2064E6F3-1CB2-F944-9402-9F1739DF1EB6}"/>
                  </a:ext>
                </a:extLst>
              </p:cNvPr>
              <p:cNvSpPr/>
              <p:nvPr/>
            </p:nvSpPr>
            <p:spPr>
              <a:xfrm>
                <a:off x="7297667" y="1578769"/>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6" name="Curved Left Arrow 5">
                <a:extLst>
                  <a:ext uri="{FF2B5EF4-FFF2-40B4-BE49-F238E27FC236}">
                    <a16:creationId xmlns:a16="http://schemas.microsoft.com/office/drawing/2014/main" id="{0FB88419-5B1B-B94B-9659-C93C2C1CCF0C}"/>
                  </a:ext>
                </a:extLst>
              </p:cNvPr>
              <p:cNvSpPr/>
              <p:nvPr/>
            </p:nvSpPr>
            <p:spPr>
              <a:xfrm>
                <a:off x="7297667" y="2107754"/>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8" name="Curved Left Arrow 7">
                <a:extLst>
                  <a:ext uri="{FF2B5EF4-FFF2-40B4-BE49-F238E27FC236}">
                    <a16:creationId xmlns:a16="http://schemas.microsoft.com/office/drawing/2014/main" id="{D61C9891-09A5-C747-BA60-81A09063F30D}"/>
                  </a:ext>
                </a:extLst>
              </p:cNvPr>
              <p:cNvSpPr/>
              <p:nvPr/>
            </p:nvSpPr>
            <p:spPr>
              <a:xfrm>
                <a:off x="7297667" y="2645329"/>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9" name="Curved Left Arrow 8">
                <a:extLst>
                  <a:ext uri="{FF2B5EF4-FFF2-40B4-BE49-F238E27FC236}">
                    <a16:creationId xmlns:a16="http://schemas.microsoft.com/office/drawing/2014/main" id="{E4DE9A37-42BD-8145-A80B-C8B5D4A58CEE}"/>
                  </a:ext>
                </a:extLst>
              </p:cNvPr>
              <p:cNvSpPr/>
              <p:nvPr/>
            </p:nvSpPr>
            <p:spPr>
              <a:xfrm>
                <a:off x="7297667" y="3089569"/>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0" name="Curved Left Arrow 9">
                <a:extLst>
                  <a:ext uri="{FF2B5EF4-FFF2-40B4-BE49-F238E27FC236}">
                    <a16:creationId xmlns:a16="http://schemas.microsoft.com/office/drawing/2014/main" id="{08D3BFC4-5491-F44A-9616-FC8F08F0D617}"/>
                  </a:ext>
                </a:extLst>
              </p:cNvPr>
              <p:cNvSpPr/>
              <p:nvPr/>
            </p:nvSpPr>
            <p:spPr>
              <a:xfrm>
                <a:off x="7297667" y="3578458"/>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grpSp>
        <p:grpSp>
          <p:nvGrpSpPr>
            <p:cNvPr id="12" name="Group 11">
              <a:extLst>
                <a:ext uri="{FF2B5EF4-FFF2-40B4-BE49-F238E27FC236}">
                  <a16:creationId xmlns:a16="http://schemas.microsoft.com/office/drawing/2014/main" id="{CB10CDAD-17C1-F648-8580-13360A1AC821}"/>
                </a:ext>
              </a:extLst>
            </p:cNvPr>
            <p:cNvGrpSpPr/>
            <p:nvPr/>
          </p:nvGrpSpPr>
          <p:grpSpPr>
            <a:xfrm rot="10800000">
              <a:off x="7123528" y="1768742"/>
              <a:ext cx="420785" cy="2422498"/>
              <a:chOff x="7297667" y="1578769"/>
              <a:chExt cx="420785" cy="2422498"/>
            </a:xfrm>
          </p:grpSpPr>
          <p:sp>
            <p:nvSpPr>
              <p:cNvPr id="13" name="Curved Left Arrow 12">
                <a:extLst>
                  <a:ext uri="{FF2B5EF4-FFF2-40B4-BE49-F238E27FC236}">
                    <a16:creationId xmlns:a16="http://schemas.microsoft.com/office/drawing/2014/main" id="{C9378ECB-A147-4D47-8861-B5D30D77DD08}"/>
                  </a:ext>
                </a:extLst>
              </p:cNvPr>
              <p:cNvSpPr/>
              <p:nvPr/>
            </p:nvSpPr>
            <p:spPr>
              <a:xfrm>
                <a:off x="7297667" y="1578769"/>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4" name="Curved Left Arrow 13">
                <a:extLst>
                  <a:ext uri="{FF2B5EF4-FFF2-40B4-BE49-F238E27FC236}">
                    <a16:creationId xmlns:a16="http://schemas.microsoft.com/office/drawing/2014/main" id="{3B380E9B-788E-754A-80EF-B62DDB993312}"/>
                  </a:ext>
                </a:extLst>
              </p:cNvPr>
              <p:cNvSpPr/>
              <p:nvPr/>
            </p:nvSpPr>
            <p:spPr>
              <a:xfrm>
                <a:off x="7297667" y="2107754"/>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5" name="Curved Left Arrow 14">
                <a:extLst>
                  <a:ext uri="{FF2B5EF4-FFF2-40B4-BE49-F238E27FC236}">
                    <a16:creationId xmlns:a16="http://schemas.microsoft.com/office/drawing/2014/main" id="{44B248A8-1FC3-2845-8967-BF05E30FC645}"/>
                  </a:ext>
                </a:extLst>
              </p:cNvPr>
              <p:cNvSpPr/>
              <p:nvPr/>
            </p:nvSpPr>
            <p:spPr>
              <a:xfrm>
                <a:off x="7297667" y="2645329"/>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6" name="Curved Left Arrow 15">
                <a:extLst>
                  <a:ext uri="{FF2B5EF4-FFF2-40B4-BE49-F238E27FC236}">
                    <a16:creationId xmlns:a16="http://schemas.microsoft.com/office/drawing/2014/main" id="{7294B635-7E52-8E41-BC63-E15BA1C94D18}"/>
                  </a:ext>
                </a:extLst>
              </p:cNvPr>
              <p:cNvSpPr/>
              <p:nvPr/>
            </p:nvSpPr>
            <p:spPr>
              <a:xfrm>
                <a:off x="7297667" y="3089569"/>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7" name="Curved Left Arrow 16">
                <a:extLst>
                  <a:ext uri="{FF2B5EF4-FFF2-40B4-BE49-F238E27FC236}">
                    <a16:creationId xmlns:a16="http://schemas.microsoft.com/office/drawing/2014/main" id="{9FC0F8F6-1A9E-684B-A261-E4DB97194243}"/>
                  </a:ext>
                </a:extLst>
              </p:cNvPr>
              <p:cNvSpPr/>
              <p:nvPr/>
            </p:nvSpPr>
            <p:spPr>
              <a:xfrm>
                <a:off x="7297667" y="3578458"/>
                <a:ext cx="420785" cy="422809"/>
              </a:xfrm>
              <a:prstGeom prst="curvedLeftArrow">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grpSp>
      </p:grpSp>
      <p:sp>
        <p:nvSpPr>
          <p:cNvPr id="19" name="TextBox 18">
            <a:extLst>
              <a:ext uri="{FF2B5EF4-FFF2-40B4-BE49-F238E27FC236}">
                <a16:creationId xmlns:a16="http://schemas.microsoft.com/office/drawing/2014/main" id="{2FFA7D90-E152-D842-AFFA-D4B36B26BDA7}"/>
              </a:ext>
            </a:extLst>
          </p:cNvPr>
          <p:cNvSpPr txBox="1"/>
          <p:nvPr/>
        </p:nvSpPr>
        <p:spPr>
          <a:xfrm rot="5400000">
            <a:off x="7338601" y="2647690"/>
            <a:ext cx="1951812"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0" i="0" u="none" strike="noStrike" cap="none" spc="0" normalizeH="0" baseline="0" dirty="0">
                <a:ln>
                  <a:noFill/>
                </a:ln>
                <a:solidFill>
                  <a:srgbClr val="333333"/>
                </a:solidFill>
                <a:effectLst/>
                <a:uFillTx/>
                <a:latin typeface="+mn-lt"/>
                <a:ea typeface="+mn-ea"/>
                <a:cs typeface="+mn-cs"/>
                <a:sym typeface="Helvetica"/>
              </a:rPr>
              <a:t>Feedback Loop(s)</a:t>
            </a:r>
          </a:p>
        </p:txBody>
      </p:sp>
    </p:spTree>
    <p:extLst>
      <p:ext uri="{BB962C8B-B14F-4D97-AF65-F5344CB8AC3E}">
        <p14:creationId xmlns:p14="http://schemas.microsoft.com/office/powerpoint/2010/main" val="3939065441"/>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446448" y="2028825"/>
            <a:ext cx="8251104" cy="2800350"/>
          </a:xfrm>
          <a:prstGeom prst="rect">
            <a:avLst/>
          </a:prstGeom>
        </p:spPr>
        <p:txBody>
          <a:bodyPr>
            <a:noAutofit/>
          </a:bodyPr>
          <a:lstStyle>
            <a:lvl1pPr marL="0" indent="0">
              <a:buClrTx/>
              <a:buSzTx/>
              <a:buNone/>
            </a:lvl1pPr>
          </a:lstStyle>
          <a:p>
            <a:pPr algn="ctr"/>
            <a:r>
              <a:rPr lang="en-AU" sz="2800" dirty="0"/>
              <a:t>Make the steps in your pseudocode to be one of the six operations, then translating from pseudocode to a programming language becomes simple.</a:t>
            </a:r>
          </a:p>
        </p:txBody>
      </p:sp>
    </p:spTree>
    <p:extLst>
      <p:ext uri="{BB962C8B-B14F-4D97-AF65-F5344CB8AC3E}">
        <p14:creationId xmlns:p14="http://schemas.microsoft.com/office/powerpoint/2010/main" val="2708897830"/>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E381C-D1C3-3D40-A04D-19F9386AD994}"/>
              </a:ext>
            </a:extLst>
          </p:cNvPr>
          <p:cNvSpPr>
            <a:spLocks noGrp="1"/>
          </p:cNvSpPr>
          <p:nvPr>
            <p:ph type="title"/>
          </p:nvPr>
        </p:nvSpPr>
        <p:spPr/>
        <p:txBody>
          <a:bodyPr/>
          <a:lstStyle/>
          <a:p>
            <a:r>
              <a:rPr lang="en-AU" dirty="0"/>
              <a:t>Can you</a:t>
            </a:r>
          </a:p>
        </p:txBody>
      </p:sp>
      <p:sp>
        <p:nvSpPr>
          <p:cNvPr id="3" name="Text Placeholder 2">
            <a:extLst>
              <a:ext uri="{FF2B5EF4-FFF2-40B4-BE49-F238E27FC236}">
                <a16:creationId xmlns:a16="http://schemas.microsoft.com/office/drawing/2014/main" id="{C189B0FC-34E2-0C47-8BAB-FF44E6C339F4}"/>
              </a:ext>
            </a:extLst>
          </p:cNvPr>
          <p:cNvSpPr>
            <a:spLocks noGrp="1"/>
          </p:cNvSpPr>
          <p:nvPr>
            <p:ph type="body" idx="1"/>
          </p:nvPr>
        </p:nvSpPr>
        <p:spPr/>
        <p:txBody>
          <a:bodyPr>
            <a:normAutofit/>
          </a:bodyPr>
          <a:lstStyle/>
          <a:p>
            <a:r>
              <a:rPr lang="en-AU" dirty="0"/>
              <a:t>Break a problems down into simple actions</a:t>
            </a:r>
          </a:p>
          <a:p>
            <a:r>
              <a:rPr lang="en-AU" dirty="0"/>
              <a:t>Actions carry out simple tasks</a:t>
            </a:r>
          </a:p>
          <a:p>
            <a:r>
              <a:rPr lang="en-AU" dirty="0"/>
              <a:t>A set of actions is called an algorithm</a:t>
            </a:r>
          </a:p>
          <a:p>
            <a:r>
              <a:rPr lang="en-AU" dirty="0"/>
              <a:t>Algorithms expressed as Pseudocode</a:t>
            </a:r>
          </a:p>
          <a:p>
            <a:r>
              <a:rPr lang="en-AU" dirty="0"/>
              <a:t>Coding is translating an algorithm to a program</a:t>
            </a:r>
          </a:p>
          <a:p>
            <a:r>
              <a:rPr lang="en-AU" dirty="0"/>
              <a:t>Six operations a computer can do </a:t>
            </a:r>
          </a:p>
        </p:txBody>
      </p:sp>
    </p:spTree>
    <p:extLst>
      <p:ext uri="{BB962C8B-B14F-4D97-AF65-F5344CB8AC3E}">
        <p14:creationId xmlns:p14="http://schemas.microsoft.com/office/powerpoint/2010/main" val="1956784904"/>
      </p:ext>
    </p:extLst>
  </p:cSld>
  <p:clrMapOvr>
    <a:masterClrMapping/>
  </p:clrMapOvr>
  <p:transition spd="med"/>
</p:sld>
</file>

<file path=ppt/theme/theme1.xml><?xml version="1.0" encoding="utf-8"?>
<a:theme xmlns:a="http://schemas.openxmlformats.org/drawingml/2006/main" name="curtin2010-PP2003">
  <a:themeElements>
    <a:clrScheme name="curtin2010-PP2003">
      <a:dk1>
        <a:srgbClr val="333333"/>
      </a:dk1>
      <a:lt1>
        <a:srgbClr val="FFFFFF"/>
      </a:lt1>
      <a:dk2>
        <a:srgbClr val="A7A7A7"/>
      </a:dk2>
      <a:lt2>
        <a:srgbClr val="535353"/>
      </a:lt2>
      <a:accent1>
        <a:srgbClr val="CC9900"/>
      </a:accent1>
      <a:accent2>
        <a:srgbClr val="333399"/>
      </a:accent2>
      <a:accent3>
        <a:srgbClr val="8F8F8F"/>
      </a:accent3>
      <a:accent4>
        <a:srgbClr val="2A2A2A"/>
      </a:accent4>
      <a:accent5>
        <a:srgbClr val="E2CAAA"/>
      </a:accent5>
      <a:accent6>
        <a:srgbClr val="2D2D8A"/>
      </a:accent6>
      <a:hlink>
        <a:srgbClr val="0000FF"/>
      </a:hlink>
      <a:folHlink>
        <a:srgbClr val="FF00FF"/>
      </a:folHlink>
    </a:clrScheme>
    <a:fontScheme name="curtin2010-PP2003">
      <a:majorFont>
        <a:latin typeface="Arial"/>
        <a:ea typeface="Arial"/>
        <a:cs typeface="Arial"/>
      </a:majorFont>
      <a:minorFont>
        <a:latin typeface="Helvetica"/>
        <a:ea typeface="Helvetica"/>
        <a:cs typeface="Helvetica"/>
      </a:minorFont>
    </a:fontScheme>
    <a:fmtScheme name="curtin2010-PP200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curtin2010-PP2003">
  <a:themeElements>
    <a:clrScheme name="curtin2010-PP2003">
      <a:dk1>
        <a:srgbClr val="000000"/>
      </a:dk1>
      <a:lt1>
        <a:srgbClr val="FFFFFF"/>
      </a:lt1>
      <a:dk2>
        <a:srgbClr val="A7A7A7"/>
      </a:dk2>
      <a:lt2>
        <a:srgbClr val="535353"/>
      </a:lt2>
      <a:accent1>
        <a:srgbClr val="CC9900"/>
      </a:accent1>
      <a:accent2>
        <a:srgbClr val="333399"/>
      </a:accent2>
      <a:accent3>
        <a:srgbClr val="8F8F8F"/>
      </a:accent3>
      <a:accent4>
        <a:srgbClr val="2A2A2A"/>
      </a:accent4>
      <a:accent5>
        <a:srgbClr val="E2CAAA"/>
      </a:accent5>
      <a:accent6>
        <a:srgbClr val="2D2D8A"/>
      </a:accent6>
      <a:hlink>
        <a:srgbClr val="0000FF"/>
      </a:hlink>
      <a:folHlink>
        <a:srgbClr val="FF00FF"/>
      </a:folHlink>
    </a:clrScheme>
    <a:fontScheme name="curtin2010-PP2003">
      <a:majorFont>
        <a:latin typeface="Arial"/>
        <a:ea typeface="Arial"/>
        <a:cs typeface="Arial"/>
      </a:majorFont>
      <a:minorFont>
        <a:latin typeface="Helvetica"/>
        <a:ea typeface="Helvetica"/>
        <a:cs typeface="Helvetica"/>
      </a:minorFont>
    </a:fontScheme>
    <a:fmtScheme name="curtin2010-PP200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205</TotalTime>
  <Words>1353</Words>
  <Application>Microsoft Macintosh PowerPoint</Application>
  <PresentationFormat>On-screen Show (4:3)</PresentationFormat>
  <Paragraphs>136</Paragraphs>
  <Slides>27</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Helvetica</vt:lpstr>
      <vt:lpstr>Wingdings</vt:lpstr>
      <vt:lpstr>curtin2010-PP2003</vt:lpstr>
      <vt:lpstr>Python Objects</vt:lpstr>
      <vt:lpstr>PowerPoint Presentation</vt:lpstr>
      <vt:lpstr>PowerPoint Presentation</vt:lpstr>
      <vt:lpstr>Today</vt:lpstr>
      <vt:lpstr>PowerPoint Presentation</vt:lpstr>
      <vt:lpstr>Problem Solving Methodology</vt:lpstr>
      <vt:lpstr>PowerPoint Presentation</vt:lpstr>
      <vt:lpstr>Rubber Duck</vt:lpstr>
      <vt:lpstr>Psuedocode</vt:lpstr>
      <vt:lpstr>Recall</vt:lpstr>
      <vt:lpstr>Problem Solving Methodology</vt:lpstr>
      <vt:lpstr>Computer can…</vt:lpstr>
      <vt:lpstr>What are values?</vt:lpstr>
      <vt:lpstr>PowerPoint Presentation</vt:lpstr>
      <vt:lpstr>PowerPoint Presentation</vt:lpstr>
      <vt:lpstr>Variable Names</vt:lpstr>
      <vt:lpstr>Only Six  Operations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Problem Solving Methodology</vt:lpstr>
      <vt:lpstr>PowerPoint Presentation</vt:lpstr>
      <vt:lpstr>Can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Programming?</dc:title>
  <cp:lastModifiedBy>Michael Borck</cp:lastModifiedBy>
  <cp:revision>20</cp:revision>
  <cp:lastPrinted>2021-07-27T19:28:27Z</cp:lastPrinted>
  <dcterms:modified xsi:type="dcterms:W3CDTF">2023-03-06T17:14:23Z</dcterms:modified>
</cp:coreProperties>
</file>