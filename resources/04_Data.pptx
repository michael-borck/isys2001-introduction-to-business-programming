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61" r:id="rId5"/>
    <p:sldId id="262" r:id="rId6"/>
    <p:sldId id="263" r:id="rId7"/>
    <p:sldId id="265" r:id="rId8"/>
    <p:sldId id="266" r:id="rId9"/>
    <p:sldId id="271" r:id="rId10"/>
    <p:sldId id="267" r:id="rId11"/>
    <p:sldId id="268" r:id="rId12"/>
    <p:sldId id="269" r:id="rId13"/>
    <p:sldId id="270"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8" r:id="rId30"/>
    <p:sldId id="287" r:id="rId31"/>
    <p:sldId id="289" r:id="rId32"/>
    <p:sldId id="290" r:id="rId33"/>
    <p:sldId id="291" r:id="rId34"/>
    <p:sldId id="293" r:id="rId35"/>
    <p:sldId id="294" r:id="rId36"/>
    <p:sldId id="295" r:id="rId37"/>
    <p:sldId id="292" r:id="rId38"/>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70748"/>
  </p:normalViewPr>
  <p:slideViewPr>
    <p:cSldViewPr snapToGrid="0" snapToObjects="1">
      <p:cViewPr varScale="1">
        <p:scale>
          <a:sx n="88" d="100"/>
          <a:sy n="88" d="100"/>
        </p:scale>
        <p:origin x="352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What we thought we would do the very first week of the class, is consider exactly what it means to solve problems. And let me propose that this is programming.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This is problem solving. You have some input, which is the problem you care about that you want to solve, and you care about the solution to that problem, which is the so-called output.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in between that input and output is this black box of sorts, inside of which is the magic that happens, the magic that you'll eventually be able to harness and compel computers to solve problems for you. Inside of that black box, ultimately, is going to be the code that you write. </a:t>
            </a: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p:txBody>
      </p:sp>
    </p:spTree>
    <p:extLst>
      <p:ext uri="{BB962C8B-B14F-4D97-AF65-F5344CB8AC3E}">
        <p14:creationId xmlns:p14="http://schemas.microsoft.com/office/powerpoint/2010/main" val="1681148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But for us to begin doing that, we all kind of need to agree on how we're going to represent these inputs and outputs. We all kind of have to speak a common language, so to speak. And so we need to agree how these inputs are going to be represented. So how might we typically represent information? </a:t>
            </a: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p:txBody>
      </p:sp>
    </p:spTree>
    <p:extLst>
      <p:ext uri="{BB962C8B-B14F-4D97-AF65-F5344CB8AC3E}">
        <p14:creationId xmlns:p14="http://schemas.microsoft.com/office/powerpoint/2010/main" val="3654162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11747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03527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14747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591107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991939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0270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689092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501726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48427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77461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832174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186145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757017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79235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886243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037955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884171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425090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230299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814814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7045291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8597262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272977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3749756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7383347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7279695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4195019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468443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2925577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4167691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144544"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a:t>
            </a:r>
            <a:r>
              <a:rPr lang="en-AU" sz="1000" dirty="0"/>
              <a:t>2001</a:t>
            </a:r>
            <a:r>
              <a:rPr sz="1000" dirty="0"/>
              <a:t> </a:t>
            </a:r>
            <a:r>
              <a:rPr lang="en-AU" sz="1000" dirty="0"/>
              <a:t>–</a:t>
            </a:r>
            <a:r>
              <a:rPr sz="1000" dirty="0"/>
              <a:t> </a:t>
            </a:r>
            <a:r>
              <a:rPr lang="en-AU" sz="1000" dirty="0"/>
              <a:t>Inputs</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dirty="0"/>
              <a:t>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lstStyle>
            <a:lvl1pPr defTabSz="768094">
              <a:defRPr sz="3600"/>
            </a:lvl1pPr>
          </a:lstStyle>
          <a:p>
            <a:r>
              <a:rPr lang="en-AU" dirty="0"/>
              <a:t>Data</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F41C2DF-8BEC-DF45-B469-F764832E5932}"/>
              </a:ext>
            </a:extLst>
          </p:cNvPr>
          <p:cNvGrpSpPr/>
          <p:nvPr/>
        </p:nvGrpSpPr>
        <p:grpSpPr>
          <a:xfrm>
            <a:off x="302785" y="1985686"/>
            <a:ext cx="8340967" cy="2886628"/>
            <a:chOff x="470191" y="1852647"/>
            <a:chExt cx="8340967" cy="2886628"/>
          </a:xfrm>
        </p:grpSpPr>
        <p:sp>
          <p:nvSpPr>
            <p:cNvPr id="6" name="TextBox 5">
              <a:extLst>
                <a:ext uri="{FF2B5EF4-FFF2-40B4-BE49-F238E27FC236}">
                  <a16:creationId xmlns:a16="http://schemas.microsoft.com/office/drawing/2014/main" id="{AF9D8992-6E0B-8441-8410-D9B95F644C4E}"/>
                </a:ext>
              </a:extLst>
            </p:cNvPr>
            <p:cNvSpPr txBox="1"/>
            <p:nvPr/>
          </p:nvSpPr>
          <p:spPr>
            <a:xfrm>
              <a:off x="470191" y="2972796"/>
              <a:ext cx="1092603"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3600" b="0" i="0" u="none" strike="noStrike" cap="none" spc="0" normalizeH="0" baseline="0" dirty="0">
                  <a:ln>
                    <a:noFill/>
                  </a:ln>
                  <a:solidFill>
                    <a:srgbClr val="333333"/>
                  </a:solidFill>
                  <a:effectLst/>
                  <a:uFillTx/>
                  <a:latin typeface="+mn-lt"/>
                  <a:ea typeface="+mn-ea"/>
                  <a:cs typeface="+mn-cs"/>
                  <a:sym typeface="Helvetica"/>
                </a:rPr>
                <a:t>input</a:t>
              </a:r>
            </a:p>
          </p:txBody>
        </p:sp>
        <p:sp>
          <p:nvSpPr>
            <p:cNvPr id="7" name="TextBox 6">
              <a:extLst>
                <a:ext uri="{FF2B5EF4-FFF2-40B4-BE49-F238E27FC236}">
                  <a16:creationId xmlns:a16="http://schemas.microsoft.com/office/drawing/2014/main" id="{A7BB4654-21AA-9840-AF90-DB8AE0C160B4}"/>
                </a:ext>
              </a:extLst>
            </p:cNvPr>
            <p:cNvSpPr txBox="1"/>
            <p:nvPr/>
          </p:nvSpPr>
          <p:spPr>
            <a:xfrm>
              <a:off x="7436427" y="2972797"/>
              <a:ext cx="1374731"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600" dirty="0"/>
                <a:t>output</a:t>
              </a:r>
              <a:endParaRPr kumimoji="0" lang="en-AU" sz="3600" b="0" i="0" u="none" strike="noStrike" cap="none" spc="0" normalizeH="0" baseline="0" dirty="0">
                <a:ln>
                  <a:noFill/>
                </a:ln>
                <a:solidFill>
                  <a:srgbClr val="333333"/>
                </a:solidFill>
                <a:effectLst/>
                <a:uFillTx/>
                <a:latin typeface="+mn-lt"/>
                <a:ea typeface="+mn-ea"/>
                <a:cs typeface="+mn-cs"/>
                <a:sym typeface="Helvetica"/>
              </a:endParaRPr>
            </a:p>
          </p:txBody>
        </p:sp>
        <p:cxnSp>
          <p:nvCxnSpPr>
            <p:cNvPr id="9" name="Straight Arrow Connector 8">
              <a:extLst>
                <a:ext uri="{FF2B5EF4-FFF2-40B4-BE49-F238E27FC236}">
                  <a16:creationId xmlns:a16="http://schemas.microsoft.com/office/drawing/2014/main" id="{5BFAEA43-727E-644C-91BA-F3F9418C167D}"/>
                </a:ext>
              </a:extLst>
            </p:cNvPr>
            <p:cNvCxnSpPr/>
            <p:nvPr/>
          </p:nvCxnSpPr>
          <p:spPr>
            <a:xfrm>
              <a:off x="1643237"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0" name="Straight Arrow Connector 9">
              <a:extLst>
                <a:ext uri="{FF2B5EF4-FFF2-40B4-BE49-F238E27FC236}">
                  <a16:creationId xmlns:a16="http://schemas.microsoft.com/office/drawing/2014/main" id="{8155FAEE-524A-CE42-BF52-8988A924287B}"/>
                </a:ext>
              </a:extLst>
            </p:cNvPr>
            <p:cNvCxnSpPr/>
            <p:nvPr/>
          </p:nvCxnSpPr>
          <p:spPr>
            <a:xfrm>
              <a:off x="6220691"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1" name="Rectangle 10">
              <a:extLst>
                <a:ext uri="{FF2B5EF4-FFF2-40B4-BE49-F238E27FC236}">
                  <a16:creationId xmlns:a16="http://schemas.microsoft.com/office/drawing/2014/main" id="{0B14C5E8-B907-E142-8B7E-7D5F4BD443FF}"/>
                </a:ext>
              </a:extLst>
            </p:cNvPr>
            <p:cNvSpPr/>
            <p:nvPr/>
          </p:nvSpPr>
          <p:spPr>
            <a:xfrm>
              <a:off x="3019858" y="1852647"/>
              <a:ext cx="3104283" cy="2886628"/>
            </a:xfrm>
            <a:prstGeom prst="rect">
              <a:avLst/>
            </a:prstGeom>
            <a:solidFill>
              <a:srgbClr val="FFFFFF"/>
            </a:solidFill>
            <a:ln w="79375"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spTree>
    <p:extLst>
      <p:ext uri="{BB962C8B-B14F-4D97-AF65-F5344CB8AC3E}">
        <p14:creationId xmlns:p14="http://schemas.microsoft.com/office/powerpoint/2010/main" val="177380392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F41C2DF-8BEC-DF45-B469-F764832E5932}"/>
              </a:ext>
            </a:extLst>
          </p:cNvPr>
          <p:cNvGrpSpPr/>
          <p:nvPr/>
        </p:nvGrpSpPr>
        <p:grpSpPr>
          <a:xfrm>
            <a:off x="302785" y="1985686"/>
            <a:ext cx="8340967" cy="2886628"/>
            <a:chOff x="470191" y="1852647"/>
            <a:chExt cx="8340967" cy="2886628"/>
          </a:xfrm>
        </p:grpSpPr>
        <p:sp>
          <p:nvSpPr>
            <p:cNvPr id="6" name="TextBox 5">
              <a:extLst>
                <a:ext uri="{FF2B5EF4-FFF2-40B4-BE49-F238E27FC236}">
                  <a16:creationId xmlns:a16="http://schemas.microsoft.com/office/drawing/2014/main" id="{AF9D8992-6E0B-8441-8410-D9B95F644C4E}"/>
                </a:ext>
              </a:extLst>
            </p:cNvPr>
            <p:cNvSpPr txBox="1"/>
            <p:nvPr/>
          </p:nvSpPr>
          <p:spPr>
            <a:xfrm>
              <a:off x="470191" y="2972796"/>
              <a:ext cx="1092603"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3600" b="0" i="0" u="none" strike="noStrike" cap="none" spc="0" normalizeH="0" baseline="0" dirty="0">
                  <a:ln>
                    <a:noFill/>
                  </a:ln>
                  <a:solidFill>
                    <a:srgbClr val="333333"/>
                  </a:solidFill>
                  <a:effectLst/>
                  <a:uFillTx/>
                  <a:latin typeface="+mn-lt"/>
                  <a:ea typeface="+mn-ea"/>
                  <a:cs typeface="+mn-cs"/>
                  <a:sym typeface="Helvetica"/>
                </a:rPr>
                <a:t>input</a:t>
              </a:r>
            </a:p>
          </p:txBody>
        </p:sp>
        <p:sp>
          <p:nvSpPr>
            <p:cNvPr id="7" name="TextBox 6">
              <a:extLst>
                <a:ext uri="{FF2B5EF4-FFF2-40B4-BE49-F238E27FC236}">
                  <a16:creationId xmlns:a16="http://schemas.microsoft.com/office/drawing/2014/main" id="{A7BB4654-21AA-9840-AF90-DB8AE0C160B4}"/>
                </a:ext>
              </a:extLst>
            </p:cNvPr>
            <p:cNvSpPr txBox="1"/>
            <p:nvPr/>
          </p:nvSpPr>
          <p:spPr>
            <a:xfrm>
              <a:off x="7436427" y="2972797"/>
              <a:ext cx="1374731"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600" dirty="0"/>
                <a:t>output</a:t>
              </a:r>
              <a:endParaRPr kumimoji="0" lang="en-AU" sz="3600" b="0" i="0" u="none" strike="noStrike" cap="none" spc="0" normalizeH="0" baseline="0" dirty="0">
                <a:ln>
                  <a:noFill/>
                </a:ln>
                <a:solidFill>
                  <a:srgbClr val="333333"/>
                </a:solidFill>
                <a:effectLst/>
                <a:uFillTx/>
                <a:latin typeface="+mn-lt"/>
                <a:ea typeface="+mn-ea"/>
                <a:cs typeface="+mn-cs"/>
                <a:sym typeface="Helvetica"/>
              </a:endParaRPr>
            </a:p>
          </p:txBody>
        </p:sp>
        <p:cxnSp>
          <p:nvCxnSpPr>
            <p:cNvPr id="9" name="Straight Arrow Connector 8">
              <a:extLst>
                <a:ext uri="{FF2B5EF4-FFF2-40B4-BE49-F238E27FC236}">
                  <a16:creationId xmlns:a16="http://schemas.microsoft.com/office/drawing/2014/main" id="{5BFAEA43-727E-644C-91BA-F3F9418C167D}"/>
                </a:ext>
              </a:extLst>
            </p:cNvPr>
            <p:cNvCxnSpPr/>
            <p:nvPr/>
          </p:nvCxnSpPr>
          <p:spPr>
            <a:xfrm>
              <a:off x="1643237"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0" name="Straight Arrow Connector 9">
              <a:extLst>
                <a:ext uri="{FF2B5EF4-FFF2-40B4-BE49-F238E27FC236}">
                  <a16:creationId xmlns:a16="http://schemas.microsoft.com/office/drawing/2014/main" id="{8155FAEE-524A-CE42-BF52-8988A924287B}"/>
                </a:ext>
              </a:extLst>
            </p:cNvPr>
            <p:cNvCxnSpPr/>
            <p:nvPr/>
          </p:nvCxnSpPr>
          <p:spPr>
            <a:xfrm>
              <a:off x="6220691"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1" name="Rectangle 10">
              <a:extLst>
                <a:ext uri="{FF2B5EF4-FFF2-40B4-BE49-F238E27FC236}">
                  <a16:creationId xmlns:a16="http://schemas.microsoft.com/office/drawing/2014/main" id="{0B14C5E8-B907-E142-8B7E-7D5F4BD443FF}"/>
                </a:ext>
              </a:extLst>
            </p:cNvPr>
            <p:cNvSpPr/>
            <p:nvPr/>
          </p:nvSpPr>
          <p:spPr>
            <a:xfrm>
              <a:off x="3019858" y="1852647"/>
              <a:ext cx="3104283" cy="2886628"/>
            </a:xfrm>
            <a:prstGeom prst="rect">
              <a:avLst/>
            </a:prstGeom>
            <a:solidFill>
              <a:srgbClr val="FFFFFF"/>
            </a:solidFill>
            <a:ln w="79375"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sp>
        <p:nvSpPr>
          <p:cNvPr id="22" name="Freeform 21">
            <a:extLst>
              <a:ext uri="{FF2B5EF4-FFF2-40B4-BE49-F238E27FC236}">
                <a16:creationId xmlns:a16="http://schemas.microsoft.com/office/drawing/2014/main" id="{5FD0865D-6D0C-E248-9187-CC7AB8634E7A}"/>
              </a:ext>
            </a:extLst>
          </p:cNvPr>
          <p:cNvSpPr/>
          <p:nvPr/>
        </p:nvSpPr>
        <p:spPr>
          <a:xfrm>
            <a:off x="0" y="0"/>
            <a:ext cx="9144000" cy="6858000"/>
          </a:xfrm>
          <a:custGeom>
            <a:avLst/>
            <a:gdLst>
              <a:gd name="connsiteX0" fmla="*/ 1426227 w 9144000"/>
              <a:gd name="connsiteY0" fmla="*/ 2268107 h 6858000"/>
              <a:gd name="connsiteX1" fmla="*/ 62578 w 9144000"/>
              <a:gd name="connsiteY1" fmla="*/ 3428998 h 6858000"/>
              <a:gd name="connsiteX2" fmla="*/ 1426227 w 9144000"/>
              <a:gd name="connsiteY2" fmla="*/ 4589889 h 6858000"/>
              <a:gd name="connsiteX3" fmla="*/ 2789876 w 9144000"/>
              <a:gd name="connsiteY3" fmla="*/ 3428998 h 6858000"/>
              <a:gd name="connsiteX4" fmla="*/ 1426227 w 9144000"/>
              <a:gd name="connsiteY4" fmla="*/ 2268107 h 6858000"/>
              <a:gd name="connsiteX5" fmla="*/ 0 w 9144000"/>
              <a:gd name="connsiteY5" fmla="*/ 0 h 6858000"/>
              <a:gd name="connsiteX6" fmla="*/ 9144000 w 9144000"/>
              <a:gd name="connsiteY6" fmla="*/ 0 h 6858000"/>
              <a:gd name="connsiteX7" fmla="*/ 9144000 w 9144000"/>
              <a:gd name="connsiteY7" fmla="*/ 6858000 h 6858000"/>
              <a:gd name="connsiteX8" fmla="*/ 0 w 9144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6858000">
                <a:moveTo>
                  <a:pt x="1426227" y="2268107"/>
                </a:moveTo>
                <a:cubicBezTo>
                  <a:pt x="673104" y="2268107"/>
                  <a:pt x="62578" y="2787856"/>
                  <a:pt x="62578" y="3428998"/>
                </a:cubicBezTo>
                <a:cubicBezTo>
                  <a:pt x="62578" y="4070140"/>
                  <a:pt x="673104" y="4589889"/>
                  <a:pt x="1426227" y="4589889"/>
                </a:cubicBezTo>
                <a:cubicBezTo>
                  <a:pt x="2179350" y="4589889"/>
                  <a:pt x="2789876" y="4070140"/>
                  <a:pt x="2789876" y="3428998"/>
                </a:cubicBezTo>
                <a:cubicBezTo>
                  <a:pt x="2789876" y="2787856"/>
                  <a:pt x="2179350" y="2268107"/>
                  <a:pt x="1426227" y="2268107"/>
                </a:cubicBezTo>
                <a:close/>
                <a:moveTo>
                  <a:pt x="0" y="0"/>
                </a:moveTo>
                <a:lnTo>
                  <a:pt x="9144000" y="0"/>
                </a:lnTo>
                <a:lnTo>
                  <a:pt x="9144000" y="6858000"/>
                </a:lnTo>
                <a:lnTo>
                  <a:pt x="0" y="6858000"/>
                </a:lnTo>
                <a:close/>
              </a:path>
            </a:pathLst>
          </a:custGeom>
          <a:solidFill>
            <a:schemeClr val="tx1">
              <a:alpha val="70000"/>
            </a:schemeClr>
          </a:solidFill>
          <a:ln w="25400" cap="flat">
            <a:no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40418970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101132" y="2940988"/>
            <a:ext cx="4941736" cy="976023"/>
          </a:xfrm>
        </p:spPr>
        <p:txBody>
          <a:bodyPr>
            <a:normAutofit/>
          </a:bodyPr>
          <a:lstStyle/>
          <a:p>
            <a:pPr marL="0" indent="0">
              <a:buNone/>
            </a:pPr>
            <a:r>
              <a:rPr lang="en-AU" sz="4800" dirty="0"/>
              <a:t>0 1 2 3 4 5 6 7 8 9</a:t>
            </a:r>
          </a:p>
        </p:txBody>
      </p:sp>
      <p:sp>
        <p:nvSpPr>
          <p:cNvPr id="4" name="Title 1">
            <a:extLst>
              <a:ext uri="{FF2B5EF4-FFF2-40B4-BE49-F238E27FC236}">
                <a16:creationId xmlns:a16="http://schemas.microsoft.com/office/drawing/2014/main" id="{EDE58039-17D8-EF45-AC9E-372A30B69D0D}"/>
              </a:ext>
            </a:extLst>
          </p:cNvPr>
          <p:cNvSpPr>
            <a:spLocks noGrp="1"/>
          </p:cNvSpPr>
          <p:nvPr>
            <p:ph type="title"/>
          </p:nvPr>
        </p:nvSpPr>
        <p:spPr>
          <a:xfrm>
            <a:off x="468312" y="560387"/>
            <a:ext cx="8207376" cy="996951"/>
          </a:xfrm>
        </p:spPr>
        <p:txBody>
          <a:bodyPr/>
          <a:lstStyle/>
          <a:p>
            <a:r>
              <a:rPr lang="en-AU" dirty="0"/>
              <a:t>Decimal (base-10) Digits</a:t>
            </a:r>
          </a:p>
        </p:txBody>
      </p:sp>
    </p:spTree>
    <p:extLst>
      <p:ext uri="{BB962C8B-B14F-4D97-AF65-F5344CB8AC3E}">
        <p14:creationId xmlns:p14="http://schemas.microsoft.com/office/powerpoint/2010/main" val="366510710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101132" y="2940988"/>
            <a:ext cx="4941736" cy="976023"/>
          </a:xfrm>
        </p:spPr>
        <p:txBody>
          <a:bodyPr>
            <a:normAutofit/>
          </a:bodyPr>
          <a:lstStyle/>
          <a:p>
            <a:pPr marL="0" indent="0">
              <a:buNone/>
            </a:pPr>
            <a:r>
              <a:rPr lang="en-AU" sz="4800" dirty="0"/>
              <a:t>0 1</a:t>
            </a:r>
          </a:p>
        </p:txBody>
      </p:sp>
      <p:sp>
        <p:nvSpPr>
          <p:cNvPr id="4" name="Title 1">
            <a:extLst>
              <a:ext uri="{FF2B5EF4-FFF2-40B4-BE49-F238E27FC236}">
                <a16:creationId xmlns:a16="http://schemas.microsoft.com/office/drawing/2014/main" id="{EDE58039-17D8-EF45-AC9E-372A30B69D0D}"/>
              </a:ext>
            </a:extLst>
          </p:cNvPr>
          <p:cNvSpPr>
            <a:spLocks noGrp="1"/>
          </p:cNvSpPr>
          <p:nvPr>
            <p:ph type="title"/>
          </p:nvPr>
        </p:nvSpPr>
        <p:spPr>
          <a:xfrm>
            <a:off x="468312" y="560387"/>
            <a:ext cx="8207376" cy="996951"/>
          </a:xfrm>
        </p:spPr>
        <p:txBody>
          <a:bodyPr/>
          <a:lstStyle/>
          <a:p>
            <a:r>
              <a:rPr lang="en-AU" dirty="0"/>
              <a:t>Binary (base-2) Digits</a:t>
            </a:r>
          </a:p>
        </p:txBody>
      </p:sp>
    </p:spTree>
    <p:extLst>
      <p:ext uri="{BB962C8B-B14F-4D97-AF65-F5344CB8AC3E}">
        <p14:creationId xmlns:p14="http://schemas.microsoft.com/office/powerpoint/2010/main" val="217477211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Tree>
    <p:extLst>
      <p:ext uri="{BB962C8B-B14F-4D97-AF65-F5344CB8AC3E}">
        <p14:creationId xmlns:p14="http://schemas.microsoft.com/office/powerpoint/2010/main" val="313553330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Tree>
    <p:extLst>
      <p:ext uri="{BB962C8B-B14F-4D97-AF65-F5344CB8AC3E}">
        <p14:creationId xmlns:p14="http://schemas.microsoft.com/office/powerpoint/2010/main" val="308864972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848946"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x 1</a:t>
            </a:r>
          </a:p>
        </p:txBody>
      </p:sp>
    </p:spTree>
    <p:extLst>
      <p:ext uri="{BB962C8B-B14F-4D97-AF65-F5344CB8AC3E}">
        <p14:creationId xmlns:p14="http://schemas.microsoft.com/office/powerpoint/2010/main" val="29640897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2060817"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x 1   +    10 x 2</a:t>
            </a:r>
          </a:p>
        </p:txBody>
      </p:sp>
    </p:spTree>
    <p:extLst>
      <p:ext uri="{BB962C8B-B14F-4D97-AF65-F5344CB8AC3E}">
        <p14:creationId xmlns:p14="http://schemas.microsoft.com/office/powerpoint/2010/main" val="129783485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3016206"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x 1   +    10 x 2  +   3 x 1</a:t>
            </a:r>
          </a:p>
        </p:txBody>
      </p:sp>
    </p:spTree>
    <p:extLst>
      <p:ext uri="{BB962C8B-B14F-4D97-AF65-F5344CB8AC3E}">
        <p14:creationId xmlns:p14="http://schemas.microsoft.com/office/powerpoint/2010/main" val="69519346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2862318"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     100   +      20     +       3 </a:t>
            </a:r>
          </a:p>
        </p:txBody>
      </p:sp>
    </p:spTree>
    <p:extLst>
      <p:ext uri="{BB962C8B-B14F-4D97-AF65-F5344CB8AC3E}">
        <p14:creationId xmlns:p14="http://schemas.microsoft.com/office/powerpoint/2010/main" val="397237804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Tree>
    <p:extLst>
      <p:ext uri="{BB962C8B-B14F-4D97-AF65-F5344CB8AC3E}">
        <p14:creationId xmlns:p14="http://schemas.microsoft.com/office/powerpoint/2010/main" val="324540392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Tree>
    <p:extLst>
      <p:ext uri="{BB962C8B-B14F-4D97-AF65-F5344CB8AC3E}">
        <p14:creationId xmlns:p14="http://schemas.microsoft.com/office/powerpoint/2010/main" val="80855161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63469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a:t>
            </a:r>
            <a:r>
              <a:rPr kumimoji="0" lang="en-AU" sz="1800" b="0" i="0" u="none" strike="noStrike" cap="none" spc="0" normalizeH="0" baseline="30000" dirty="0">
                <a:ln>
                  <a:noFill/>
                </a:ln>
                <a:solidFill>
                  <a:srgbClr val="333333"/>
                </a:solidFill>
                <a:effectLst/>
                <a:uFillTx/>
                <a:latin typeface="+mn-lt"/>
                <a:ea typeface="+mn-ea"/>
                <a:cs typeface="+mn-cs"/>
                <a:sym typeface="Helvetica"/>
              </a:rPr>
              <a:t>2</a:t>
            </a:r>
            <a:r>
              <a:rPr kumimoji="0" lang="en-AU" sz="1800" b="0" i="0" u="none" strike="noStrike" cap="none" spc="0" normalizeH="0" baseline="0" dirty="0">
                <a:ln>
                  <a:noFill/>
                </a:ln>
                <a:solidFill>
                  <a:srgbClr val="333333"/>
                </a:solidFill>
                <a:effectLst/>
                <a:uFillTx/>
                <a:latin typeface="+mn-lt"/>
                <a:ea typeface="+mn-ea"/>
                <a:cs typeface="+mn-cs"/>
                <a:sym typeface="Helvetica"/>
              </a:rPr>
              <a:t>          10</a:t>
            </a:r>
            <a:r>
              <a:rPr kumimoji="0" lang="en-AU" sz="1800" b="0" i="0" u="none" strike="noStrike" cap="none" spc="0" normalizeH="0" baseline="30000" dirty="0">
                <a:ln>
                  <a:noFill/>
                </a:ln>
                <a:solidFill>
                  <a:srgbClr val="333333"/>
                </a:solidFill>
                <a:effectLst/>
                <a:uFillTx/>
                <a:latin typeface="+mn-lt"/>
                <a:ea typeface="+mn-ea"/>
                <a:cs typeface="+mn-cs"/>
                <a:sym typeface="Helvetica"/>
              </a:rPr>
              <a:t>1</a:t>
            </a:r>
            <a:r>
              <a:rPr kumimoji="0" lang="en-AU" sz="1800" b="0" i="0" u="none" strike="noStrike" cap="none" spc="0" normalizeH="0" baseline="0" dirty="0">
                <a:ln>
                  <a:noFill/>
                </a:ln>
                <a:solidFill>
                  <a:srgbClr val="333333"/>
                </a:solidFill>
                <a:effectLst/>
                <a:uFillTx/>
                <a:latin typeface="+mn-lt"/>
                <a:ea typeface="+mn-ea"/>
                <a:cs typeface="+mn-cs"/>
                <a:sym typeface="Helvetica"/>
              </a:rPr>
              <a:t>             10</a:t>
            </a:r>
            <a:r>
              <a:rPr kumimoji="0" lang="en-AU" sz="1800" b="0" i="0" u="none" strike="noStrike" cap="none" spc="0" normalizeH="0" baseline="30000" dirty="0">
                <a:ln>
                  <a:noFill/>
                </a:ln>
                <a:solidFill>
                  <a:srgbClr val="333333"/>
                </a:solidFill>
                <a:effectLst/>
                <a:uFillTx/>
                <a:latin typeface="+mn-lt"/>
                <a:ea typeface="+mn-ea"/>
                <a:cs typeface="+mn-cs"/>
                <a:sym typeface="Helvetica"/>
              </a:rPr>
              <a:t>0</a:t>
            </a:r>
          </a:p>
        </p:txBody>
      </p:sp>
    </p:spTree>
    <p:extLst>
      <p:ext uri="{BB962C8B-B14F-4D97-AF65-F5344CB8AC3E}">
        <p14:creationId xmlns:p14="http://schemas.microsoft.com/office/powerpoint/2010/main" val="114897228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63171"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2</a:t>
            </a:r>
            <a:r>
              <a:rPr kumimoji="0" lang="en-AU" sz="1800" b="0" i="0" u="none" strike="noStrike" cap="none" spc="0" normalizeH="0" baseline="30000" dirty="0">
                <a:ln>
                  <a:noFill/>
                </a:ln>
                <a:solidFill>
                  <a:srgbClr val="333333"/>
                </a:solidFill>
                <a:effectLst/>
                <a:uFillTx/>
                <a:latin typeface="+mn-lt"/>
                <a:ea typeface="+mn-ea"/>
                <a:cs typeface="+mn-cs"/>
                <a:sym typeface="Helvetica"/>
              </a:rPr>
              <a:t>2</a:t>
            </a:r>
            <a:r>
              <a:rPr kumimoji="0" lang="en-AU" sz="1800" b="0" i="0" u="none" strike="noStrike" cap="none" spc="0" normalizeH="0" baseline="0" dirty="0">
                <a:ln>
                  <a:noFill/>
                </a:ln>
                <a:solidFill>
                  <a:srgbClr val="333333"/>
                </a:solidFill>
                <a:effectLst/>
                <a:uFillTx/>
                <a:latin typeface="+mn-lt"/>
                <a:ea typeface="+mn-ea"/>
                <a:cs typeface="+mn-cs"/>
                <a:sym typeface="Helvetica"/>
              </a:rPr>
              <a:t>            2</a:t>
            </a:r>
            <a:r>
              <a:rPr kumimoji="0" lang="en-AU" sz="1800" b="0" i="0" u="none" strike="noStrike" cap="none" spc="0" normalizeH="0" baseline="30000" dirty="0">
                <a:ln>
                  <a:noFill/>
                </a:ln>
                <a:solidFill>
                  <a:srgbClr val="333333"/>
                </a:solidFill>
                <a:effectLst/>
                <a:uFillTx/>
                <a:latin typeface="+mn-lt"/>
                <a:ea typeface="+mn-ea"/>
                <a:cs typeface="+mn-cs"/>
                <a:sym typeface="Helvetica"/>
              </a:rPr>
              <a:t>1</a:t>
            </a:r>
            <a:r>
              <a:rPr kumimoji="0" lang="en-AU" sz="1800" b="0" i="0" u="none" strike="noStrike" cap="none" spc="0" normalizeH="0" baseline="0" dirty="0">
                <a:ln>
                  <a:noFill/>
                </a:ln>
                <a:solidFill>
                  <a:srgbClr val="333333"/>
                </a:solidFill>
                <a:effectLst/>
                <a:uFillTx/>
                <a:latin typeface="+mn-lt"/>
                <a:ea typeface="+mn-ea"/>
                <a:cs typeface="+mn-cs"/>
                <a:sym typeface="Helvetica"/>
              </a:rPr>
              <a:t>             2</a:t>
            </a:r>
            <a:r>
              <a:rPr kumimoji="0" lang="en-AU" sz="1800" b="0" i="0" u="none" strike="noStrike" cap="none" spc="0" normalizeH="0" baseline="30000" dirty="0">
                <a:ln>
                  <a:noFill/>
                </a:ln>
                <a:solidFill>
                  <a:srgbClr val="333333"/>
                </a:solidFill>
                <a:effectLst/>
                <a:uFillTx/>
                <a:latin typeface="+mn-lt"/>
                <a:ea typeface="+mn-ea"/>
                <a:cs typeface="+mn-cs"/>
                <a:sym typeface="Helvetica"/>
              </a:rPr>
              <a:t>0</a:t>
            </a:r>
          </a:p>
        </p:txBody>
      </p:sp>
    </p:spTree>
    <p:extLst>
      <p:ext uri="{BB962C8B-B14F-4D97-AF65-F5344CB8AC3E}">
        <p14:creationId xmlns:p14="http://schemas.microsoft.com/office/powerpoint/2010/main" val="307155805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191731753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0 0 0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91088841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0 0 0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0   +  1 x 0</a:t>
            </a:r>
          </a:p>
        </p:txBody>
      </p:sp>
    </p:spTree>
    <p:extLst>
      <p:ext uri="{BB962C8B-B14F-4D97-AF65-F5344CB8AC3E}">
        <p14:creationId xmlns:p14="http://schemas.microsoft.com/office/powerpoint/2010/main" val="264455917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0 0 1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0   +  1 x 1</a:t>
            </a:r>
          </a:p>
        </p:txBody>
      </p:sp>
    </p:spTree>
    <p:extLst>
      <p:ext uri="{BB962C8B-B14F-4D97-AF65-F5344CB8AC3E}">
        <p14:creationId xmlns:p14="http://schemas.microsoft.com/office/powerpoint/2010/main" val="244237497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0 1 0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1   +  1 x 0</a:t>
            </a:r>
          </a:p>
        </p:txBody>
      </p:sp>
    </p:spTree>
    <p:extLst>
      <p:ext uri="{BB962C8B-B14F-4D97-AF65-F5344CB8AC3E}">
        <p14:creationId xmlns:p14="http://schemas.microsoft.com/office/powerpoint/2010/main" val="104593021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0 1 1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1   +  1 x 1</a:t>
            </a:r>
          </a:p>
        </p:txBody>
      </p:sp>
    </p:spTree>
    <p:extLst>
      <p:ext uri="{BB962C8B-B14F-4D97-AF65-F5344CB8AC3E}">
        <p14:creationId xmlns:p14="http://schemas.microsoft.com/office/powerpoint/2010/main" val="23962473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1 1 1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397940663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3765937" y="2739224"/>
            <a:ext cx="1450120" cy="1379552"/>
          </a:xfrm>
        </p:spPr>
        <p:txBody>
          <a:bodyPr>
            <a:noAutofit/>
          </a:bodyPr>
          <a:lstStyle/>
          <a:p>
            <a:pPr marL="0" indent="0">
              <a:buNone/>
            </a:pPr>
            <a:r>
              <a:rPr lang="en-AU" sz="9600" dirty="0"/>
              <a:t>65 </a:t>
            </a:r>
          </a:p>
        </p:txBody>
      </p:sp>
    </p:spTree>
    <p:extLst>
      <p:ext uri="{BB962C8B-B14F-4D97-AF65-F5344CB8AC3E}">
        <p14:creationId xmlns:p14="http://schemas.microsoft.com/office/powerpoint/2010/main" val="69209941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341906" y="2460928"/>
            <a:ext cx="8237551" cy="1936143"/>
          </a:xfrm>
        </p:spPr>
        <p:txBody>
          <a:bodyPr>
            <a:noAutofit/>
          </a:bodyPr>
          <a:lstStyle/>
          <a:p>
            <a:pPr marL="0" indent="0">
              <a:buNone/>
            </a:pPr>
            <a:r>
              <a:rPr lang="en-AU" sz="4400" dirty="0"/>
              <a:t>... A    B   C    D   E    F  G  H... </a:t>
            </a:r>
          </a:p>
          <a:p>
            <a:pPr marL="0" indent="0">
              <a:buNone/>
            </a:pPr>
            <a:r>
              <a:rPr lang="en-AU" sz="4400" dirty="0"/>
              <a:t>... 65  66  67  68  69  70 71 72... </a:t>
            </a:r>
          </a:p>
        </p:txBody>
      </p:sp>
    </p:spTree>
    <p:extLst>
      <p:ext uri="{BB962C8B-B14F-4D97-AF65-F5344CB8AC3E}">
        <p14:creationId xmlns:p14="http://schemas.microsoft.com/office/powerpoint/2010/main" val="25196282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4" name="Title 1">
            <a:extLst>
              <a:ext uri="{FF2B5EF4-FFF2-40B4-BE49-F238E27FC236}">
                <a16:creationId xmlns:a16="http://schemas.microsoft.com/office/drawing/2014/main" id="{77787D49-A0A4-4648-B49A-8C828E33E44D}"/>
              </a:ext>
            </a:extLst>
          </p:cNvPr>
          <p:cNvSpPr>
            <a:spLocks noGrp="1"/>
          </p:cNvSpPr>
          <p:nvPr>
            <p:ph type="title"/>
          </p:nvPr>
        </p:nvSpPr>
        <p:spPr>
          <a:xfrm>
            <a:off x="468312" y="560387"/>
            <a:ext cx="8207376" cy="996951"/>
          </a:xfrm>
        </p:spPr>
        <p:txBody>
          <a:bodyPr/>
          <a:lstStyle/>
          <a:p>
            <a:r>
              <a:rPr lang="en-AU" dirty="0"/>
              <a:t>Text</a:t>
            </a:r>
          </a:p>
        </p:txBody>
      </p:sp>
    </p:spTree>
    <p:extLst>
      <p:ext uri="{BB962C8B-B14F-4D97-AF65-F5344CB8AC3E}">
        <p14:creationId xmlns:p14="http://schemas.microsoft.com/office/powerpoint/2010/main" val="308584131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a:t>
            </a:r>
          </a:p>
        </p:txBody>
      </p:sp>
    </p:spTree>
    <p:extLst>
      <p:ext uri="{BB962C8B-B14F-4D97-AF65-F5344CB8AC3E}">
        <p14:creationId xmlns:p14="http://schemas.microsoft.com/office/powerpoint/2010/main" val="404445478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able&#10;&#10;Description automatically generated">
            <a:extLst>
              <a:ext uri="{FF2B5EF4-FFF2-40B4-BE49-F238E27FC236}">
                <a16:creationId xmlns:a16="http://schemas.microsoft.com/office/drawing/2014/main" id="{EAFE3C53-3D18-DA4B-A01A-210C47713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8063"/>
            <a:ext cx="9144000" cy="4769865"/>
          </a:xfrm>
          <a:prstGeom prst="rect">
            <a:avLst/>
          </a:prstGeom>
        </p:spPr>
      </p:pic>
      <p:sp>
        <p:nvSpPr>
          <p:cNvPr id="6" name="Rectangle 5">
            <a:extLst>
              <a:ext uri="{FF2B5EF4-FFF2-40B4-BE49-F238E27FC236}">
                <a16:creationId xmlns:a16="http://schemas.microsoft.com/office/drawing/2014/main" id="{99B09538-0881-254B-999F-C608EF614C11}"/>
              </a:ext>
            </a:extLst>
          </p:cNvPr>
          <p:cNvSpPr/>
          <p:nvPr/>
        </p:nvSpPr>
        <p:spPr>
          <a:xfrm>
            <a:off x="1296063" y="2234317"/>
            <a:ext cx="763325" cy="294198"/>
          </a:xfrm>
          <a:prstGeom prst="rect">
            <a:avLst/>
          </a:prstGeom>
          <a:solidFill>
            <a:srgbClr val="FFFF00">
              <a:alpha val="26000"/>
            </a:srgbClr>
          </a:solidFill>
          <a:ln w="25400" cap="flat">
            <a:no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228661352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     !</a:t>
            </a:r>
          </a:p>
        </p:txBody>
      </p:sp>
    </p:spTree>
    <p:extLst>
      <p:ext uri="{BB962C8B-B14F-4D97-AF65-F5344CB8AC3E}">
        <p14:creationId xmlns:p14="http://schemas.microsoft.com/office/powerpoint/2010/main" val="279044972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192696" y="2739224"/>
            <a:ext cx="6245750" cy="689776"/>
          </a:xfrm>
        </p:spPr>
        <p:txBody>
          <a:bodyPr>
            <a:noAutofit/>
          </a:bodyPr>
          <a:lstStyle/>
          <a:p>
            <a:pPr marL="0" indent="0">
              <a:buNone/>
            </a:pPr>
            <a:r>
              <a:rPr lang="en-AU" sz="3200" dirty="0"/>
              <a:t>  01001000   01001001  00100001</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     !</a:t>
            </a:r>
          </a:p>
        </p:txBody>
      </p:sp>
    </p:spTree>
    <p:extLst>
      <p:ext uri="{BB962C8B-B14F-4D97-AF65-F5344CB8AC3E}">
        <p14:creationId xmlns:p14="http://schemas.microsoft.com/office/powerpoint/2010/main" val="292512789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192696" y="2739224"/>
            <a:ext cx="6245750" cy="689776"/>
          </a:xfrm>
        </p:spPr>
        <p:txBody>
          <a:bodyPr>
            <a:noAutofit/>
          </a:bodyPr>
          <a:lstStyle/>
          <a:p>
            <a:pPr marL="0" indent="0">
              <a:buNone/>
            </a:pPr>
            <a:r>
              <a:rPr lang="en-AU" sz="3200" dirty="0"/>
              <a:t>  </a:t>
            </a:r>
            <a:r>
              <a:rPr lang="en-AU" sz="3200" dirty="0">
                <a:highlight>
                  <a:srgbClr val="FFFF00"/>
                </a:highlight>
              </a:rPr>
              <a:t>01001000</a:t>
            </a:r>
            <a:r>
              <a:rPr lang="en-AU" sz="3200" dirty="0"/>
              <a:t>   01001001  00100001</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     !</a:t>
            </a:r>
          </a:p>
        </p:txBody>
      </p:sp>
      <p:sp>
        <p:nvSpPr>
          <p:cNvPr id="4" name="TextBox 3">
            <a:extLst>
              <a:ext uri="{FF2B5EF4-FFF2-40B4-BE49-F238E27FC236}">
                <a16:creationId xmlns:a16="http://schemas.microsoft.com/office/drawing/2014/main" id="{B02815C7-86C6-7C42-B463-B2E3EC43A327}"/>
              </a:ext>
            </a:extLst>
          </p:cNvPr>
          <p:cNvSpPr txBox="1"/>
          <p:nvPr/>
        </p:nvSpPr>
        <p:spPr>
          <a:xfrm>
            <a:off x="985962" y="4285753"/>
            <a:ext cx="64376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bytes</a:t>
            </a:r>
          </a:p>
        </p:txBody>
      </p:sp>
      <p:cxnSp>
        <p:nvCxnSpPr>
          <p:cNvPr id="6" name="Straight Arrow Connector 5">
            <a:extLst>
              <a:ext uri="{FF2B5EF4-FFF2-40B4-BE49-F238E27FC236}">
                <a16:creationId xmlns:a16="http://schemas.microsoft.com/office/drawing/2014/main" id="{09EC2A47-53D6-6E40-A817-05C12F74CDF1}"/>
              </a:ext>
            </a:extLst>
          </p:cNvPr>
          <p:cNvCxnSpPr>
            <a:cxnSpLocks/>
            <a:stCxn id="4" idx="0"/>
            <a:endCxn id="8" idx="1"/>
          </p:cNvCxnSpPr>
          <p:nvPr/>
        </p:nvCxnSpPr>
        <p:spPr>
          <a:xfrm flipV="1">
            <a:off x="1307843" y="3554233"/>
            <a:ext cx="918522" cy="73152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Left Brace 7">
            <a:extLst>
              <a:ext uri="{FF2B5EF4-FFF2-40B4-BE49-F238E27FC236}">
                <a16:creationId xmlns:a16="http://schemas.microsoft.com/office/drawing/2014/main" id="{BC62D06C-1BA5-F149-8124-27A079226B28}"/>
              </a:ext>
            </a:extLst>
          </p:cNvPr>
          <p:cNvSpPr/>
          <p:nvPr/>
        </p:nvSpPr>
        <p:spPr>
          <a:xfrm rot="16200000">
            <a:off x="2027582" y="2321781"/>
            <a:ext cx="397566" cy="2067338"/>
          </a:xfrm>
          <a:prstGeom prst="leftBrace">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68859408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spTree>
    <p:extLst>
      <p:ext uri="{BB962C8B-B14F-4D97-AF65-F5344CB8AC3E}">
        <p14:creationId xmlns:p14="http://schemas.microsoft.com/office/powerpoint/2010/main" val="109008938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hape, square&#10;&#10;Description automatically generated">
            <a:extLst>
              <a:ext uri="{FF2B5EF4-FFF2-40B4-BE49-F238E27FC236}">
                <a16:creationId xmlns:a16="http://schemas.microsoft.com/office/drawing/2014/main" id="{F675003D-E668-F34D-870B-3FFA1A4B5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2139" y="2600105"/>
            <a:ext cx="5583669" cy="1657789"/>
          </a:xfrm>
          <a:prstGeom prst="rect">
            <a:avLst/>
          </a:prstGeom>
        </p:spPr>
      </p:pic>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spTree>
    <p:extLst>
      <p:ext uri="{BB962C8B-B14F-4D97-AF65-F5344CB8AC3E}">
        <p14:creationId xmlns:p14="http://schemas.microsoft.com/office/powerpoint/2010/main" val="3205778841"/>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pic>
        <p:nvPicPr>
          <p:cNvPr id="8" name="Picture 7" descr="Shape, square&#10;&#10;Description automatically generated">
            <a:extLst>
              <a:ext uri="{FF2B5EF4-FFF2-40B4-BE49-F238E27FC236}">
                <a16:creationId xmlns:a16="http://schemas.microsoft.com/office/drawing/2014/main" id="{DF9FAB4C-3516-1944-8EA2-9123D2591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6468" y="1557338"/>
            <a:ext cx="4351063" cy="3835534"/>
          </a:xfrm>
          <a:prstGeom prst="rect">
            <a:avLst/>
          </a:prstGeom>
        </p:spPr>
      </p:pic>
    </p:spTree>
    <p:extLst>
      <p:ext uri="{BB962C8B-B14F-4D97-AF65-F5344CB8AC3E}">
        <p14:creationId xmlns:p14="http://schemas.microsoft.com/office/powerpoint/2010/main" val="2044801303"/>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pic>
        <p:nvPicPr>
          <p:cNvPr id="9" name="Picture 8" descr="A picture containing text, clock, outdoor, red&#10;&#10;Description automatically generated">
            <a:extLst>
              <a:ext uri="{FF2B5EF4-FFF2-40B4-BE49-F238E27FC236}">
                <a16:creationId xmlns:a16="http://schemas.microsoft.com/office/drawing/2014/main" id="{D03BC82D-2847-5B47-870A-96186B64E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7015" y="1097279"/>
            <a:ext cx="6209969" cy="4663441"/>
          </a:xfrm>
          <a:prstGeom prst="rect">
            <a:avLst/>
          </a:prstGeom>
        </p:spPr>
      </p:pic>
    </p:spTree>
    <p:extLst>
      <p:ext uri="{BB962C8B-B14F-4D97-AF65-F5344CB8AC3E}">
        <p14:creationId xmlns:p14="http://schemas.microsoft.com/office/powerpoint/2010/main" val="365283424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40DC-6013-1042-82EB-79F1E7AFFB97}"/>
              </a:ext>
            </a:extLst>
          </p:cNvPr>
          <p:cNvSpPr>
            <a:spLocks noGrp="1"/>
          </p:cNvSpPr>
          <p:nvPr>
            <p:ph type="title"/>
          </p:nvPr>
        </p:nvSpPr>
        <p:spPr/>
        <p:txBody>
          <a:bodyPr/>
          <a:lstStyle/>
          <a:p>
            <a:r>
              <a:rPr lang="en-AU" dirty="0"/>
              <a:t>Data</a:t>
            </a:r>
          </a:p>
        </p:txBody>
      </p:sp>
      <p:sp>
        <p:nvSpPr>
          <p:cNvPr id="3" name="Text Placeholder 2">
            <a:extLst>
              <a:ext uri="{FF2B5EF4-FFF2-40B4-BE49-F238E27FC236}">
                <a16:creationId xmlns:a16="http://schemas.microsoft.com/office/drawing/2014/main" id="{C200864F-2B25-624D-8249-4B0470F0642B}"/>
              </a:ext>
            </a:extLst>
          </p:cNvPr>
          <p:cNvSpPr>
            <a:spLocks noGrp="1"/>
          </p:cNvSpPr>
          <p:nvPr>
            <p:ph type="body" idx="1"/>
          </p:nvPr>
        </p:nvSpPr>
        <p:spPr/>
        <p:txBody>
          <a:bodyPr/>
          <a:lstStyle/>
          <a:p>
            <a:r>
              <a:rPr lang="en-AU"/>
              <a:t>Binary (Digital)</a:t>
            </a:r>
            <a:endParaRPr lang="en-AU" dirty="0"/>
          </a:p>
          <a:p>
            <a:r>
              <a:rPr lang="en-AU" dirty="0"/>
              <a:t>Agree on formats</a:t>
            </a:r>
          </a:p>
          <a:p>
            <a:pPr lvl="1"/>
            <a:r>
              <a:rPr lang="en-AU" dirty="0"/>
              <a:t>Text</a:t>
            </a:r>
          </a:p>
          <a:p>
            <a:pPr lvl="1"/>
            <a:r>
              <a:rPr lang="en-AU" dirty="0"/>
              <a:t>Images</a:t>
            </a:r>
          </a:p>
          <a:p>
            <a:pPr lvl="1"/>
            <a:r>
              <a:rPr lang="en-AU" dirty="0"/>
              <a:t>Audio</a:t>
            </a:r>
          </a:p>
          <a:p>
            <a:pPr lvl="1"/>
            <a:r>
              <a:rPr lang="en-AU" dirty="0"/>
              <a:t>Video</a:t>
            </a:r>
          </a:p>
        </p:txBody>
      </p:sp>
    </p:spTree>
    <p:extLst>
      <p:ext uri="{BB962C8B-B14F-4D97-AF65-F5344CB8AC3E}">
        <p14:creationId xmlns:p14="http://schemas.microsoft.com/office/powerpoint/2010/main" val="1414674169"/>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229</TotalTime>
  <Words>3464</Words>
  <Application>Microsoft Macintosh PowerPoint</Application>
  <PresentationFormat>On-screen Show (4:3)</PresentationFormat>
  <Paragraphs>131</Paragraphs>
  <Slides>37</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Helvetica</vt:lpstr>
      <vt:lpstr>Wingdings</vt:lpstr>
      <vt:lpstr>curtin2010-PP2003</vt:lpstr>
      <vt:lpstr>Data</vt:lpstr>
      <vt:lpstr>PowerPoint Presentation</vt:lpstr>
      <vt:lpstr>PowerPoint Presentation</vt:lpstr>
      <vt:lpstr>PowerPoint Presentation</vt:lpstr>
      <vt:lpstr>PowerPoint Presentation</vt:lpstr>
      <vt:lpstr>Decimal (base-10) Digits</vt:lpstr>
      <vt:lpstr>Binary (base-2) Digits</vt:lpstr>
      <vt:lpstr>Decimal (base-10)</vt:lpstr>
      <vt:lpstr>Decimal (base-10)</vt:lpstr>
      <vt:lpstr>Decimal (base-10)</vt:lpstr>
      <vt:lpstr>Decimal (base-10)</vt:lpstr>
      <vt:lpstr>Decimal (base-10)</vt:lpstr>
      <vt:lpstr>Decimal (base-10)</vt:lpstr>
      <vt:lpstr>Decimal (base-10)</vt:lpstr>
      <vt:lpstr>Decimal (base-10)</vt:lpstr>
      <vt:lpstr>Decimal (base-10)</vt:lpstr>
      <vt:lpstr>Binary (base-2)</vt:lpstr>
      <vt:lpstr>Binary (base-2)</vt:lpstr>
      <vt:lpstr>Binary (base-2)</vt:lpstr>
      <vt:lpstr>Binary (base-2)</vt:lpstr>
      <vt:lpstr>Binary (base-2)</vt:lpstr>
      <vt:lpstr>Binary (base-2)</vt:lpstr>
      <vt:lpstr>Binary (base-2)</vt:lpstr>
      <vt:lpstr>Binary (base-2)</vt:lpstr>
      <vt:lpstr>PowerPoint Presentation</vt:lpstr>
      <vt:lpstr>PowerPoint Presentation</vt:lpstr>
      <vt:lpstr>Text</vt:lpstr>
      <vt:lpstr>PowerPoint Presentation</vt:lpstr>
      <vt:lpstr>PowerPoint Presentation</vt:lpstr>
      <vt:lpstr>PowerPoint Presentation</vt:lpstr>
      <vt:lpstr>PowerPoint Presentation</vt:lpstr>
      <vt:lpstr>PowerPoint Presentation</vt:lpstr>
      <vt:lpstr>Images</vt:lpstr>
      <vt:lpstr>Images</vt:lpstr>
      <vt:lpstr>Images</vt:lpstr>
      <vt:lpstr>Images</vt:lpstr>
      <vt:lpstr>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26</cp:revision>
  <dcterms:modified xsi:type="dcterms:W3CDTF">2022-02-27T23:18:35Z</dcterms:modified>
</cp:coreProperties>
</file>